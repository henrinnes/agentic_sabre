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9E1DE2B-B12F-406D-A01F-D853812469C2}" v="1" dt="2026-04-14T13:48:14.0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78" d="100"/>
          <a:sy n="78" d="100"/>
        </p:scale>
        <p:origin x="83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slide" Target="slides/slide8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microsoft.com/office/2016/11/relationships/changesInfo" Target="changesInfos/changesInfo1.xml"/><Relationship Id="rId1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nry.kabuye" userId="eb11684c-b2f7-47c6-a059-9031b708ef9b" providerId="ADAL" clId="{1DFA72CE-DF62-41DC-8B30-16B405C245CA}"/>
    <pc:docChg chg="custSel modSld">
      <pc:chgData name="henry.kabuye" userId="eb11684c-b2f7-47c6-a059-9031b708ef9b" providerId="ADAL" clId="{1DFA72CE-DF62-41DC-8B30-16B405C245CA}" dt="2026-04-14T13:50:04.097" v="65" actId="20577"/>
      <pc:docMkLst>
        <pc:docMk/>
      </pc:docMkLst>
      <pc:sldChg chg="modSp mod">
        <pc:chgData name="henry.kabuye" userId="eb11684c-b2f7-47c6-a059-9031b708ef9b" providerId="ADAL" clId="{1DFA72CE-DF62-41DC-8B30-16B405C245CA}" dt="2026-04-14T13:50:04.097" v="65" actId="20577"/>
        <pc:sldMkLst>
          <pc:docMk/>
          <pc:sldMk cId="706748879" sldId="256"/>
        </pc:sldMkLst>
        <pc:spChg chg="mod">
          <ac:chgData name="henry.kabuye" userId="eb11684c-b2f7-47c6-a059-9031b708ef9b" providerId="ADAL" clId="{1DFA72CE-DF62-41DC-8B30-16B405C245CA}" dt="2026-04-14T13:48:54.837" v="18" actId="20577"/>
          <ac:spMkLst>
            <pc:docMk/>
            <pc:sldMk cId="706748879" sldId="256"/>
            <ac:spMk id="2" creationId="{EBE221DA-2378-67F1-0C54-D94BAA6ADA5E}"/>
          </ac:spMkLst>
        </pc:spChg>
        <pc:spChg chg="mod">
          <ac:chgData name="henry.kabuye" userId="eb11684c-b2f7-47c6-a059-9031b708ef9b" providerId="ADAL" clId="{1DFA72CE-DF62-41DC-8B30-16B405C245CA}" dt="2026-04-14T13:50:04.097" v="65" actId="20577"/>
          <ac:spMkLst>
            <pc:docMk/>
            <pc:sldMk cId="706748879" sldId="256"/>
            <ac:spMk id="3" creationId="{F9899745-B66E-604A-C911-25D6034185A1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61D55-4E99-C4E7-5A7E-2384074F5E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7F68B4-23B4-941B-1632-8A4DF1B1DA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B09D5A-8937-DF24-9EC0-7548CD208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4ED7E5-19DA-A779-2641-A5CEBA21D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4B574C-25FD-8FA5-0413-D725710E7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7258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8A5E2-6E42-65CA-212F-F70C48B25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0FEE1E-8339-F5E1-A3C7-65D3D90D20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574FCC-2040-0F93-C5E7-97F0A1FF3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38A4B0-AB34-E3AD-7459-62C21BB9A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385A4D-FA58-8D0E-AA59-299210132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6800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DCBD4-C11A-2BFF-5E07-7FAAFA6AD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8164D9-0E77-7A6C-B849-D3679FFC8C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810F03-55E6-6B00-5AC8-9A63FFA4C2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5BA8E7-D333-C832-8FD1-1137DCDE8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1105F6-F1B2-D3A6-93FF-C684EB46A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54894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01CDE-8D56-9C0A-D1AE-29B602D5D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80EE4-3633-4E69-9D35-2B177FE20A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A1CE3C-2083-11C3-E54F-8B2D0D89F3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AC4A50-7F98-FA86-2795-28326BC69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7CCDC8-FB9F-2CF5-7290-A049D5CEA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A378E3-C297-69D5-9A00-5DD5F7C87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85622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EA6FE-F99F-5DDB-34FF-3F87E9EC7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9AB5C6-8D91-44E1-A327-EADBFE4462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EEC748-E771-1E4E-F07D-80E25D879C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A718D9-360B-92BD-AB07-118A637C7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9471DB-2F95-020F-4934-BA7CC2A3E5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0044C-90EA-C223-1336-071093E86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61CDBA-D0D7-8F8E-036F-156489977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9B43CE-CB53-3074-262A-325AF83FB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29004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7476A-D008-336B-BAC6-93C1498C27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E915B1-A1E5-02D8-0350-B1E4B4B68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93F818-2EB9-0FE2-2497-B3402E766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47EDFC-134E-9E07-0418-5B54EA6C8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51979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700B3CB-B707-2F94-D3D3-9407B35D2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9B799E-CAF5-0BCE-B731-A067050FB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1AB239-6627-9741-8FFF-B1149F9E2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93081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061D9-0ECE-EA09-531A-882006D27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BFA59-B953-AA41-D48F-9034B1DCC9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EA0B96-E8B6-F966-47A6-EB512E8407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90D655-A856-5A04-41DC-2F144D660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5E7B30-E30B-0D3D-C098-53AC30315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8EB8FC-FB55-8A50-EE04-15918A0A7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91307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AF229-452B-AF39-4E5E-D7654E2A4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49C059-AE1F-B6DA-3D5D-BBECBA0F1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07FDFD-D283-EA08-DF78-0E460F5BA8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7EE455-CB82-E454-1BEE-173CEB9F2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750C57-DB8F-2F88-F826-E345AAB1C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B647BD-A742-867F-537C-DA7282E42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3630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F6527-5E57-FA52-E769-43B39D2BB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EB3839-9A54-FAC1-19C7-C32E1EABD8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E54F79-90A8-1035-7E1C-DD4559B30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CE0206-78A3-7F82-ADE0-497852EAF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89A096-994D-BD3F-7B59-B7D4BB4BC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5099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B9F3F51-BAD3-2CFE-4560-C12BC65C27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0F9A00-0C0B-8F32-5B0A-4C272C2FB8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1F0847-163E-EEFF-F190-7241D9A5D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91AEE-1648-4863-A003-0E0E8F40C7AE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AAA88C-5202-555A-3850-16D38FD43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DC90F-5CD9-1FE8-D09D-28842A754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545711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CD1924-8C56-918C-704C-E26BFFF26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B17284-D41D-143A-6505-0C9491D603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C72C67-1521-3216-DC0D-8F483D3C5D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A91AEE-1648-4863-A003-0E0E8F40C7AE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11D4C6-5CEE-8560-D01C-EF94093C0E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836511-D1ED-E0B9-94BB-ABDB61C0EC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399E0E-C52E-4FB8-9F83-0F44835545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27337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emf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E221DA-2378-67F1-0C54-D94BAA6ADA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2707" y="1122363"/>
            <a:ext cx="11989293" cy="2387600"/>
          </a:xfrm>
        </p:spPr>
        <p:txBody>
          <a:bodyPr>
            <a:normAutofit fontScale="90000"/>
          </a:bodyPr>
          <a:lstStyle/>
          <a:p>
            <a:r>
              <a:rPr sz="4400" b="0">
                <a:solidFill>
                  <a:srgbClr val="1E293B"/>
                </a:solidFill>
                <a:latin typeface="Aptos Display"/>
              </a:rPr>
              <a:t>Agentic SABRE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899745-B66E-604A-C911-25D6034185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b="0">
                <a:solidFill>
                  <a:srgbClr val="1E293B"/>
                </a:solidFill>
                <a:latin typeface="Aptos"/>
              </a:rPr>
              <a:t>An Uncertainty-Aware Multi-Agent Framework for Adaptive Ransomware Detection</a:t>
            </a:r>
            <a:endParaRPr lang="en-GB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sz="800" b="0">
                <a:latin typeface="Aptos"/>
              </a:rPr>
              <a:t/>
            </a:r>
          </a:p>
          <a:p>
            <a:r>
              <a:rPr sz="1400" b="0">
                <a:solidFill>
                  <a:srgbClr val="1E293B"/>
                </a:solidFill>
                <a:latin typeface="Aptos"/>
              </a:rPr>
              <a:t>Henry Kabuye  ·  PhD Student  ·  Northumbria University</a:t>
            </a:r>
          </a:p>
          <a:p>
            <a:r>
              <a:rPr sz="600" b="0">
                <a:latin typeface="Aptos"/>
              </a:rPr>
              <a:t/>
            </a:r>
          </a:p>
          <a:p>
            <a:r>
              <a:rPr sz="1300" b="0">
                <a:solidFill>
                  <a:srgbClr val="156082"/>
                </a:solidFill>
                <a:latin typeface="Aptos"/>
              </a:rPr>
              <a:t>Semantic  ·  Behavioural  ·  Knowledge agents  —  Decision MLP  —  Triage Policy</a:t>
            </a:r>
          </a:p>
          <a:p>
            <a:r>
              <a:rPr sz="1300" b="1">
                <a:solidFill>
                  <a:srgbClr val="E97132"/>
                </a:solidFill>
                <a:latin typeface="Aptos"/>
              </a:rPr>
              <a:t>NEW: Per-Agent Peer Consultation  +  Expert Feedback Loop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9E5F92F-480A-08D3-08B5-A96A379F7C9A}"/>
              </a:ext>
            </a:extLst>
          </p:cNvPr>
          <p:cNvCxnSpPr/>
          <p:nvPr/>
        </p:nvCxnSpPr>
        <p:spPr>
          <a:xfrm>
            <a:off x="190870" y="3429000"/>
            <a:ext cx="117984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370448E2-EFAF-10DB-D1C9-F7EB84CD30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9379" y="5858455"/>
            <a:ext cx="2727569" cy="73626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0749AA9-5BFB-B942-F3D2-DB00631151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3767" y="5887856"/>
            <a:ext cx="3474130" cy="746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7488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BA404-C596-C471-3B59-87E69A4BB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0">
                <a:latin typeface="Aptos Display"/>
              </a:rPr>
              <a:t>Why Ransomware Detection Needs an Agentic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19012-1158-CC85-7281-8334EED33B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indent="-342900" marL="342900">
              <a:spcBef>
                <a:spcPts val="200"/>
              </a:spcBef>
            </a:pPr>
            <a:r>
              <a:rPr lang="en-GB" sz="1700" dirty="0">
                <a:b val="1"/>
                <a:solidFill>
                  <a:srgbClr val="156082"/>
                </a:solidFill>
                <a:latin typeface="Aptos"/>
              </a:rPr>
              <a:t>Ransomware is operationally diverse</a:t>
            </a:r>
          </a:p>
          <a:p>
            <a:pPr lvl="1" indent="-342900" marL="342900">
  </a:pPr>
            <a:r>
              <a:rPr lang="en-GB" sz="1400" dirty="0">
                <a:b val="0"/>
                <a:solidFill>
                  <a:srgbClr val="1E293B"/>
                </a:solidFill>
                <a:latin typeface="Aptos"/>
              </a:rPr>
              <a:t>Polymorphism, obfuscation and behavioural drift defeat static signatures</a:t>
            </a:r>
          </a:p>
          <a:p>
            <a:pPr lvl="1" indent="-342900" marL="342900">
  </a:pPr>
            <a:r>
              <a:rPr lang="en-GB" sz="1400" dirty="0">
                <a:b val="0"/>
                <a:solidFill>
                  <a:srgbClr val="1E293B"/>
                </a:solidFill>
                <a:latin typeface="Aptos"/>
              </a:rPr>
              <a:t>Runtime behaviour is noisy and imbalanced across real deployments</a:t>
            </a:r>
          </a:p>
          <a:p>
            <a:pPr indent="-342900" marL="342900">
  </a:pPr>
            <a:r>
              <a:rPr lang="en-GB" sz="600" dirty="0">
                <a:b val="0"/>
                <a:solidFill>
                  <a:srgbClr val="1E293B"/>
                </a:solidFill>
                <a:latin typeface="Aptos"/>
              </a:rPr>
              <a:t/>
            </a:r>
          </a:p>
          <a:p>
            <a:pPr indent="-342900" marL="342900">
  </a:pPr>
            <a:r>
              <a:rPr lang="en-GB" sz="1700" dirty="0">
                <a:b val="1"/>
                <a:solidFill>
                  <a:srgbClr val="156082"/>
                </a:solidFill>
                <a:latin typeface="Aptos"/>
              </a:rPr>
              <a:t>Standard ML gives point predictions — no uncertainty signal</a:t>
            </a:r>
          </a:p>
          <a:p>
            <a:pPr lvl="1" indent="-342900" marL="342900">
  </a:pPr>
            <a:r>
              <a:rPr lang="en-GB" sz="1400" dirty="0">
                <a:b val="0"/>
                <a:solidFill>
                  <a:srgbClr val="1E293B"/>
                </a:solidFill>
                <a:latin typeface="Aptos"/>
              </a:rPr>
              <a:t>Aggressive threshold → false positives, unnecessary containment &amp; ops disruption</a:t>
            </a:r>
          </a:p>
          <a:p>
            <a:pPr lvl="1" indent="-342900" marL="342900">
  </a:pPr>
            <a:r>
              <a:rPr lang="en-GB" sz="1400" dirty="0">
                <a:b val="0"/>
                <a:solidFill>
                  <a:srgbClr val="1E293B"/>
                </a:solidFill>
                <a:latin typeface="Aptos"/>
              </a:rPr>
              <a:t>Conservative threshold → missed threats, analyst overload</a:t>
            </a:r>
          </a:p>
          <a:p>
            <a:pPr lvl="1" indent="-342900" marL="342900">
  </a:pPr>
            <a:r>
              <a:rPr lang="en-GB" sz="1400" dirty="0">
                <a:b val="0"/>
                <a:solidFill>
                  <a:srgbClr val="1E293B"/>
                </a:solidFill>
                <a:latin typeface="Aptos"/>
              </a:rPr>
              <a:t>Out-of-distribution samples make confidence values misleading</a:t>
            </a:r>
          </a:p>
          <a:p>
            <a:pPr indent="-342900" marL="342900">
  </a:pPr>
            <a:r>
              <a:rPr lang="en-GB" sz="600" dirty="0">
                <a:b val="0"/>
                <a:solidFill>
                  <a:srgbClr val="1E293B"/>
                </a:solidFill>
                <a:latin typeface="Aptos"/>
              </a:rPr>
              <a:t/>
            </a:r>
          </a:p>
          <a:p>
            <a:pPr indent="-342900" marL="342900">
  </a:pPr>
            <a:r>
              <a:rPr lang="en-GB" sz="1700" dirty="0">
                <a:b val="1"/>
                <a:solidFill>
                  <a:srgbClr val="156082"/>
                </a:solidFill>
                <a:latin typeface="Aptos"/>
              </a:rPr>
              <a:t>Three independent evidence streams: static PE · runtime behaviour · threat intel</a:t>
            </a:r>
          </a:p>
          <a:p>
            <a:pPr lvl="1" indent="-342900" marL="342900">
  </a:pPr>
            <a:r>
              <a:rPr lang="en-GB" sz="1400" dirty="0">
                <a:b val="0"/>
                <a:solidFill>
                  <a:srgbClr val="1E293B"/>
                </a:solidFill>
                <a:latin typeface="Aptos"/>
              </a:rPr>
              <a:t>No single modality dominates across all sample types</a:t>
            </a:r>
          </a:p>
          <a:p>
            <a:pPr lvl="1" indent="-342900" marL="342900">
  </a:pPr>
            <a:r>
              <a:rPr lang="en-GB" sz="1400" dirty="0">
                <a:b val="0"/>
                <a:solidFill>
                  <a:srgbClr val="1E293B"/>
                </a:solidFill>
                <a:latin typeface="Aptos"/>
              </a:rPr>
              <a:t>Heterogeneous datasets — no matched multi-modal view per executable</a:t>
            </a:r>
          </a:p>
          <a:p>
            <a:pPr indent="-342900" marL="342900">
  </a:pPr>
            <a:r>
              <a:rPr lang="en-GB" sz="600" dirty="0">
                <a:b val="0"/>
                <a:solidFill>
                  <a:srgbClr val="1E293B"/>
                </a:solidFill>
                <a:latin typeface="Aptos"/>
              </a:rPr>
              <a:t/>
            </a:r>
          </a:p>
          <a:p>
            <a:pPr indent="-342900" marL="342900"/>
            <a:r>
              <a:rPr lang="en-GB" sz="1600" dirty="0">
                <a:b val="1"/>
                <a:solidFill>
                  <a:srgbClr val="E97132"/>
                </a:solidFill>
                <a:latin typeface="Aptos"/>
              </a:rPr>
              <a:t>SABRE's answer: </a:t>
            </a:r>
            <a:r>
              <a:rPr lang="en-GB" sz="1600" dirty="0">
                <a:b val="0"/>
                <a:solidFill>
                  <a:srgbClr val="1E293B"/>
                </a:solidFill>
                <a:latin typeface="Aptos"/>
              </a:rPr>
              <a:t>fuse all three agents under an uncertainty-aware triage policy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04E40D7-BE15-03B3-6F32-D4894228A3A0}"/>
              </a:ext>
            </a:extLst>
          </p:cNvPr>
          <p:cNvCxnSpPr/>
          <p:nvPr/>
        </p:nvCxnSpPr>
        <p:spPr>
          <a:xfrm>
            <a:off x="196788" y="1364942"/>
            <a:ext cx="117984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7024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741D3-F503-FF21-EF1D-4D9523D4E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157011" cy="1325563"/>
          </a:xfrm>
        </p:spPr>
        <p:txBody>
          <a:bodyPr>
            <a:normAutofit/>
          </a:bodyPr>
          <a:lstStyle/>
          <a:p>
            <a:r>
              <a:rPr sz="2800" b="0">
                <a:latin typeface="Aptos Display"/>
              </a:rPr>
              <a:t>Three-Agent Pipeline  ·  Semantic · Behavioural · Knowledge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7E979-7C16-34BE-78A8-6078C13F43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indent="-342900" marL="342900">
              <a:spcBef>
                <a:spcPts val="200"/>
              </a:spcBef>
            </a:pPr>
            <a:r>
              <a:rPr lang="en-GB" sz="1600" dirty="0">
                <a:b val="1"/>
                <a:solidFill>
                  <a:srgbClr val="156082"/>
                </a:solidFill>
                <a:latin typeface="Aptos"/>
              </a:rPr>
              <a:t>Semantic Agent  (RDset  ·  138,047 PE samples)</a:t>
            </a:r>
          </a:p>
          <a:p>
            <a:pPr lvl="1" indent="-342900" marL="342900">
  </a:pPr>
            <a:r>
              <a:rPr lang="en-GB" sz="1300" dirty="0">
                <a:b val="0"/>
                <a:solidFill>
                  <a:srgbClr val="1E293B"/>
                </a:solidFill>
                <a:latin typeface="Aptos"/>
              </a:rPr>
              <a:t>CNN on 384-dimensional BERT embedding of structured static PE attributes</a:t>
            </a:r>
          </a:p>
          <a:p>
            <a:pPr lvl="1" indent="-342900" marL="342900">
  </a:pPr>
            <a:r>
              <a:rPr lang="en-GB" sz="1300" dirty="0">
                <a:b val="0"/>
                <a:solidFill>
                  <a:srgbClr val="1E293B"/>
                </a:solidFill>
                <a:latin typeface="Aptos"/>
              </a:rPr>
              <a:t>Monte Carlo Dropout uncertainty estimation  ·  Adaptive T (max 50 passes)</a:t>
            </a:r>
          </a:p>
          <a:p>
            <a:pPr indent="-342900" marL="342900">
  </a:pPr>
            <a:r>
              <a:rPr lang="en-GB" sz="500" dirty="0">
                <a:b val="0"/>
                <a:solidFill>
                  <a:srgbClr val="1E293B"/>
                </a:solidFill>
                <a:latin typeface="Aptos"/>
              </a:rPr>
              <a:t/>
            </a:r>
          </a:p>
          <a:p>
            <a:pPr indent="-342900" marL="342900">
  </a:pPr>
            <a:r>
              <a:rPr lang="en-GB" sz="1600" dirty="0">
                <a:b val="1"/>
                <a:solidFill>
                  <a:srgbClr val="156082"/>
                </a:solidFill>
                <a:latin typeface="Aptos"/>
              </a:rPr>
              <a:t>Behavioural Agent  (RanSMAP  ·  2,000 balanced samples)</a:t>
            </a:r>
          </a:p>
          <a:p>
            <a:pPr lvl="1" indent="-342900" marL="342900">
  </a:pPr>
            <a:r>
              <a:rPr lang="en-GB" sz="1300" dirty="0">
                <a:b val="0"/>
                <a:solidFill>
                  <a:srgbClr val="1E293B"/>
                </a:solidFill>
                <a:latin typeface="Aptos"/>
              </a:rPr>
              <a:t>CNN on 16-dimensional hypervisor storage + memory telemetry window statistics</a:t>
            </a:r>
          </a:p>
          <a:p>
            <a:pPr lvl="1" indent="-342900" marL="342900">
  </a:pPr>
            <a:r>
              <a:rPr lang="en-GB" sz="1300" dirty="0">
                <a:b val="0"/>
                <a:solidFill>
                  <a:srgbClr val="1E293B"/>
                </a:solidFill>
                <a:latin typeface="Aptos"/>
              </a:rPr>
              <a:t>Features: LBA variance, write entropy, memory GPA variance, access counts</a:t>
            </a:r>
          </a:p>
          <a:p>
            <a:pPr indent="-342900" marL="342900">
  </a:pPr>
            <a:r>
              <a:rPr lang="en-GB" sz="500" dirty="0">
                <a:b val="0"/>
                <a:solidFill>
                  <a:srgbClr val="1E293B"/>
                </a:solidFill>
                <a:latin typeface="Aptos"/>
              </a:rPr>
              <a:t/>
            </a:r>
          </a:p>
          <a:p>
            <a:pPr indent="-342900" marL="342900">
  </a:pPr>
            <a:r>
              <a:rPr lang="en-GB" sz="1600" dirty="0">
                <a:b val="1"/>
                <a:solidFill>
                  <a:srgbClr val="156082"/>
                </a:solidFill>
                <a:latin typeface="Aptos"/>
              </a:rPr>
              <a:t>Knowledge Agent  (RansKnow  ·  200 labelled samples)</a:t>
            </a:r>
          </a:p>
          <a:p>
            <a:pPr lvl="1" indent="-342900" marL="342900">
  </a:pPr>
            <a:r>
              <a:rPr lang="en-GB" sz="1300" dirty="0">
                <a:b val="0"/>
                <a:solidFill>
                  <a:srgbClr val="1E293B"/>
                </a:solidFill>
                <a:latin typeface="Aptos"/>
              </a:rPr>
              <a:t>CNN on 23-dimensional MITRE ATT&amp;CK + ransomware threat-intelligence features</a:t>
            </a:r>
          </a:p>
          <a:p>
            <a:pPr indent="-342900" marL="342900">
  </a:pPr>
            <a:r>
              <a:rPr lang="en-GB" sz="500" dirty="0">
                <a:b val="0"/>
                <a:solidFill>
                  <a:srgbClr val="1E293B"/>
                </a:solidFill>
                <a:latin typeface="Aptos"/>
              </a:rPr>
              <a:t/>
            </a:r>
          </a:p>
          <a:p>
            <a:pPr indent="-342900" marL="342900">
  </a:pPr>
            <a:r>
              <a:rPr lang="en-GB" sz="1600" dirty="0">
                <a:b val="1"/>
                <a:solidFill>
                  <a:srgbClr val="E97132"/>
                </a:solidFill>
                <a:latin typeface="Aptos"/>
              </a:rPr>
              <a:t>Decision MLP  (score-level fusion)</a:t>
            </a:r>
          </a:p>
          <a:p>
            <a:pPr lvl="1" indent="-342900" marL="342900">
  </a:pPr>
            <a:r>
              <a:rPr lang="en-GB" sz="1300" dirty="0">
                <a:b val="0"/>
                <a:solidFill>
                  <a:srgbClr val="1E293B"/>
                </a:solidFill>
                <a:latin typeface="Aptos"/>
              </a:rPr>
              <a:t>Input: [ p_sem,  p_beh,  p_know,  σ_sem,  σ_beh,  σ_know ]  →  fused risk ₚ̂</a:t>
            </a:r>
          </a:p>
          <a:p>
            <a:pPr lvl="1" indent="-342900" marL="342900">
  </a:pPr>
            <a:r>
              <a:rPr lang="en-GB" sz="1300" dirty="0">
                <a:b val="0"/>
                <a:solidFill>
                  <a:srgbClr val="1E293B"/>
                </a:solidFill>
                <a:latin typeface="Aptos"/>
              </a:rPr>
              <a:t>Trained with CTGAN score-space augmentation + temperature scaling calibration</a:t>
            </a:r>
          </a:p>
          <a:p>
            <a:pPr indent="-342900" marL="342900">
  </a:pPr>
            <a:r>
              <a:rPr lang="en-GB" sz="500" dirty="0">
                <a:b val="0"/>
                <a:solidFill>
                  <a:srgbClr val="1E293B"/>
                </a:solidFill>
                <a:latin typeface="Aptos"/>
              </a:rPr>
              <a:t/>
            </a:r>
          </a:p>
          <a:p>
            <a:pPr indent="-342900" marL="342900">
  </a:pPr>
            <a:r>
              <a:rPr lang="en-GB" sz="1600" dirty="0">
                <a:b val="1"/>
                <a:solidFill>
                  <a:srgbClr val="E97132"/>
                </a:solidFill>
                <a:latin typeface="Aptos"/>
              </a:rPr>
              <a:t>Triage Policy  (global thresholds τ, κ, τ_high, κ_low)</a:t>
            </a:r>
          </a:p>
          <a:p>
            <a:pPr lvl="1" indent="-342900" marL="342900">
  </a:pPr>
            <a:r>
              <a:rPr lang="en-GB" sz="1300" dirty="0">
                <a:b val="0"/>
                <a:solidFill>
                  <a:srgbClr val="1E293B"/>
                </a:solidFill>
                <a:latin typeface="Aptos"/>
              </a:rPr>
              <a:t>AUTO-CONTAIN  |  ESCALATE  |  ALLOW  —  tuned via Optuna on validation F1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DC6B19F-A096-0250-5D30-B274E684D7E0}"/>
              </a:ext>
            </a:extLst>
          </p:cNvPr>
          <p:cNvCxnSpPr/>
          <p:nvPr/>
        </p:nvCxnSpPr>
        <p:spPr>
          <a:xfrm>
            <a:off x="196788" y="1364942"/>
            <a:ext cx="117984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70327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BA97D-8135-E408-C3BF-AD4EC3E92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235431" cy="1325563"/>
          </a:xfrm>
        </p:spPr>
        <p:txBody>
          <a:bodyPr>
            <a:normAutofit/>
          </a:bodyPr>
          <a:lstStyle/>
          <a:p>
            <a:r>
              <a:rPr sz="3400" b="0">
                <a:latin typeface="Aptos Display"/>
              </a:rPr>
              <a:t>Per-Agent Evaluation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5347FC-8A5F-8549-D393-1CA94B47F1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indent="-342900" marL="342900">
              <a:spcBef>
                <a:spcPts val="200"/>
              </a:spcBef>
            </a:pPr>
            <a:r>
              <a:rPr lang="en-GB" sz="1400" dirty="0">
                <a:b val="0"/>
                <a:solidFill>
                  <a:srgbClr val="1E293B"/>
                </a:solidFill>
                <a:latin typeface="Aptos"/>
              </a:rPr>
              <a:t>Each agent evaluated independently on its own balanced dataset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787C24A-0C4A-FC64-7A16-BB6A00A4DB8D}"/>
              </a:ext>
            </a:extLst>
          </p:cNvPr>
          <p:cNvCxnSpPr/>
          <p:nvPr/>
        </p:nvCxnSpPr>
        <p:spPr>
          <a:xfrm>
            <a:off x="196788" y="1364942"/>
            <a:ext cx="117984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37160" y="1463040"/>
          <a:ext cx="8595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280160"/>
                <a:gridCol w="1097280"/>
                <a:gridCol w="1005840"/>
                <a:gridCol w="100584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Agent</a:t>
                      </a:r>
                    </a:p>
                  </a:txBody>
                  <a:tcPr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Dataset</a:t>
                      </a:r>
                    </a:p>
                  </a:txBody>
                  <a:tcPr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Samples</a:t>
                      </a:r>
                    </a:p>
                  </a:txBody>
                  <a:tcPr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Accuracy</a:t>
                      </a:r>
                    </a:p>
                  </a:txBody>
                  <a:tcPr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ROC-AUC</a:t>
                      </a:r>
                    </a:p>
                  </a:txBody>
                  <a:tcPr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Notes</a:t>
                      </a:r>
                    </a:p>
                  </a:txBody>
                  <a:tcPr>
                    <a:solidFill>
                      <a:srgbClr val="15608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Semantic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RDset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4,000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100.0 %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Static PE embeddings (384D)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Behavioural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RanSMAP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2,000 †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56.8 %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0.621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Balanced · hypervisor telemetry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Knowledge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RansKnow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96.5 %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0.995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MITRE ATT&amp;CK features (23D)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37160" y="3108960"/>
            <a:ext cx="11795760" cy="777240"/>
          </a:xfrm>
          <a:prstGeom prst="rect">
            <a:avLst/>
          </a:prstGeom>
          <a:solidFill>
            <a:srgbClr val="E8E8E8"/>
          </a:solidFill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Aptos"/>
              </a:rPr>
              <a:t>† Balanced evaluation (1,000 per class) — the hardest test for the behavioural detector. Semantic near-perfect separability on RDset drives overall fusion performance. Asymmetric evidence quality motivates uncertainty-weighted fusion over simple averaging.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4069080"/>
            <a:ext cx="3794760" cy="731520"/>
          </a:xfrm>
          <a:prstGeom prst="rect">
            <a:avLst/>
          </a:prstGeom>
          <a:solidFill>
            <a:srgbClr val="156082"/>
          </a:solidFill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1.000
Semantic 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4069080"/>
            <a:ext cx="3794760" cy="731520"/>
          </a:xfrm>
          <a:prstGeom prst="rect">
            <a:avLst/>
          </a:prstGeom>
          <a:solidFill>
            <a:srgbClr val="E97132"/>
          </a:solidFill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0.621
Behavioural AUC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0" y="4069080"/>
            <a:ext cx="3794760" cy="731520"/>
          </a:xfrm>
          <a:prstGeom prst="rect">
            <a:avLst/>
          </a:prstGeom>
          <a:solidFill>
            <a:srgbClr val="196B24"/>
          </a:solidFill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0.995
Knowledge AUC</a:t>
            </a:r>
          </a:p>
        </p:txBody>
      </p:sp>
    </p:spTree>
    <p:extLst>
      <p:ext uri="{BB962C8B-B14F-4D97-AF65-F5344CB8AC3E}">
        <p14:creationId xmlns:p14="http://schemas.microsoft.com/office/powerpoint/2010/main" val="4130658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2E2A3-7B5F-3395-1F81-EB77EF2D81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142216" cy="1325563"/>
          </a:xfrm>
        </p:spPr>
        <p:txBody>
          <a:bodyPr>
            <a:normAutofit/>
          </a:bodyPr>
          <a:lstStyle/>
          <a:p>
            <a:r>
              <a:rPr sz="3400" b="0">
                <a:latin typeface="Aptos Display"/>
              </a:rPr>
              <a:t>Uncertainty-Aware Triage Policy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AB857-8CF3-AA53-D5EA-A1969D9CB5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indent="-342900" marL="342900">
              <a:spcBef>
                <a:spcPts val="200"/>
              </a:spcBef>
            </a:pPr>
            <a:r>
              <a:rPr lang="en-GB" sz="1400" dirty="0">
                <a:b val="0"/>
                <a:solidFill>
                  <a:srgbClr val="1E293B"/>
                </a:solidFill>
                <a:latin typeface="Aptos"/>
              </a:rPr>
              <a:t>Three-zone decision policy — thresholds tuned via Optuna</a:t>
            </a:r>
          </a:p>
          <a:p>
            <a:pPr indent="-342900" marL="342900">
  </a:pPr>
            <a:r>
              <a:rPr lang="en-GB" sz="400" dirty="0">
                <a:b val="0"/>
                <a:solidFill>
                  <a:srgbClr val="1E293B"/>
                </a:solidFill>
                <a:latin typeface="Aptos"/>
              </a:rPr>
              <a:t/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62E8508-6886-DEC6-8DCF-EDE43333A572}"/>
              </a:ext>
            </a:extLst>
          </p:cNvPr>
          <p:cNvCxnSpPr/>
          <p:nvPr/>
        </p:nvCxnSpPr>
        <p:spPr>
          <a:xfrm>
            <a:off x="196788" y="1364942"/>
            <a:ext cx="117984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37160" y="1417320"/>
            <a:ext cx="3749039" cy="502920"/>
          </a:xfrm>
          <a:prstGeom prst="rect">
            <a:avLst/>
          </a:prstGeom>
          <a:solidFill>
            <a:srgbClr val="C0392B"/>
          </a:solidFill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AUTO-CONTAIN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1965960"/>
            <a:ext cx="3749039" cy="731520"/>
          </a:xfrm>
          <a:prstGeom prst="rect">
            <a:avLst/>
          </a:prstGeom>
          <a:solidFill>
            <a:srgbClr val="E8E8E8"/>
          </a:solidFill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Aptos"/>
              </a:rPr>
              <a:t>p̂ ≥ τ_high (0.95)
AND  σ_max ≤ κ_low (0.08)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2743200"/>
            <a:ext cx="3749039" cy="640080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Aptos"/>
              </a:rPr>
              <a:t>High-confidence ransomware:
automated host isolation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417320"/>
            <a:ext cx="3749039" cy="502920"/>
          </a:xfrm>
          <a:prstGeom prst="rect">
            <a:avLst/>
          </a:prstGeom>
          <a:solidFill>
            <a:srgbClr val="E97132"/>
          </a:solidFill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ESCALATE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965960"/>
            <a:ext cx="3749039" cy="731520"/>
          </a:xfrm>
          <a:prstGeom prst="rect">
            <a:avLst/>
          </a:prstGeom>
          <a:solidFill>
            <a:srgbClr val="E8E8E8"/>
          </a:solidFill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Aptos"/>
              </a:rPr>
              <a:t>p̂ ≥ τ (0.80)
OR  σ_max &gt; κ (0.15)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743200"/>
            <a:ext cx="3749039" cy="640080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Aptos"/>
              </a:rPr>
              <a:t>Uncertain or suspicious:
route to SOC analyst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1417320"/>
            <a:ext cx="3749039" cy="502920"/>
          </a:xfrm>
          <a:prstGeom prst="rect">
            <a:avLst/>
          </a:prstGeom>
          <a:solidFill>
            <a:srgbClr val="196B24"/>
          </a:solidFill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ALLOW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1965960"/>
            <a:ext cx="3749039" cy="731520"/>
          </a:xfrm>
          <a:prstGeom prst="rect">
            <a:avLst/>
          </a:prstGeom>
          <a:solidFill>
            <a:srgbClr val="E8E8E8"/>
          </a:solidFill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Aptos"/>
              </a:rPr>
              <a:t>otherwise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2743200"/>
            <a:ext cx="3749039" cy="640080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Aptos"/>
              </a:rPr>
              <a:t>Low risk, low uncertainty:
no automated 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" y="3520440"/>
            <a:ext cx="11795760" cy="594360"/>
          </a:xfrm>
          <a:prstGeom prst="rect">
            <a:avLst/>
          </a:prstGeom>
          <a:solidFill>
            <a:srgbClr val="D6EAF8"/>
          </a:solidFill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Aptos"/>
              </a:rPr>
              <a:t>Design rationale:  max(σ) ensures either agent can veto autonomous action  ·  Axis-aligned thresholds preserve interpretability &amp; auditability  ·  Modular: recalibrate without redesigning the pipeline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" y="4251960"/>
            <a:ext cx="11795760" cy="594360"/>
          </a:xfrm>
          <a:prstGeom prst="rect">
            <a:avLst/>
          </a:prstGeom>
          <a:solidFill>
            <a:srgbClr val="E97132"/>
          </a:solidFill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Aptos"/>
              </a:rPr>
              <a:t>NEW — Per-Agent Policies:  each agent also has its own κ_local threshold; if σ_agent &gt; κ_local the orchestrator triggers peer consultation before fusion</a:t>
            </a:r>
          </a:p>
        </p:txBody>
      </p:sp>
    </p:spTree>
    <p:extLst>
      <p:ext uri="{BB962C8B-B14F-4D97-AF65-F5344CB8AC3E}">
        <p14:creationId xmlns:p14="http://schemas.microsoft.com/office/powerpoint/2010/main" val="13570559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49C1F-66CE-A3C2-A7FB-A02095B3A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191043" cy="1325563"/>
          </a:xfrm>
        </p:spPr>
        <p:txBody>
          <a:bodyPr>
            <a:normAutofit/>
          </a:bodyPr>
          <a:lstStyle/>
          <a:p>
            <a:r>
              <a:rPr sz="3000" b="0">
                <a:latin typeface="Aptos Display"/>
              </a:rPr>
              <a:t>New: Peer Consultation  +  Expert Feedback Loop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F38809-D981-2BC3-A738-E3A9AC8844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indent="-342900" marL="342900">
              <a:spcBef>
                <a:spcPts val="200"/>
              </a:spcBef>
            </a:pPr>
            <a:r>
              <a:rPr lang="en-GB" sz="1600" dirty="0">
                <a:b val="1"/>
                <a:solidFill>
                  <a:srgbClr val="E97132"/>
                </a:solidFill>
                <a:latin typeface="Aptos"/>
              </a:rPr>
              <a:t>Feature 1 — </a:t>
            </a:r>
            <a:r>
              <a:rPr lang="en-GB" sz="1600" dirty="0">
                <a:b val="1"/>
                <a:solidFill>
                  <a:srgbClr val="156082"/>
                </a:solidFill>
                <a:latin typeface="Aptos"/>
              </a:rPr>
              <a:t>Per-Agent Peer Consultation</a:t>
            </a:r>
          </a:p>
          <a:p>
            <a:pPr lvl="1" indent="-342900" marL="342900">
  </a:pPr>
            <a:r>
              <a:rPr lang="en-GB" sz="1300" dirty="0">
                <a:b val="0"/>
                <a:solidFill>
                  <a:srgbClr val="1E293B"/>
                </a:solidFill>
                <a:latin typeface="Aptos"/>
              </a:rPr>
              <a:t>Each agent gets its own κ_local threshold alongside the global policy</a:t>
            </a:r>
          </a:p>
          <a:p>
            <a:pPr lvl="1" indent="-342900" marL="342900">
  </a:pPr>
            <a:r>
              <a:rPr lang="en-GB" sz="1300" dirty="0">
                <a:b val="0"/>
                <a:solidFill>
                  <a:srgbClr val="1E293B"/>
                </a:solidFill>
                <a:latin typeface="Aptos"/>
              </a:rPr>
              <a:t>If σ_agent &gt; κ_local → adjust p using inverse-uncertainty-weighted scores of self + both peers</a:t>
            </a:r>
          </a:p>
          <a:p>
            <a:pPr lvl="1" indent="-342900" marL="342900">
  </a:pPr>
            <a:r>
              <a:rPr lang="en-GB" sz="1300" dirty="0">
                <a:b val="0"/>
                <a:solidFill>
                  <a:srgbClr val="1E293B"/>
                </a:solidFill>
                <a:latin typeface="Aptos"/>
              </a:rPr>
              <a:t>Uncertainty values are never modified; consulted flag + raw_prob stored in result</a:t>
            </a:r>
          </a:p>
          <a:p>
            <a:pPr lvl="1" indent="-342900" marL="342900">
  </a:pPr>
            <a:r>
              <a:rPr lang="en-GB" sz="1300" dirty="0">
                <a:b val="0"/>
                <a:solidFill>
                  <a:srgbClr val="1E293B"/>
                </a:solidFill>
                <a:latin typeface="Aptos"/>
              </a:rPr>
              <a:t>Vectorised batch path: numpy boolean masks → one weighted-mean pass per agent</a:t>
            </a:r>
          </a:p>
          <a:p>
            <a:pPr lvl="1" indent="-342900" marL="342900">
  </a:pPr>
            <a:r>
              <a:rPr lang="en-GB" sz="1300" dirty="0">
                <a:b val="0"/>
                <a:solidFill>
                  <a:srgbClr val="1E293B"/>
                </a:solidFill>
                <a:latin typeface="Aptos"/>
              </a:rPr>
              <a:t>Default κ_local = 1.0 → consultation never fires (identical to prior behaviour)</a:t>
            </a:r>
          </a:p>
          <a:p>
            <a:pPr indent="-342900" marL="342900">
  </a:pPr>
            <a:r>
              <a:rPr lang="en-GB" sz="500" dirty="0">
                <a:b val="0"/>
                <a:solidFill>
                  <a:srgbClr val="1E293B"/>
                </a:solidFill>
                <a:latin typeface="Aptos"/>
              </a:rPr>
              <a:t/>
            </a:r>
          </a:p>
          <a:p>
            <a:pPr indent="-342900" marL="342900"/>
            <a:r>
              <a:rPr lang="en-GB" sz="1600" dirty="0">
                <a:b val="1"/>
                <a:solidFill>
                  <a:srgbClr val="E97132"/>
                </a:solidFill>
                <a:latin typeface="Aptos"/>
              </a:rPr>
              <a:t>Feature 2 — </a:t>
            </a:r>
            <a:r>
              <a:rPr lang="en-GB" sz="1600" dirty="0">
                <a:b val="1"/>
                <a:solidFill>
                  <a:srgbClr val="156082"/>
                </a:solidFill>
                <a:latin typeface="Aptos"/>
              </a:rPr>
              <a:t>Expert Feedback Loop</a:t>
            </a:r>
          </a:p>
          <a:p>
            <a:pPr lvl="1" indent="-342900" marL="342900">
  </a:pPr>
            <a:r>
              <a:rPr lang="en-GB" sz="1300" dirty="0">
                <a:b val="0"/>
                <a:solidFill>
                  <a:srgbClr val="1E293B"/>
                </a:solidFill>
                <a:latin typeface="Aptos"/>
              </a:rPr>
              <a:t>ESCALATE / AUTO-CONTAIN results carry a UUID sample_id for analyst tracking</a:t>
            </a:r>
          </a:p>
          <a:p>
            <a:pPr lvl="1" indent="-342900" marL="342900">
  </a:pPr>
            <a:r>
              <a:rPr lang="en-GB" sz="1300" dirty="0">
                <a:b val="0"/>
                <a:solidFill>
                  <a:srgbClr val="1E293B"/>
                </a:solidFill>
                <a:latin typeface="Aptos"/>
              </a:rPr>
              <a:t>Analysts submit corrections via the new ‘Feedback’ tab in the dashboard</a:t>
            </a:r>
          </a:p>
          <a:p>
            <a:pPr lvl="1" indent="-342900" marL="342900">
  </a:pPr>
            <a:r>
              <a:rPr lang="en-GB" sz="1300" dirty="0">
                <a:b val="0"/>
                <a:solidFill>
                  <a:srgbClr val="1E293B"/>
                </a:solidFill>
                <a:latin typeface="Aptos"/>
              </a:rPr>
              <a:t>Corrections stored in an append-only JSON log (timestamp, scores, σ, expert label, reasoning)</a:t>
            </a:r>
          </a:p>
          <a:p>
            <a:pPr lvl="1" indent="-342900" marL="342900">
  </a:pPr>
            <a:r>
              <a:rPr lang="en-GB" sz="1300" dirty="0">
                <a:b val="0"/>
                <a:solidFill>
                  <a:srgbClr val="1E293B"/>
                </a:solidFill>
                <a:latin typeface="Aptos"/>
              </a:rPr>
              <a:t>When N ≥ 20 corrections: ‘Trigger Retrain’ button enabled in UI or via retrain_from_feedback.py</a:t>
            </a:r>
          </a:p>
          <a:p>
            <a:pPr lvl="1" indent="-342900" marL="342900">
  </a:pPr>
            <a:r>
              <a:rPr lang="en-GB" sz="1300" dirty="0">
                <a:b val="0"/>
                <a:solidFill>
                  <a:srgbClr val="1E293B"/>
                </a:solidFill>
                <a:latin typeface="Aptos"/>
              </a:rPr>
              <a:t>Incremental MLP retrain: synthetic base distribution + 3× upweighted feedback rows</a:t>
            </a:r>
          </a:p>
          <a:p>
            <a:pPr lvl="1" indent="-342900" marL="342900">
  </a:pPr>
            <a:r>
              <a:rPr lang="en-GB" sz="1300" dirty="0">
                <a:b val="0"/>
                <a:solidFill>
                  <a:srgbClr val="1E293B"/>
                </a:solidFill>
                <a:latin typeface="Aptos"/>
              </a:rPr>
              <a:t>Operator promotes updated model manually or with --promote flag; Optuna re-tunes κ_local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B64D6CC-6420-9E00-377D-AFF39E392739}"/>
              </a:ext>
            </a:extLst>
          </p:cNvPr>
          <p:cNvCxnSpPr/>
          <p:nvPr/>
        </p:nvCxnSpPr>
        <p:spPr>
          <a:xfrm>
            <a:off x="196788" y="1364942"/>
            <a:ext cx="117984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37160" y="5257800"/>
            <a:ext cx="2743200" cy="685800"/>
          </a:xfrm>
          <a:prstGeom prst="rect">
            <a:avLst/>
          </a:prstGeom>
          <a:solidFill>
            <a:srgbClr val="156082"/>
          </a:solidFill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Inference
→ sample_id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360" y="5394960"/>
            <a:ext cx="228600" cy="411480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E293B"/>
                </a:solidFill>
                <a:latin typeface="Aptos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5257800"/>
            <a:ext cx="2743200" cy="685800"/>
          </a:xfrm>
          <a:prstGeom prst="rect">
            <a:avLst/>
          </a:prstGeom>
          <a:solidFill>
            <a:srgbClr val="E97132"/>
          </a:solidFill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Analyst
Correction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5394960"/>
            <a:ext cx="228600" cy="411480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E293B"/>
                </a:solidFill>
                <a:latin typeface="Aptos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5257800"/>
            <a:ext cx="2743200" cy="685800"/>
          </a:xfrm>
          <a:prstGeom prst="rect">
            <a:avLst/>
          </a:prstGeom>
          <a:solidFill>
            <a:srgbClr val="467886"/>
          </a:solidFill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Feedback Log
(JSON, N records)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0" y="5394960"/>
            <a:ext cx="228600" cy="411480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E293B"/>
                </a:solidFill>
                <a:latin typeface="Aptos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257800"/>
            <a:ext cx="2743200" cy="685800"/>
          </a:xfrm>
          <a:prstGeom prst="rect">
            <a:avLst/>
          </a:prstGeom>
          <a:solidFill>
            <a:srgbClr val="196B24"/>
          </a:solidFill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Retrain MLP
+ Re-tune κ_local</a:t>
            </a:r>
          </a:p>
        </p:txBody>
      </p:sp>
    </p:spTree>
    <p:extLst>
      <p:ext uri="{BB962C8B-B14F-4D97-AF65-F5344CB8AC3E}">
        <p14:creationId xmlns:p14="http://schemas.microsoft.com/office/powerpoint/2010/main" val="33111302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8956E-CFF4-0DC3-78D1-CCFA8FD13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0">
                <a:latin typeface="Aptos Display"/>
              </a:rPr>
              <a:t>Conclusions &amp; 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07290-1A10-9B48-B272-9FBE0AD24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indent="-342900" marL="342900">
              <a:spcBef>
                <a:spcPts val="200"/>
              </a:spcBef>
            </a:pPr>
            <a:r>
              <a:rPr lang="en-GB" sz="1600" dirty="0">
                <a:b val="1"/>
                <a:solidFill>
                  <a:srgbClr val="156082"/>
                </a:solidFill>
                <a:latin typeface="Aptos"/>
              </a:rPr>
              <a:t>Main Contributions</a:t>
            </a:r>
          </a:p>
          <a:p>
            <a:pPr lvl="1" indent="-342900" marL="342900">
  </a:pPr>
            <a:r>
              <a:rPr lang="en-GB" sz="1300" dirty="0">
                <a:b val="0"/>
                <a:solidFill>
                  <a:srgbClr val="1E293B"/>
                </a:solidFill>
                <a:latin typeface="Aptos"/>
              </a:rPr>
              <a:t>Uncertainty-aware 3-agent triage pipeline integrating static PE, runtime behaviour, and threat-intel evidence</a:t>
            </a:r>
          </a:p>
          <a:p>
            <a:pPr lvl="1" indent="-342900" marL="342900">
  </a:pPr>
            <a:r>
              <a:rPr lang="en-GB" sz="1300" dirty="0">
                <a:b val="0"/>
                <a:solidFill>
                  <a:srgbClr val="1E293B"/>
                </a:solidFill>
                <a:latin typeface="Aptos"/>
              </a:rPr>
              <a:t>Operational decision policy linking predictive risk ₚ̂ and uncertainty σ to AUTO-CONTAIN / ESCALATE / ALLOW</a:t>
            </a:r>
          </a:p>
          <a:p>
            <a:pPr lvl="1" indent="-342900" marL="342900"/>
            <a:r>
              <a:rPr lang="en-GB" sz="1300" dirty="0">
                <a:b val="1"/>
                <a:solidFill>
                  <a:srgbClr val="E97132"/>
                </a:solidFill>
                <a:latin typeface="Aptos"/>
              </a:rPr>
              <a:t>NEW: </a:t>
            </a:r>
            <a:r>
              <a:rPr lang="en-GB" sz="1300" dirty="0">
                <a:b val="0"/>
                <a:solidFill>
                  <a:srgbClr val="1E293B"/>
                </a:solidFill>
                <a:latin typeface="Aptos"/>
              </a:rPr>
              <a:t>Per-agent peer consultation — adjusts uncertain scores before fusion, never changes σ</a:t>
            </a:r>
          </a:p>
          <a:p>
            <a:pPr lvl="1" indent="-342900" marL="342900"/>
            <a:r>
              <a:rPr lang="en-GB" sz="1300" dirty="0">
                <a:b val="1"/>
                <a:solidFill>
                  <a:srgbClr val="E97132"/>
                </a:solidFill>
                <a:latin typeface="Aptos"/>
              </a:rPr>
              <a:t>NEW: </a:t>
            </a:r>
            <a:r>
              <a:rPr lang="en-GB" sz="1300" dirty="0">
                <a:b val="0"/>
                <a:solidFill>
                  <a:srgbClr val="1E293B"/>
                </a:solidFill>
                <a:latin typeface="Aptos"/>
              </a:rPr>
              <a:t>Expert feedback loop — analyst corrections drive incremental MLP retraining + policy re-tune</a:t>
            </a:r>
          </a:p>
          <a:p>
            <a:pPr indent="-342900" marL="342900">
  </a:pPr>
            <a:r>
              <a:rPr lang="en-GB" sz="500" dirty="0">
                <a:b val="0"/>
                <a:solidFill>
                  <a:srgbClr val="1E293B"/>
                </a:solidFill>
                <a:latin typeface="Aptos"/>
              </a:rPr>
              <a:t/>
            </a:r>
          </a:p>
          <a:p>
            <a:pPr indent="-342900" marL="342900">
  </a:pPr>
            <a:r>
              <a:rPr lang="en-GB" sz="1600" dirty="0">
                <a:b val="1"/>
                <a:solidFill>
                  <a:srgbClr val="156082"/>
                </a:solidFill>
                <a:latin typeface="Aptos"/>
              </a:rPr>
              <a:t>Limitations</a:t>
            </a:r>
          </a:p>
          <a:p>
            <a:pPr lvl="1" indent="-342900" marL="342900">
  </a:pPr>
            <a:r>
              <a:rPr lang="en-GB" sz="1300" dirty="0">
                <a:b val="0"/>
                <a:solidFill>
                  <a:srgbClr val="1E293B"/>
                </a:solidFill>
                <a:latin typeface="Aptos"/>
              </a:rPr>
              <a:t>Three independent datasets — no matched multi-modal view per executable instance</a:t>
            </a:r>
          </a:p>
          <a:p>
            <a:pPr lvl="1" indent="-342900" marL="342900">
  </a:pPr>
            <a:r>
              <a:rPr lang="en-GB" sz="1300" dirty="0">
                <a:b val="0"/>
                <a:solidFill>
                  <a:srgbClr val="1E293B"/>
                </a:solidFill>
                <a:latin typeface="Aptos"/>
              </a:rPr>
              <a:t>Behavioural AUC 0.621 on balanced evaluation — signal limited by telemetry granularity</a:t>
            </a:r>
          </a:p>
          <a:p>
            <a:pPr lvl="1" indent="-342900" marL="342900">
  </a:pPr>
            <a:r>
              <a:rPr lang="en-GB" sz="1300" dirty="0">
                <a:b val="0"/>
                <a:solidFill>
                  <a:srgbClr val="1E293B"/>
                </a:solidFill>
                <a:latin typeface="Aptos"/>
              </a:rPr>
              <a:t>Feedback retraining approximates base distribution via scaler stats — not a full fine-tune</a:t>
            </a:r>
          </a:p>
          <a:p>
            <a:pPr indent="-342900" marL="342900">
  </a:pPr>
            <a:r>
              <a:rPr lang="en-GB" sz="500" dirty="0">
                <a:b val="0"/>
                <a:solidFill>
                  <a:srgbClr val="1E293B"/>
                </a:solidFill>
                <a:latin typeface="Aptos"/>
              </a:rPr>
              <a:t/>
            </a:r>
          </a:p>
          <a:p>
            <a:pPr indent="-342900" marL="342900">
  </a:pPr>
            <a:r>
              <a:rPr lang="en-GB" sz="1600" dirty="0">
                <a:b val="1"/>
                <a:solidFill>
                  <a:srgbClr val="156082"/>
                </a:solidFill>
                <a:latin typeface="Aptos"/>
              </a:rPr>
              <a:t>Future Work</a:t>
            </a:r>
          </a:p>
          <a:p>
            <a:pPr lvl="1" indent="-342900" marL="342900">
  </a:pPr>
            <a:r>
              <a:rPr lang="en-GB" sz="1300" dirty="0">
                <a:b val="0"/>
                <a:solidFill>
                  <a:srgbClr val="1E293B"/>
                </a:solidFill>
                <a:latin typeface="Aptos"/>
              </a:rPr>
              <a:t>Unified multi-modal dataset for true joint semantic + behavioural + knowledge evaluation</a:t>
            </a:r>
          </a:p>
          <a:p>
            <a:pPr lvl="1" indent="-342900" marL="342900">
  </a:pPr>
            <a:r>
              <a:rPr lang="en-GB" sz="1300" dirty="0">
                <a:b val="0"/>
                <a:solidFill>
                  <a:srgbClr val="1E293B"/>
                </a:solidFill>
                <a:latin typeface="Aptos"/>
              </a:rPr>
              <a:t>Online learning directly from real-world SOC analyst actions and SOAR integration</a:t>
            </a:r>
          </a:p>
          <a:p>
            <a:pPr lvl="1" indent="-342900" marL="342900">
  </a:pPr>
            <a:r>
              <a:rPr lang="en-GB" sz="1300" dirty="0">
                <a:b val="0"/>
                <a:solidFill>
                  <a:srgbClr val="1E293B"/>
                </a:solidFill>
                <a:latin typeface="Aptos"/>
              </a:rPr>
              <a:t>Adaptive per-agent κ_local tuning driven by live feedback statistics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2342D31-2E0B-0EB4-FF9C-60730B50339B}"/>
              </a:ext>
            </a:extLst>
          </p:cNvPr>
          <p:cNvCxnSpPr/>
          <p:nvPr/>
        </p:nvCxnSpPr>
        <p:spPr>
          <a:xfrm>
            <a:off x="196788" y="1364942"/>
            <a:ext cx="117984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37160" y="5989320"/>
            <a:ext cx="11795760" cy="594360"/>
          </a:xfrm>
          <a:prstGeom prst="rect">
            <a:avLst/>
          </a:prstGeom>
          <a:solidFill>
            <a:srgbClr val="0E2841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Bottom line:  SABRE makes uncertainty operational, not merely descriptive — and now closes the loop with expert-in-the-loop retraining</a:t>
            </a:r>
          </a:p>
        </p:txBody>
      </p:sp>
    </p:spTree>
    <p:extLst>
      <p:ext uri="{BB962C8B-B14F-4D97-AF65-F5344CB8AC3E}">
        <p14:creationId xmlns:p14="http://schemas.microsoft.com/office/powerpoint/2010/main" val="19700566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</Words>
  <Application>Microsoft Office PowerPoint</Application>
  <PresentationFormat>Widescreen</PresentationFormat>
  <Paragraphs>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SABRE: An uncertainty-aware semantic–behavioural triage framework for adaptive ransomware detection</vt:lpstr>
      <vt:lpstr>Introduction</vt:lpstr>
      <vt:lpstr>Research Presentation (change the title as needed)</vt:lpstr>
      <vt:lpstr>Research Presentation (change the title as needed)</vt:lpstr>
      <vt:lpstr>Research Presentation (change the title as needed)</vt:lpstr>
      <vt:lpstr>Research Presentation (change the title as needed)</vt:lpstr>
      <vt:lpstr>Research Presentation (change the title as needed)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Biju Issac</dc:creator>
  <cp:lastModifiedBy>henry.kabuye</cp:lastModifiedBy>
  <cp:revision>5</cp:revision>
  <dcterms:created xsi:type="dcterms:W3CDTF">2026-04-02T16:57:41Z</dcterms:created>
  <dcterms:modified xsi:type="dcterms:W3CDTF">2026-04-14T13:50:10Z</dcterms:modified>
</cp:coreProperties>
</file>