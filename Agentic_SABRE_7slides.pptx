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wmf" ContentType="image/x-wmf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26D734-BB84-4B5D-B2FB-B4CB1433B2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C794C3-63F5-4946-9F0B-C9C200E4C2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B3A6AA-EFAF-4773-B718-E1BFE506EB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C88473-6230-46CC-868F-A170452777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50DF31-D437-4EFE-804D-237735C573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27ED5FA-50FA-4861-BEB2-6888074DBA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9EF5DC-C6A0-4637-A527-E448B8127E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90EB54-B3C8-4A42-A772-60530E29B8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5D4861-3354-425B-93D2-A43DFDF719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62665C-CD25-4B27-8604-9F034B69D1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9D5348-F5F3-4B70-95B6-B63FBE34EB2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AB1ED1-0994-4375-89E1-243963F355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A82997A-95BD-4EBB-BB8A-124776ABEA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F2C8FB-A3B5-41CF-8D4E-70B0114497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DA8677F-C50F-45FD-BFE3-60A07D1FBB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E28D95E-EE22-41D0-95CC-B15079D9BC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8532630-0469-4331-8F51-FC22C76802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5E0281E-E158-4122-A6C7-93D322A477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981B0AF-A7E3-42FC-9167-341BD9E179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72780F5-506B-4AB2-99EE-A68BB3C491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116B6BF-17C7-4900-A8A0-6B473E4AE3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8FF2648-9CA1-4D5C-9703-EF07FF67E8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254F54B-A51B-449E-B793-DB85B126A5E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199D485-5E39-4344-AF62-5D705CC334E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GB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837D5B-E7DC-4227-8524-1275A7173182}" type="slidenum">
              <a:rPr b="0" lang="en-GB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GB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E7F5EB3-8782-4C38-A8C2-14157A845EBF}" type="slidenum">
              <a:rPr b="0" lang="en-GB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ubTitle"/>
          </p:nvPr>
        </p:nvSpPr>
        <p:spPr>
          <a:xfrm>
            <a:off x="1470600" y="2845080"/>
            <a:ext cx="9142920" cy="264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e293b"/>
                </a:solidFill>
                <a:latin typeface="Aptos"/>
              </a:rPr>
              <a:t>An Uncertainty-Aware Multi-Agent Framework for Adaptive Ransomware Detection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8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Aptos"/>
              </a:rPr>
              <a:t>Henry Kabuye  ·  PhD Student  ·  Northumbria University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</a:rPr>
              <a:t>Principle Supervisor: Dr. Biju Issac </a:t>
            </a:r>
            <a:endParaRPr b="0" lang="en-US" sz="13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</a:rPr>
              <a:t>Secondary Supervisor: Dr. Neera Jeyamohan</a:t>
            </a:r>
            <a:endParaRPr b="0" lang="en-US" sz="13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600" spc="-1" strike="noStrike">
                <a:solidFill>
                  <a:srgbClr val="000000"/>
                </a:solidFill>
                <a:latin typeface="Aptos"/>
              </a:rPr>
              <a:t> </a:t>
            </a:r>
            <a:endParaRPr b="0" lang="en-US" sz="6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56082"/>
                </a:solidFill>
                <a:latin typeface="Aptos"/>
              </a:rPr>
              <a:t>Semantic  ·  Behavioural  ·  Knowledge agents  —  Decision MLP  —  Triage Policy</a:t>
            </a:r>
            <a:endParaRPr b="0" lang="en-US" sz="13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97132"/>
                </a:solidFill>
                <a:latin typeface="Aptos"/>
              </a:rPr>
              <a:t>NEW: Per-Agent Peer Consultation  +  Expert Feedback Loop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3" name="Straight Connector 4"/>
          <p:cNvSpPr/>
          <p:nvPr/>
        </p:nvSpPr>
        <p:spPr>
          <a:xfrm>
            <a:off x="190800" y="2745000"/>
            <a:ext cx="11798280" cy="36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pic>
        <p:nvPicPr>
          <p:cNvPr id="84" name="Picture 8" descr=""/>
          <p:cNvPicPr/>
          <p:nvPr/>
        </p:nvPicPr>
        <p:blipFill>
          <a:blip r:embed="rId1"/>
          <a:stretch/>
        </p:blipFill>
        <p:spPr>
          <a:xfrm>
            <a:off x="6939360" y="5858280"/>
            <a:ext cx="2726640" cy="735120"/>
          </a:xfrm>
          <a:prstGeom prst="rect">
            <a:avLst/>
          </a:prstGeom>
          <a:ln w="0">
            <a:noFill/>
          </a:ln>
        </p:spPr>
      </p:pic>
      <p:pic>
        <p:nvPicPr>
          <p:cNvPr id="85" name="Picture 10" descr=""/>
          <p:cNvPicPr/>
          <p:nvPr/>
        </p:nvPicPr>
        <p:blipFill>
          <a:blip r:embed="rId2"/>
          <a:stretch/>
        </p:blipFill>
        <p:spPr>
          <a:xfrm>
            <a:off x="3173760" y="5861160"/>
            <a:ext cx="3472920" cy="745200"/>
          </a:xfrm>
          <a:prstGeom prst="rect">
            <a:avLst/>
          </a:prstGeom>
          <a:ln w="0">
            <a:noFill/>
          </a:ln>
        </p:spPr>
      </p:pic>
      <p:sp>
        <p:nvSpPr>
          <p:cNvPr id="86" name="PlaceHolder 2"/>
          <p:cNvSpPr>
            <a:spLocks noGrp="1"/>
          </p:cNvSpPr>
          <p:nvPr>
            <p:ph type="title"/>
          </p:nvPr>
        </p:nvSpPr>
        <p:spPr>
          <a:xfrm>
            <a:off x="1371960" y="1519560"/>
            <a:ext cx="9142920" cy="99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1e293b"/>
                </a:solidFill>
                <a:latin typeface="Aptos Display"/>
              </a:rPr>
              <a:t>Agentic SABRE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5981400" y="3310920"/>
            <a:ext cx="21492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 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ptos Display"/>
              </a:rPr>
              <a:t>Why Ransomware Detection Needs an Agentic Approach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90000"/>
              </a:lnSpc>
              <a:spcBef>
                <a:spcPts val="201"/>
              </a:spcBef>
              <a:buClr>
                <a:srgbClr val="156082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156082"/>
                </a:solidFill>
                <a:latin typeface="Aptos"/>
              </a:rPr>
              <a:t>Ransomware is operationally diverse</a:t>
            </a:r>
            <a:endParaRPr b="0" lang="en-US" sz="16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Polymorphism, obfuscation and behavioural drift defeat static signatures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Runtime behaviour is noisy and imbalanced across real deployments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500" spc="-1" strike="noStrike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156082"/>
                </a:solidFill>
                <a:latin typeface="Aptos"/>
              </a:rPr>
              <a:t>Standard ML gives point predictions — no uncertainty signal</a:t>
            </a:r>
            <a:endParaRPr b="0" lang="en-US" sz="16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Aggressive threshold → false positives, unnecessary containment, ops disruption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Conservative threshold → missed threats, analyst overload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Out-of-distribution samples make confidence values misleading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500" spc="-1" strike="noStrike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156082"/>
                </a:solidFill>
                <a:latin typeface="Aptos"/>
              </a:rPr>
              <a:t>Three independent evidence streams: static PE · runtime behaviour · threat intel</a:t>
            </a:r>
            <a:endParaRPr b="0" lang="en-US" sz="16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No single modality dominates across all sample types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Heterogeneous datasets — no matched multi-modal view per executable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500" spc="-1" strike="noStrike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e97132"/>
              </a:buClr>
              <a:buFont typeface="Arial"/>
              <a:buChar char="•"/>
            </a:pPr>
            <a:r>
              <a:rPr b="0" lang="en-GB" sz="1500" spc="-1" strike="noStrike">
                <a:solidFill>
                  <a:srgbClr val="e97132"/>
                </a:solidFill>
                <a:latin typeface="Aptos"/>
              </a:rPr>
              <a:t>SABRE’s answer: </a:t>
            </a:r>
            <a:r>
              <a:rPr b="0" lang="en-GB" sz="1500" spc="-1" strike="noStrike">
                <a:solidFill>
                  <a:srgbClr val="1e293b"/>
                </a:solidFill>
                <a:latin typeface="Aptos"/>
              </a:rPr>
              <a:t>fuse all three agents under an uncertainty-aware triage policy that makes uncertainty operational, not merely descriptive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0" name="Straight Connector 3"/>
          <p:cNvSpPr/>
          <p:nvPr/>
        </p:nvSpPr>
        <p:spPr>
          <a:xfrm>
            <a:off x="196560" y="1364760"/>
            <a:ext cx="11798640" cy="36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1156040" cy="132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400" spc="-1" strike="noStrike">
                <a:solidFill>
                  <a:srgbClr val="000000"/>
                </a:solidFill>
                <a:latin typeface="Aptos Display"/>
              </a:rPr>
              <a:t>Three-Agent Architecture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92" name="Straight Connector 3"/>
          <p:cNvSpPr/>
          <p:nvPr/>
        </p:nvSpPr>
        <p:spPr>
          <a:xfrm>
            <a:off x="196560" y="1364760"/>
            <a:ext cx="11798640" cy="36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3" name="TextBox 5"/>
          <p:cNvSpPr/>
          <p:nvPr/>
        </p:nvSpPr>
        <p:spPr>
          <a:xfrm>
            <a:off x="182880" y="6537960"/>
            <a:ext cx="11794680" cy="363960"/>
          </a:xfrm>
          <a:prstGeom prst="rect">
            <a:avLst/>
          </a:prstGeom>
          <a:solidFill>
            <a:srgbClr val="0e28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Aptos"/>
                <a:ea typeface="DejaVu Sans"/>
              </a:rPr>
              <a:t>Semantic (RDset · 138K PE)  ·  Behavioural (RanSMAP · 2K telemetry)  ·  Knowledge (RansKnow · 200 MITRE ATT&amp;CK)  →  MC Dropout UQ  →  Peer Consultation  →  6-D Score Pool  →  Decision MLP  →  TPE Bayesian Optimisation Policy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492480" y="1536120"/>
            <a:ext cx="11504520" cy="4659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1234520" cy="132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ptos Display"/>
              </a:rPr>
              <a:t>Evaluation Results: Agents &amp; Fused System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1277000" cy="480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97" name="Straight Connector 5"/>
          <p:cNvSpPr/>
          <p:nvPr/>
        </p:nvSpPr>
        <p:spPr>
          <a:xfrm>
            <a:off x="196560" y="1364760"/>
            <a:ext cx="11798640" cy="36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graphicFrame>
        <p:nvGraphicFramePr>
          <p:cNvPr id="98" name="Table 6"/>
          <p:cNvGraphicFramePr/>
          <p:nvPr/>
        </p:nvGraphicFramePr>
        <p:xfrm>
          <a:off x="137160" y="1463040"/>
          <a:ext cx="7406280" cy="4233960"/>
        </p:xfrm>
        <a:graphic>
          <a:graphicData uri="http://schemas.openxmlformats.org/drawingml/2006/table">
            <a:tbl>
              <a:tblPr/>
              <a:tblGrid>
                <a:gridCol w="1500840"/>
                <a:gridCol w="1130760"/>
                <a:gridCol w="1806840"/>
                <a:gridCol w="1077120"/>
                <a:gridCol w="1891080"/>
              </a:tblGrid>
              <a:tr h="6631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Agent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Train N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Natural Acc / AUC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Balanced Acc / AUC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Notes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</a:tr>
              <a:tr h="8060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Semantic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138,047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100.0% / 1.000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100.0% / 1.000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Static PE embeddings (384-D BERT)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631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Behavioural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751,588 ‡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99.6% / 99.9%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99.6% / 0.996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596:1 imbalance → SMOTE + StandardScaler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</a:tr>
              <a:tr h="8060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Knowledge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200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97.4% / 99.8%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96.5% / 0.995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MITRE ATT&amp;CK features (23-D)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59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Fused System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All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97.2% bal. acc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100% TPR / 94.7% prec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</a:rPr>
                        <a:t>0 false negatives on 4,000-sample eval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pic>
        <p:nvPicPr>
          <p:cNvPr id="99" name="Picture 7" descr="ROC_all_agents.png"/>
          <p:cNvPicPr/>
          <p:nvPr/>
        </p:nvPicPr>
        <p:blipFill>
          <a:blip r:embed="rId1"/>
          <a:stretch/>
        </p:blipFill>
        <p:spPr>
          <a:xfrm>
            <a:off x="7589520" y="1391040"/>
            <a:ext cx="4433760" cy="3800160"/>
          </a:xfrm>
          <a:prstGeom prst="rect">
            <a:avLst/>
          </a:prstGeom>
          <a:ln w="0">
            <a:noFill/>
          </a:ln>
        </p:spPr>
      </p:pic>
      <p:sp>
        <p:nvSpPr>
          <p:cNvPr id="100" name="TextBox 8"/>
          <p:cNvSpPr/>
          <p:nvPr/>
        </p:nvSpPr>
        <p:spPr>
          <a:xfrm>
            <a:off x="128520" y="5958000"/>
            <a:ext cx="7405560" cy="591840"/>
          </a:xfrm>
          <a:prstGeom prst="rect">
            <a:avLst/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Aptos"/>
                <a:ea typeface="DejaVu Sans"/>
              </a:rPr>
              <a:t>‡ </a:t>
            </a:r>
            <a:r>
              <a:rPr b="0" lang="en-US" sz="1100" spc="-1" strike="noStrike">
                <a:solidFill>
                  <a:srgbClr val="1e293b"/>
                </a:solidFill>
                <a:latin typeface="Aptos"/>
                <a:ea typeface="DejaVu Sans"/>
              </a:rPr>
              <a:t>751,588 samples (596:1 imbalance) → SMOTE + StandardScaler; evaluated on 150,318-sample natural-dist test. Balanced col = 1,000 per class (equal split). Fusion: 5.6% FPR (112/2,000 benign), 0 false negatives.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1" name="TextBox 9"/>
          <p:cNvSpPr/>
          <p:nvPr/>
        </p:nvSpPr>
        <p:spPr>
          <a:xfrm>
            <a:off x="8056800" y="5378400"/>
            <a:ext cx="1736280" cy="424440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  <a:ea typeface="DejaVu Sans"/>
              </a:rPr>
              <a:t>99.6 %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  <a:ea typeface="DejaVu Sans"/>
              </a:rPr>
              <a:t>Beh. Natural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10274400" y="5366880"/>
            <a:ext cx="1736280" cy="42444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  <a:ea typeface="DejaVu Sans"/>
              </a:rPr>
              <a:t>0.996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  <a:ea typeface="DejaVu Sans"/>
              </a:rPr>
              <a:t>Beh. Balanced AUC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3" name="TextBox 11"/>
          <p:cNvSpPr/>
          <p:nvPr/>
        </p:nvSpPr>
        <p:spPr>
          <a:xfrm>
            <a:off x="9239040" y="5843520"/>
            <a:ext cx="1736280" cy="424440"/>
          </a:xfrm>
          <a:prstGeom prst="rect">
            <a:avLst/>
          </a:prstGeom>
          <a:solidFill>
            <a:srgbClr val="196b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  <a:ea typeface="DejaVu Sans"/>
              </a:rPr>
              <a:t>0.995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  <a:ea typeface="DejaVu Sans"/>
              </a:rPr>
              <a:t>Know. AUC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4" name="TextBox 12"/>
          <p:cNvSpPr/>
          <p:nvPr/>
        </p:nvSpPr>
        <p:spPr>
          <a:xfrm>
            <a:off x="9235800" y="6316200"/>
            <a:ext cx="1736280" cy="4244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  <a:ea typeface="DejaVu Sans"/>
              </a:rPr>
              <a:t>97.2 %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ptos"/>
                <a:ea typeface="DejaVu Sans"/>
              </a:rPr>
              <a:t>Fused Bal. Acc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1141280" cy="132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400" spc="-1" strike="noStrike">
                <a:solidFill>
                  <a:srgbClr val="000000"/>
                </a:solidFill>
                <a:latin typeface="Aptos Display"/>
              </a:rPr>
              <a:t>Uncertainty-Aware Triage Policy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107" name="Straight Connector 3"/>
          <p:cNvSpPr/>
          <p:nvPr/>
        </p:nvSpPr>
        <p:spPr>
          <a:xfrm>
            <a:off x="196560" y="1364760"/>
            <a:ext cx="11798640" cy="36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8" name="Text Placeholder 6"/>
          <p:cNvSpPr/>
          <p:nvPr/>
        </p:nvSpPr>
        <p:spPr>
          <a:xfrm>
            <a:off x="885960" y="2169720"/>
            <a:ext cx="4966920" cy="8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ts val="2401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ts val="2401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137160" y="1417320"/>
            <a:ext cx="2513520" cy="31788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DejaVu Sans"/>
              </a:rPr>
              <a:t>AUTO-CONTAIN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0" name="TextBox 6"/>
          <p:cNvSpPr/>
          <p:nvPr/>
        </p:nvSpPr>
        <p:spPr>
          <a:xfrm>
            <a:off x="137160" y="1965960"/>
            <a:ext cx="2513520" cy="424440"/>
          </a:xfrm>
          <a:prstGeom prst="rect">
            <a:avLst/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Aptos"/>
                <a:ea typeface="DejaVu Sans"/>
              </a:rPr>
              <a:t>p̂ ≥ τ_high (0.905)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Aptos"/>
                <a:ea typeface="DejaVu Sans"/>
              </a:rPr>
              <a:t>AND  σ_max ≤ κ_low (0.195)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1" name="TextBox 7"/>
          <p:cNvSpPr/>
          <p:nvPr/>
        </p:nvSpPr>
        <p:spPr>
          <a:xfrm>
            <a:off x="137160" y="2743200"/>
            <a:ext cx="2513520" cy="424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Aptos"/>
                <a:ea typeface="DejaVu Sans"/>
              </a:rPr>
              <a:t>High-confidence ransomware: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Aptos"/>
                <a:ea typeface="DejaVu Sans"/>
              </a:rPr>
              <a:t>automated host isolation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2" name="TextBox 8"/>
          <p:cNvSpPr/>
          <p:nvPr/>
        </p:nvSpPr>
        <p:spPr>
          <a:xfrm>
            <a:off x="2788920" y="1417320"/>
            <a:ext cx="2513520" cy="31788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DejaVu Sans"/>
              </a:rPr>
              <a:t>ESCALATE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3" name="TextBox 9"/>
          <p:cNvSpPr/>
          <p:nvPr/>
        </p:nvSpPr>
        <p:spPr>
          <a:xfrm>
            <a:off x="2788920" y="1965960"/>
            <a:ext cx="2513520" cy="424440"/>
          </a:xfrm>
          <a:prstGeom prst="rect">
            <a:avLst/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Aptos"/>
                <a:ea typeface="DejaVu Sans"/>
              </a:rPr>
              <a:t>p̂ ≥ τ (0.396)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Aptos"/>
                <a:ea typeface="DejaVu Sans"/>
              </a:rPr>
              <a:t>OR  σ_max &gt; κ (0.196)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2788920" y="2743200"/>
            <a:ext cx="2513520" cy="424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Aptos"/>
                <a:ea typeface="DejaVu Sans"/>
              </a:rPr>
              <a:t>Uncertain or suspicious: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Aptos"/>
                <a:ea typeface="DejaVu Sans"/>
              </a:rPr>
              <a:t>route to SOC analyst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5" name="TextBox 11"/>
          <p:cNvSpPr/>
          <p:nvPr/>
        </p:nvSpPr>
        <p:spPr>
          <a:xfrm>
            <a:off x="5440680" y="1417320"/>
            <a:ext cx="2513520" cy="317880"/>
          </a:xfrm>
          <a:prstGeom prst="rect">
            <a:avLst/>
          </a:prstGeom>
          <a:solidFill>
            <a:srgbClr val="196b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  <a:ea typeface="DejaVu Sans"/>
              </a:rPr>
              <a:t>ALLOW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6" name="TextBox 12"/>
          <p:cNvSpPr/>
          <p:nvPr/>
        </p:nvSpPr>
        <p:spPr>
          <a:xfrm>
            <a:off x="5440680" y="1965960"/>
            <a:ext cx="2513520" cy="257040"/>
          </a:xfrm>
          <a:prstGeom prst="rect">
            <a:avLst/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Aptos"/>
                <a:ea typeface="DejaVu Sans"/>
              </a:rPr>
              <a:t>otherwise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TextBox 13"/>
          <p:cNvSpPr/>
          <p:nvPr/>
        </p:nvSpPr>
        <p:spPr>
          <a:xfrm>
            <a:off x="5440680" y="2743200"/>
            <a:ext cx="2513520" cy="424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Aptos"/>
                <a:ea typeface="DejaVu Sans"/>
              </a:rPr>
              <a:t>Low risk, low uncertainty: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Aptos"/>
                <a:ea typeface="DejaVu Sans"/>
              </a:rPr>
              <a:t>no automated action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118" name="Picture 14" descr="Triage_policy_space.png"/>
          <p:cNvPicPr/>
          <p:nvPr/>
        </p:nvPicPr>
        <p:blipFill>
          <a:blip r:embed="rId1"/>
          <a:stretch/>
        </p:blipFill>
        <p:spPr>
          <a:xfrm>
            <a:off x="8138160" y="1971720"/>
            <a:ext cx="3885120" cy="2913480"/>
          </a:xfrm>
          <a:prstGeom prst="rect">
            <a:avLst/>
          </a:prstGeom>
          <a:ln w="0">
            <a:noFill/>
          </a:ln>
        </p:spPr>
      </p:pic>
      <p:sp>
        <p:nvSpPr>
          <p:cNvPr id="119" name="TextBox 15"/>
          <p:cNvSpPr/>
          <p:nvPr/>
        </p:nvSpPr>
        <p:spPr>
          <a:xfrm>
            <a:off x="137160" y="3474720"/>
            <a:ext cx="7862760" cy="591840"/>
          </a:xfrm>
          <a:prstGeom prst="rect">
            <a:avLst/>
          </a:prstGeom>
          <a:solidFill>
            <a:srgbClr val="d6ea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Aptos"/>
                <a:ea typeface="DejaVu Sans"/>
              </a:rPr>
              <a:t>Design rationale:  max(σ) ensures either agent can veto autonomous action  ·  Axis-aligned thresholds preserve interpretability &amp; auditability  ·  Thresholds tuned by Bayesian optimisation — TPE (Tree-structured Parzen Estimator) via Optuna, 300 trials, objective: balanced accuracy − λ · escalation rate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0" name="TextBox 16"/>
          <p:cNvSpPr/>
          <p:nvPr/>
        </p:nvSpPr>
        <p:spPr>
          <a:xfrm>
            <a:off x="137160" y="4160520"/>
            <a:ext cx="7862760" cy="454680"/>
          </a:xfrm>
          <a:prstGeom prst="rect">
            <a:avLst/>
          </a:prstGeom>
          <a:solidFill>
            <a:srgbClr val="0e28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Policy results (4,000-sample eval):  97.2% balanced accuracy  ·  100% TPR  ·  5.6% FPR  ·  0 false negatives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1" name="TextBox 17"/>
          <p:cNvSpPr/>
          <p:nvPr/>
        </p:nvSpPr>
        <p:spPr>
          <a:xfrm>
            <a:off x="137160" y="4754880"/>
            <a:ext cx="7862760" cy="42444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ptos"/>
                <a:ea typeface="DejaVu Sans"/>
              </a:rPr>
              <a:t>NEW — Per-Agent Policies:  each agent also has its own κ_local threshold; if σ_agent &gt; κ_local the orchestrator triggers peer consultation before fusion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1189880" cy="132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ptos Display"/>
              </a:rPr>
              <a:t>Peer Consultation &amp; Expert Feedback Loop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90000"/>
              </a:lnSpc>
              <a:spcBef>
                <a:spcPts val="201"/>
              </a:spcBef>
              <a:buClr>
                <a:srgbClr val="e97132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e97132"/>
                </a:solidFill>
                <a:latin typeface="Aptos"/>
              </a:rPr>
              <a:t>Feature 1 — </a:t>
            </a:r>
            <a:r>
              <a:rPr b="0" lang="en-GB" sz="1600" spc="-1" strike="noStrike">
                <a:solidFill>
                  <a:srgbClr val="156082"/>
                </a:solidFill>
                <a:latin typeface="Aptos"/>
              </a:rPr>
              <a:t>Per-Agent Peer Consultation</a:t>
            </a:r>
            <a:endParaRPr b="0" lang="en-US" sz="16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Each agent has a κ_local threshold alongside the global triage policy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If σ_agent &gt; κ_local → orchestrator adjusts p using inverse-uncertainty-weighted scores of self + both peers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Uncertainty values (σ) are never modified; consulted flag + raw_prob stored per result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Default κ_local = 1.0 → consultation never fires (backwards-compatible with Crane baseline)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500" spc="-1" strike="noStrike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e97132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e97132"/>
                </a:solidFill>
                <a:latin typeface="Aptos"/>
              </a:rPr>
              <a:t>Feature 2 — </a:t>
            </a:r>
            <a:r>
              <a:rPr b="0" lang="en-GB" sz="1600" spc="-1" strike="noStrike">
                <a:solidFill>
                  <a:srgbClr val="156082"/>
                </a:solidFill>
                <a:latin typeface="Aptos"/>
              </a:rPr>
              <a:t>Expert Feedback Loop</a:t>
            </a:r>
            <a:endParaRPr b="0" lang="en-US" sz="16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ESCALATE / AUTO-CONTAIN results carry a UUID sample_id for analyst tracking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Analysts submit corrections via the ‘Feedback’ tab in the live dashboard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Corrections stored in append-only JSON log (timestamp, scores, σ, expert label, reasoning)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When N ≥ 20 corrections: ‘Trigger Retrain’ enabled — incremental MLP retrain with 3× upweighted feedback rows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Operator promotes updated model manually or via --promote flag; TPE re-tunes κ_local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4" name="Straight Connector 3"/>
          <p:cNvSpPr/>
          <p:nvPr/>
        </p:nvSpPr>
        <p:spPr>
          <a:xfrm>
            <a:off x="196560" y="1364760"/>
            <a:ext cx="11798640" cy="36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5" name="Content Placeholder 1"/>
          <p:cNvSpPr/>
          <p:nvPr/>
        </p:nvSpPr>
        <p:spPr>
          <a:xfrm>
            <a:off x="6204960" y="2160000"/>
            <a:ext cx="4966920" cy="39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180000" indent="-180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marL="180000" indent="-180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26" name="Content Placeholder 3"/>
          <p:cNvSpPr/>
          <p:nvPr/>
        </p:nvSpPr>
        <p:spPr>
          <a:xfrm>
            <a:off x="828000" y="3038760"/>
            <a:ext cx="4966920" cy="30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137160" y="5440680"/>
            <a:ext cx="2742120" cy="454680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Inference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→ </a:t>
            </a: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sample_id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2880360" y="5577840"/>
            <a:ext cx="227520" cy="36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e293b"/>
                </a:solidFill>
                <a:latin typeface="Aptos"/>
                <a:ea typeface="DejaVu Sans"/>
              </a:rPr>
              <a:t>→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5852160" y="5577840"/>
            <a:ext cx="227520" cy="36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e293b"/>
                </a:solidFill>
                <a:latin typeface="Aptos"/>
                <a:ea typeface="DejaVu Sans"/>
              </a:rPr>
              <a:t>→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8931960" y="5577840"/>
            <a:ext cx="227520" cy="36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e293b"/>
                </a:solidFill>
                <a:latin typeface="Aptos"/>
                <a:ea typeface="DejaVu Sans"/>
              </a:rPr>
              <a:t>→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1" name="TextBox 12"/>
          <p:cNvSpPr/>
          <p:nvPr/>
        </p:nvSpPr>
        <p:spPr>
          <a:xfrm>
            <a:off x="9268560" y="5440680"/>
            <a:ext cx="2742120" cy="454680"/>
          </a:xfrm>
          <a:prstGeom prst="rect">
            <a:avLst/>
          </a:prstGeom>
          <a:solidFill>
            <a:srgbClr val="196b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Retrain MLP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+ Re-tune κ_local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6188760" y="5440680"/>
            <a:ext cx="2742120" cy="454680"/>
          </a:xfrm>
          <a:prstGeom prst="rect">
            <a:avLst/>
          </a:prstGeom>
          <a:solidFill>
            <a:srgbClr val="4678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Feedback Log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(JSON, N records)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3" name="TextBox 8"/>
          <p:cNvSpPr/>
          <p:nvPr/>
        </p:nvSpPr>
        <p:spPr>
          <a:xfrm>
            <a:off x="3180960" y="5440680"/>
            <a:ext cx="2742120" cy="45468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Analyst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  <a:ea typeface="DejaVu Sans"/>
              </a:rPr>
              <a:t>Correction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400" spc="-1" strike="noStrike">
                <a:solidFill>
                  <a:srgbClr val="000000"/>
                </a:solidFill>
                <a:latin typeface="Aptos Display"/>
              </a:rPr>
              <a:t>Conclusions &amp; Future Work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06400" y="159300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90000"/>
              </a:lnSpc>
              <a:spcBef>
                <a:spcPts val="201"/>
              </a:spcBef>
              <a:buClr>
                <a:srgbClr val="156082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156082"/>
                </a:solidFill>
                <a:latin typeface="Aptos"/>
              </a:rPr>
              <a:t>Main Contributions</a:t>
            </a:r>
            <a:endParaRPr b="0" lang="en-US" sz="16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Uncertainty-aware 3-agent triage pipeline: static PE · runtime behaviour · threat intel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Fused system: 97.2% balanced accuracy, 100% TPR, 94.7% precision on 4,000-sample evaluation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Operational policy linking p̂ and σ to AUTO-CONTAIN / ESCALATE / ALLOW — tuned by Bayesian optimisation (TPE, Optuna)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e97132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e97132"/>
                </a:solidFill>
                <a:latin typeface="Aptos"/>
              </a:rPr>
              <a:t>NEW: </a:t>
            </a: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Per-agent peer consultation — adjusts uncertain scores before fusion, σ unchanged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e97132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e97132"/>
                </a:solidFill>
                <a:latin typeface="Aptos"/>
              </a:rPr>
              <a:t>NEW: </a:t>
            </a: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Expert feedback loop — analyst corrections drive incremental MLP retraining + policy re-tune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500" spc="-1" strike="noStrike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156082"/>
                </a:solidFill>
                <a:latin typeface="Aptos"/>
              </a:rPr>
              <a:t>Limitations</a:t>
            </a:r>
            <a:endParaRPr b="0" lang="en-US" sz="16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Three independent datasets — no matched multi-modal view per executable instance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Behavioural AUC 0.996 balanced (after StandardScaler); 0.621 pre-scaler — StandardScaler was the key fix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5.6% FPR on default policy (112 / 2,000 benign) — mitigated by escalation to analyst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500" spc="-1" strike="noStrike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Arial"/>
              <a:buChar char="•"/>
            </a:pPr>
            <a:r>
              <a:rPr b="0" lang="en-GB" sz="1600" spc="-1" strike="noStrike">
                <a:solidFill>
                  <a:srgbClr val="156082"/>
                </a:solidFill>
                <a:latin typeface="Aptos"/>
              </a:rPr>
              <a:t>Future Work</a:t>
            </a:r>
            <a:endParaRPr b="0" lang="en-US" sz="16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Unified multi-modal dataset for true joint semantic + behavioural + knowledge evaluation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Online learning from real-world SOC analyst actions and SOAR integration</a:t>
            </a:r>
            <a:endParaRPr b="0" lang="en-US" sz="1300" spc="-1" strike="noStrike">
              <a:latin typeface="Arial"/>
            </a:endParaRPr>
          </a:p>
          <a:p>
            <a:pPr lvl="1" marL="343080" indent="-343080">
              <a:lnSpc>
                <a:spcPct val="90000"/>
              </a:lnSpc>
              <a:spcBef>
                <a:spcPts val="499"/>
              </a:spcBef>
              <a:buClr>
                <a:srgbClr val="1e293b"/>
              </a:buClr>
              <a:buFont typeface="Arial"/>
              <a:buChar char="•"/>
            </a:pPr>
            <a:r>
              <a:rPr b="0" lang="en-GB" sz="1300" spc="-1" strike="noStrike">
                <a:solidFill>
                  <a:srgbClr val="1e293b"/>
                </a:solidFill>
                <a:latin typeface="Aptos"/>
              </a:rPr>
              <a:t>Adaptive per-agent κ_local tuning driven by live feedback statistics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6" name="Straight Connector 3"/>
          <p:cNvSpPr/>
          <p:nvPr/>
        </p:nvSpPr>
        <p:spPr>
          <a:xfrm>
            <a:off x="196560" y="1364760"/>
            <a:ext cx="11798640" cy="360"/>
          </a:xfrm>
          <a:prstGeom prst="line">
            <a:avLst/>
          </a:prstGeom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7" name="Text Placeholder 3"/>
          <p:cNvSpPr/>
          <p:nvPr/>
        </p:nvSpPr>
        <p:spPr>
          <a:xfrm>
            <a:off x="383040" y="1577520"/>
            <a:ext cx="11424240" cy="48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Box 9"/>
          <p:cNvSpPr/>
          <p:nvPr/>
        </p:nvSpPr>
        <p:spPr>
          <a:xfrm>
            <a:off x="137160" y="6080760"/>
            <a:ext cx="11794680" cy="485640"/>
          </a:xfrm>
          <a:prstGeom prst="rect">
            <a:avLst/>
          </a:prstGeom>
          <a:solidFill>
            <a:srgbClr val="0e28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  <a:ea typeface="DejaVu Sans"/>
              </a:rPr>
              <a:t>Bottom line:  SABRE makes uncertainty operational, not merely descriptive — and now closes the loop with expert-in-the-loop retraining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2026-04-02T16:57:41Z</dcterms:created>
  <dc:creator>Biju Issac</dc:creator>
  <dc:description/>
  <dc:language>en-US</dc:language>
  <cp:lastModifiedBy/>
  <dcterms:modified xsi:type="dcterms:W3CDTF">2026-04-24T00:40:53Z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