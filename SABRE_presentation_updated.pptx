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72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71" r:id="rId10"/>
    <p:sldId id="268" r:id="rId11"/>
    <p:sldId id="269" r:id="rId12"/>
    <p:sldId id="264" r:id="rId13"/>
    <p:sldId id="270" r:id="rId14"/>
    <p:sldId id="266" r:id="rId15"/>
    <p:sldId id="267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2" autoAdjust="0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nry.kabuye" userId="eb11684c-b2f7-47c6-a059-9031b708ef9b" providerId="ADAL" clId="{1DFA72CE-DF62-41DC-8B30-16B405C245CA}"/>
    <pc:docChg chg="custSel modSld">
      <pc:chgData name="henry.kabuye" userId="eb11684c-b2f7-47c6-a059-9031b708ef9b" providerId="ADAL" clId="{1DFA72CE-DF62-41DC-8B30-16B405C245CA}" dt="2026-04-14T14:42:19.988" v="66" actId="1037"/>
      <pc:docMkLst>
        <pc:docMk/>
      </pc:docMkLst>
      <pc:sldChg chg="modSp mod">
        <pc:chgData name="henry.kabuye" userId="eb11684c-b2f7-47c6-a059-9031b708ef9b" providerId="ADAL" clId="{1DFA72CE-DF62-41DC-8B30-16B405C245CA}" dt="2026-04-14T13:57:58.949" v="55" actId="1076"/>
        <pc:sldMkLst>
          <pc:docMk/>
          <pc:sldMk cId="0" sldId="256"/>
        </pc:sldMkLst>
        <pc:spChg chg="mod">
          <ac:chgData name="henry.kabuye" userId="eb11684c-b2f7-47c6-a059-9031b708ef9b" providerId="ADAL" clId="{1DFA72CE-DF62-41DC-8B30-16B405C245CA}" dt="2026-04-14T13:57:58.949" v="55" actId="1076"/>
          <ac:spMkLst>
            <pc:docMk/>
            <pc:sldMk cId="0" sldId="256"/>
            <ac:spMk id="3" creationId="{00000000-0000-0000-0000-000000000000}"/>
          </ac:spMkLst>
        </pc:spChg>
      </pc:sldChg>
      <pc:sldChg chg="addSp delSp modSp mod">
        <pc:chgData name="henry.kabuye" userId="eb11684c-b2f7-47c6-a059-9031b708ef9b" providerId="ADAL" clId="{1DFA72CE-DF62-41DC-8B30-16B405C245CA}" dt="2026-04-13T16:30:26.303" v="45" actId="14100"/>
        <pc:sldMkLst>
          <pc:docMk/>
          <pc:sldMk cId="0" sldId="259"/>
        </pc:sldMkLst>
        <pc:picChg chg="add del mod">
          <ac:chgData name="henry.kabuye" userId="eb11684c-b2f7-47c6-a059-9031b708ef9b" providerId="ADAL" clId="{1DFA72CE-DF62-41DC-8B30-16B405C245CA}" dt="2026-04-13T16:30:16.577" v="43" actId="478"/>
          <ac:picMkLst>
            <pc:docMk/>
            <pc:sldMk cId="0" sldId="259"/>
            <ac:picMk id="4" creationId="{72CDD895-FD86-88E9-428E-C9FD9ACD403D}"/>
          </ac:picMkLst>
        </pc:picChg>
        <pc:picChg chg="add mod">
          <ac:chgData name="henry.kabuye" userId="eb11684c-b2f7-47c6-a059-9031b708ef9b" providerId="ADAL" clId="{1DFA72CE-DF62-41DC-8B30-16B405C245CA}" dt="2026-04-13T16:30:26.303" v="45" actId="14100"/>
          <ac:picMkLst>
            <pc:docMk/>
            <pc:sldMk cId="0" sldId="259"/>
            <ac:picMk id="5" creationId="{D0BFA837-D314-66EF-6EBA-2E1801755548}"/>
          </ac:picMkLst>
        </pc:picChg>
        <pc:picChg chg="del">
          <ac:chgData name="henry.kabuye" userId="eb11684c-b2f7-47c6-a059-9031b708ef9b" providerId="ADAL" clId="{1DFA72CE-DF62-41DC-8B30-16B405C245CA}" dt="2026-04-13T15:29:16.372" v="19" actId="478"/>
          <ac:picMkLst>
            <pc:docMk/>
            <pc:sldMk cId="0" sldId="259"/>
            <ac:picMk id="39" creationId="{97EE6EB4-41A9-55F2-879D-231F43FE8A40}"/>
          </ac:picMkLst>
        </pc:picChg>
      </pc:sldChg>
      <pc:sldChg chg="modSp mod">
        <pc:chgData name="henry.kabuye" userId="eb11684c-b2f7-47c6-a059-9031b708ef9b" providerId="ADAL" clId="{1DFA72CE-DF62-41DC-8B30-16B405C245CA}" dt="2026-04-14T14:42:19.988" v="66" actId="1037"/>
        <pc:sldMkLst>
          <pc:docMk/>
          <pc:sldMk cId="3371457412" sldId="270"/>
        </pc:sldMkLst>
        <pc:spChg chg="mod">
          <ac:chgData name="henry.kabuye" userId="eb11684c-b2f7-47c6-a059-9031b708ef9b" providerId="ADAL" clId="{1DFA72CE-DF62-41DC-8B30-16B405C245CA}" dt="2026-04-14T14:42:19.988" v="66" actId="1037"/>
          <ac:spMkLst>
            <pc:docMk/>
            <pc:sldMk cId="3371457412" sldId="270"/>
            <ac:spMk id="4" creationId="{1B6C8162-97CE-2A2F-BABF-2D289BD967E8}"/>
          </ac:spMkLst>
        </pc:spChg>
      </pc:sldChg>
      <pc:sldChg chg="modSp mod">
        <pc:chgData name="henry.kabuye" userId="eb11684c-b2f7-47c6-a059-9031b708ef9b" providerId="ADAL" clId="{1DFA72CE-DF62-41DC-8B30-16B405C245CA}" dt="2026-04-13T17:50:37.256" v="53" actId="20577"/>
        <pc:sldMkLst>
          <pc:docMk/>
          <pc:sldMk cId="2027162615" sldId="272"/>
        </pc:sldMkLst>
        <pc:spChg chg="mod">
          <ac:chgData name="henry.kabuye" userId="eb11684c-b2f7-47c6-a059-9031b708ef9b" providerId="ADAL" clId="{1DFA72CE-DF62-41DC-8B30-16B405C245CA}" dt="2026-04-13T17:50:37.256" v="53" actId="20577"/>
          <ac:spMkLst>
            <pc:docMk/>
            <pc:sldMk cId="2027162615" sldId="272"/>
            <ac:spMk id="3" creationId="{A9C0AFC8-53F3-7FF2-0BEC-13B26EAC188B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608-4F21-9A9A-0EF63AE9DC14}"/>
              </c:ext>
            </c:extLst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608-4F21-9A9A-0EF63AE9DC14}"/>
              </c:ext>
            </c:extLst>
          </c:dPt>
          <c:cat>
            <c:strRef>
              <c:f>Sheet1!$A$2:$A$3</c:f>
              <c:strCache>
                <c:ptCount val="2"/>
                <c:pt idx="0">
                  <c:v>Semantic CNN (RDset)</c:v>
                </c:pt>
                <c:pt idx="1">
                  <c:v>Behavioural CNN (RanSMAP)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0.98719999999999997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608-4F21-9A9A-0EF63AE9DC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94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33A-43E0-8779-7AD1B664D010}"/>
              </c:ext>
            </c:extLst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33A-43E0-8779-7AD1B664D010}"/>
              </c:ext>
            </c:extLst>
          </c:dPt>
          <c:cat>
            <c:strRef>
              <c:f>Sheet1!$A$2:$A$3</c:f>
              <c:strCache>
                <c:ptCount val="2"/>
                <c:pt idx="0">
                  <c:v>Semantic CNN (RDset)</c:v>
                </c:pt>
                <c:pt idx="1">
                  <c:v>Behavioural CNN (RanSMAP)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</c:v>
                </c:pt>
                <c:pt idx="1">
                  <c:v>0.60299999999999998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33A-43E0-8779-7AD1B664D0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4126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19456"/>
          </a:xfrm>
          <a:prstGeom prst="rect">
            <a:avLst/>
          </a:prstGeom>
          <a:solidFill>
            <a:srgbClr val="123B5D"/>
          </a:solidFill>
          <a:ln w="12700">
            <a:solidFill>
              <a:srgbClr val="123B5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123B5D"/>
          </a:solidFill>
          <a:ln w="12700">
            <a:solidFill>
              <a:srgbClr val="123B5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10881360" y="6574536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SABRE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9C0AFC8-53F3-7FF2-0BEC-13B26EAC188B}"/>
              </a:ext>
            </a:extLst>
          </p:cNvPr>
          <p:cNvSpPr txBox="1"/>
          <p:nvPr/>
        </p:nvSpPr>
        <p:spPr>
          <a:xfrm>
            <a:off x="817924" y="851294"/>
            <a:ext cx="10729519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4500" dirty="0">
                <a:solidFill>
                  <a:srgbClr val="1E293B"/>
                </a:solidFill>
              </a:rPr>
              <a:t>SABRE: An uncertainty-aware semantic–</a:t>
            </a:r>
            <a:r>
              <a:rPr lang="en-US" sz="4500" dirty="0" err="1">
                <a:solidFill>
                  <a:srgbClr val="1E293B"/>
                </a:solidFill>
              </a:rPr>
              <a:t>behavioural–knowledge</a:t>
            </a:r>
            <a:r>
              <a:rPr lang="en-US" sz="4500" dirty="0">
                <a:solidFill>
                  <a:srgbClr val="1E293B"/>
                </a:solidFill>
              </a:rPr>
              <a:t> triage framework for adaptive ransomware detection</a:t>
            </a:r>
            <a:endParaRPr lang="en-US" sz="4500" dirty="0"/>
          </a:p>
        </p:txBody>
      </p:sp>
      <p:sp>
        <p:nvSpPr>
          <p:cNvPr id="9" name="Shape 7"/>
          <p:cNvSpPr/>
          <p:nvPr/>
        </p:nvSpPr>
        <p:spPr>
          <a:xfrm>
            <a:off x="3178742" y="3745046"/>
            <a:ext cx="6007881" cy="1537888"/>
          </a:xfrm>
          <a:prstGeom prst="roundRect">
            <a:avLst>
              <a:gd name="adj" fmla="val 2666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10" name="Text 8"/>
          <p:cNvSpPr/>
          <p:nvPr/>
        </p:nvSpPr>
        <p:spPr>
          <a:xfrm>
            <a:off x="3677558" y="3760992"/>
            <a:ext cx="5010247" cy="13572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FFFFFF"/>
                </a:solidFill>
              </a:rPr>
              <a:t>Presented by Henry Kabuye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b="1" dirty="0">
                <a:solidFill>
                  <a:srgbClr val="FFFFFF"/>
                </a:solidFill>
              </a:rPr>
              <a:t>Principal Supervisor: Dr Biju Issac</a:t>
            </a:r>
          </a:p>
          <a:p>
            <a:pPr marL="0" indent="0" algn="ctr">
              <a:lnSpc>
                <a:spcPct val="150000"/>
              </a:lnSpc>
              <a:buNone/>
            </a:pPr>
            <a:r>
              <a:rPr lang="en-US" b="1" dirty="0">
                <a:solidFill>
                  <a:srgbClr val="FFFFFF"/>
                </a:solidFill>
              </a:rPr>
              <a:t>Secondary Supervisor: Dr Neera Jeyamohan </a:t>
            </a:r>
            <a:endParaRPr lang="en-US" dirty="0"/>
          </a:p>
        </p:txBody>
      </p:sp>
      <p:pic>
        <p:nvPicPr>
          <p:cNvPr id="1026" name="x_Picture 2" descr="Northumbria University Logo">
            <a:extLst>
              <a:ext uri="{FF2B5EF4-FFF2-40B4-BE49-F238E27FC236}">
                <a16:creationId xmlns:a16="http://schemas.microsoft.com/office/drawing/2014/main" id="{90F83A98-0EA4-0184-6DC1-451D872D9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51199" y="5635464"/>
            <a:ext cx="1818156" cy="631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x_Picture 1">
            <a:extLst>
              <a:ext uri="{FF2B5EF4-FFF2-40B4-BE49-F238E27FC236}">
                <a16:creationId xmlns:a16="http://schemas.microsoft.com/office/drawing/2014/main" id="{83B2C869-F53C-B049-CCE5-A6F6022EB2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8906" y="5592754"/>
            <a:ext cx="4289425" cy="712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B5859F3-58D2-7946-4DAD-B184DC2DB350}"/>
              </a:ext>
            </a:extLst>
          </p:cNvPr>
          <p:cNvCxnSpPr>
            <a:cxnSpLocks/>
          </p:cNvCxnSpPr>
          <p:nvPr/>
        </p:nvCxnSpPr>
        <p:spPr>
          <a:xfrm>
            <a:off x="205530" y="3376569"/>
            <a:ext cx="11836866" cy="159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71626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"/>
            <a:ext cx="12191695" cy="6364224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305" y="246888"/>
            <a:ext cx="12191695" cy="6364224"/>
          </a:xfrm>
          <a:prstGeom prst="rect">
            <a:avLst/>
          </a:prstGeom>
          <a:solidFill>
            <a:srgbClr val="EDF4FB"/>
          </a:solidFill>
          <a:ln w="12700">
            <a:solidFill>
              <a:srgbClr val="EDF4F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8046720" y="914400"/>
            <a:ext cx="3200400" cy="4206240"/>
          </a:xfrm>
          <a:prstGeom prst="roundRect">
            <a:avLst>
              <a:gd name="adj" fmla="val 2571"/>
            </a:avLst>
          </a:prstGeom>
          <a:solidFill>
            <a:srgbClr val="E6F4F1"/>
          </a:solidFill>
          <a:ln w="12700">
            <a:solidFill>
              <a:srgbClr val="D0E9E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58368" y="96012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B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SABRE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85799" y="1600200"/>
            <a:ext cx="6582747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E293B"/>
                </a:solidFill>
              </a:rPr>
              <a:t>An uncertainty-aware multi-agent semantic–behavioural–knowledge triage framework for adaptive ransomware detection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49808" y="3291840"/>
            <a:ext cx="557784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Combines semantic, behavioural, and knowledge detectors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Uses Monte Carlo Dropout uncertainty in the decision process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Supports AUTO-CONTAIN, ESCALATE, and ALLOW triage actions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8549640" y="1131238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EEF5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8641080" y="1314492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23B5D"/>
                </a:solidFill>
              </a:rPr>
              <a:t>Semantic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23B5D"/>
                </a:solidFill>
              </a:rPr>
              <a:t>Detector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549640" y="2162839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EEF9F1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641080" y="237408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23B5D"/>
                </a:solidFill>
              </a:rPr>
              <a:t>Behavioural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23B5D"/>
                </a:solidFill>
              </a:rPr>
              <a:t>Detector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549640" y="411480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FFF7ED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8641080" y="4279392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23B5D"/>
                </a:solidFill>
              </a:rPr>
              <a:t>Decision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23B5D"/>
                </a:solidFill>
              </a:rPr>
              <a:t>Layer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47888" y="5285232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766E"/>
                </a:solidFill>
              </a:rPr>
              <a:t>Risk + uncertainty → action</a:t>
            </a:r>
            <a:endParaRPr lang="en-US" sz="1600" dirty="0"/>
          </a:p>
        </p:txBody>
      </p:sp>
      <p:sp>
        <p:nvSpPr>
          <p:cNvPr id="7" name="Shape 12"/>
          <p:cNvSpPr/>
          <p:nvPr/>
        </p:nvSpPr>
        <p:spPr>
          <a:xfrm>
            <a:off x="8549640" y="3108955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EEF9F1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Text 13"/>
          <p:cNvSpPr/>
          <p:nvPr/>
        </p:nvSpPr>
        <p:spPr>
          <a:xfrm>
            <a:off x="8641080" y="3264408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23B5D"/>
                </a:solidFill>
              </a:rPr>
              <a:t>Knowledge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23B5D"/>
                </a:solidFill>
              </a:rPr>
              <a:t>Detector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B5D"/>
                </a:solidFill>
                <a:latin typeface="Aptos Display" pitchFamily="34" charset="0"/>
              </a:rPr>
              <a:t>Agenda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143000"/>
            <a:ext cx="10607040" cy="658368"/>
          </a:xfrm>
          <a:prstGeom prst="roundRect">
            <a:avLst>
              <a:gd name="adj" fmla="val 11111"/>
            </a:avLst>
          </a:prstGeom>
          <a:solidFill>
            <a:srgbClr val="F9FBFE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932688" y="1289304"/>
            <a:ext cx="438912" cy="347472"/>
          </a:xfrm>
          <a:prstGeom prst="roundRect">
            <a:avLst>
              <a:gd name="adj" fmla="val 15789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932688" y="1335024"/>
            <a:ext cx="438912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72768" y="125272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3B5D"/>
                </a:solidFill>
              </a:rPr>
              <a:t>Problem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886200" y="1261872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Why ransomware detection needs uncertainty-aware decision support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1929384"/>
            <a:ext cx="106070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932688" y="2075688"/>
            <a:ext cx="438912" cy="347472"/>
          </a:xfrm>
          <a:prstGeom prst="roundRect">
            <a:avLst>
              <a:gd name="adj" fmla="val 15789"/>
            </a:avLst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932688" y="2121408"/>
            <a:ext cx="438912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72768" y="203911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3B5D"/>
                </a:solidFill>
              </a:rPr>
              <a:t>Framework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886200" y="2048256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How SABRE combines three detectors with a score-level triage layer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2715768"/>
            <a:ext cx="10607040" cy="658368"/>
          </a:xfrm>
          <a:prstGeom prst="roundRect">
            <a:avLst>
              <a:gd name="adj" fmla="val 11111"/>
            </a:avLst>
          </a:prstGeom>
          <a:solidFill>
            <a:srgbClr val="F9FBFE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932688" y="2862072"/>
            <a:ext cx="438912" cy="347472"/>
          </a:xfrm>
          <a:prstGeom prst="roundRect">
            <a:avLst>
              <a:gd name="adj" fmla="val 1578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932688" y="2907792"/>
            <a:ext cx="438912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572768" y="2825496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3B5D"/>
                </a:solidFill>
              </a:rPr>
              <a:t>Data &amp; evaluation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886200" y="2834640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RDset, RanSMAP, and RansKnow as independent semantic, behavioural, and knowledge settings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3502152"/>
            <a:ext cx="106070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932688" y="3648456"/>
            <a:ext cx="438912" cy="347472"/>
          </a:xfrm>
          <a:prstGeom prst="roundRect">
            <a:avLst>
              <a:gd name="adj" fmla="val 15789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932688" y="3694176"/>
            <a:ext cx="438912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72768" y="3611880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3B5D"/>
                </a:solidFill>
              </a:rPr>
              <a:t>Results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3886200" y="3621024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Detection, calibration, and policy behaviour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1520" y="4288536"/>
            <a:ext cx="10607040" cy="658368"/>
          </a:xfrm>
          <a:prstGeom prst="roundRect">
            <a:avLst>
              <a:gd name="adj" fmla="val 11111"/>
            </a:avLst>
          </a:prstGeom>
          <a:solidFill>
            <a:srgbClr val="F9FBFE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932688" y="4434840"/>
            <a:ext cx="438912" cy="347472"/>
          </a:xfrm>
          <a:prstGeom prst="roundRect">
            <a:avLst>
              <a:gd name="adj" fmla="val 15789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932688" y="4480560"/>
            <a:ext cx="438912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572768" y="4398264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3B5D"/>
                </a:solidFill>
              </a:rPr>
              <a:t>Explainability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3886200" y="4407408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Feature importance and semantic counterfactuals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" y="5074920"/>
            <a:ext cx="1060704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932688" y="5221224"/>
            <a:ext cx="438912" cy="347472"/>
          </a:xfrm>
          <a:prstGeom prst="roundRect">
            <a:avLst>
              <a:gd name="adj" fmla="val 15789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Text 28"/>
          <p:cNvSpPr/>
          <p:nvPr/>
        </p:nvSpPr>
        <p:spPr>
          <a:xfrm>
            <a:off x="932688" y="5266944"/>
            <a:ext cx="438912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572768" y="5184648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3B5D"/>
                </a:solidFill>
              </a:rPr>
              <a:t>Takeaways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3886200" y="5193792"/>
            <a:ext cx="6858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Operational contribution, limitations, and next steps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B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this problem matters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12064" y="786384"/>
            <a:ext cx="10607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Operational ransomware defence is not just classification; it is a decision problem.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1188720"/>
            <a:ext cx="3657600" cy="44805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841248" y="1371600"/>
            <a:ext cx="1417320" cy="274320"/>
          </a:xfrm>
          <a:prstGeom prst="roundRect">
            <a:avLst>
              <a:gd name="adj" fmla="val 2666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841248" y="139903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Challenge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77824" y="1783080"/>
            <a:ext cx="3246120" cy="2377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Ransomware evolves through polymorphism, obfuscation, and behavioural drift.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Static or behavioural evidence can be uneven in quality across samples.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Point predictions alone do not tell us when autonomous action is safe.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26280" y="1188720"/>
            <a:ext cx="3200400" cy="4480560"/>
          </a:xfrm>
          <a:prstGeom prst="roundRect">
            <a:avLst>
              <a:gd name="adj" fmla="val 2286"/>
            </a:avLst>
          </a:prstGeom>
          <a:solidFill>
            <a:srgbClr val="EEF5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4709160" y="1371600"/>
            <a:ext cx="1417320" cy="274320"/>
          </a:xfrm>
          <a:prstGeom prst="roundRect">
            <a:avLst>
              <a:gd name="adj" fmla="val 2666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625181" y="1335585"/>
            <a:ext cx="1607664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Risk of standard ML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18304" y="1783080"/>
            <a:ext cx="2743200" cy="22860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Aggressive thresholds risk false positives and unnecessary containment.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Conservative thresholds push too much work to analysts.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Out-of-distribution behaviour can make confidence misleading.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09560" y="1188720"/>
            <a:ext cx="3566160" cy="4480560"/>
          </a:xfrm>
          <a:prstGeom prst="roundRect">
            <a:avLst>
              <a:gd name="adj" fmla="val 2051"/>
            </a:avLst>
          </a:prstGeom>
          <a:solidFill>
            <a:srgbClr val="EEF9F1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8119872" y="1371600"/>
            <a:ext cx="1417320" cy="274320"/>
          </a:xfrm>
          <a:prstGeom prst="roundRect">
            <a:avLst>
              <a:gd name="adj" fmla="val 26667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8119872" y="1399032"/>
            <a:ext cx="1417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SABRE idea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83880" y="182880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23B5D"/>
                </a:solidFill>
              </a:rPr>
              <a:t>Use uncertainty as an operational control variable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8156448" y="2743200"/>
            <a:ext cx="2926080" cy="1828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High risk + low uncertainty → AUTO-CONTAIN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High risk or high uncertainty → ESCALATE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Otherwise → ALLOW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B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SABRE framework</a:t>
            </a:r>
            <a:endParaRPr lang="en-US" sz="2800" dirty="0"/>
          </a:p>
        </p:txBody>
      </p:sp>
      <p:sp>
        <p:nvSpPr>
          <p:cNvPr id="35" name="Text 33"/>
          <p:cNvSpPr/>
          <p:nvPr/>
        </p:nvSpPr>
        <p:spPr>
          <a:xfrm>
            <a:off x="713232" y="5897880"/>
            <a:ext cx="10515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</a:rPr>
              <a:t>CTGAN augments the score space used by the decision layer; SMOTE addresses feature-level class imbalance.</a:t>
            </a:r>
            <a:endParaRPr lang="en-US" sz="1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691ABF6-606B-5E9D-AA8D-362836A70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343" y="1026367"/>
            <a:ext cx="11656196" cy="475989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B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Datasets and evaluation setup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143000"/>
            <a:ext cx="3749040" cy="438912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3749040" cy="457200"/>
          </a:xfrm>
          <a:prstGeom prst="roundRect">
            <a:avLst>
              <a:gd name="adj" fmla="val 2666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 dirty="0"/>
          </a:p>
        </p:txBody>
      </p:sp>
      <p:sp>
        <p:nvSpPr>
          <p:cNvPr id="5" name="Text 3"/>
          <p:cNvSpPr/>
          <p:nvPr/>
        </p:nvSpPr>
        <p:spPr>
          <a:xfrm>
            <a:off x="822959" y="1252728"/>
            <a:ext cx="3487783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Semantic setting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17830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3B5D"/>
                </a:solidFill>
              </a:rPr>
              <a:t>RDset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3200400" cy="1920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138,047 PE samples with 57 structured static attributes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Attributes encoded into text-like strings and embedded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Used to train the semantic detector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526280" y="1143000"/>
            <a:ext cx="3749040" cy="438912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4493622" y="1188720"/>
            <a:ext cx="3781698" cy="521208"/>
          </a:xfrm>
          <a:prstGeom prst="roundRect">
            <a:avLst>
              <a:gd name="adj" fmla="val 26667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709160" y="1252728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Behavioural setting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754880" y="178308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3B5D"/>
                </a:solidFill>
              </a:rPr>
              <a:t>RanSMAP / RanSAP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54880" y="2148840"/>
            <a:ext cx="3200400" cy="1920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Hypervisor-level storage and memory activity windows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Sliding-window statistics: variance, entropy, access counts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Used to train the behavioural detector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412480" y="1143000"/>
            <a:ext cx="3108960" cy="4389120"/>
          </a:xfrm>
          <a:prstGeom prst="roundRect">
            <a:avLst>
              <a:gd name="adj" fmla="val 2353"/>
            </a:avLst>
          </a:prstGeom>
          <a:solidFill>
            <a:srgbClr val="FFF7ED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8412480" y="1143000"/>
            <a:ext cx="3108960" cy="566928"/>
          </a:xfrm>
          <a:prstGeom prst="roundRect">
            <a:avLst>
              <a:gd name="adj" fmla="val 26667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641080" y="1234440"/>
            <a:ext cx="2651760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Knowledge setting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567928" y="1828799"/>
            <a:ext cx="2651760" cy="2547257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MITRE ATT&amp;CK + threat intel features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23-dimensional feature vector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Trained on labelled ransomware TTPs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35578" y="4892040"/>
            <a:ext cx="1796142" cy="804672"/>
          </a:xfrm>
          <a:prstGeom prst="roundRect">
            <a:avLst>
              <a:gd name="adj" fmla="val 9091"/>
            </a:avLst>
          </a:prstGeom>
          <a:solidFill>
            <a:srgbClr val="EEF5FF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Text 16"/>
          <p:cNvSpPr/>
          <p:nvPr/>
        </p:nvSpPr>
        <p:spPr>
          <a:xfrm>
            <a:off x="550512" y="4926559"/>
            <a:ext cx="182040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Adaptive T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1143000" y="540410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MC Dropout (converges, max T=50)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560320" y="4892040"/>
            <a:ext cx="1280160" cy="804672"/>
          </a:xfrm>
          <a:prstGeom prst="roundRect">
            <a:avLst>
              <a:gd name="adj" fmla="val 9091"/>
            </a:avLst>
          </a:prstGeom>
          <a:solidFill>
            <a:srgbClr val="EEF9F1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2651760" y="502920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SMOTE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2651760" y="540410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Feature-level balance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069080" y="4892040"/>
            <a:ext cx="1280160" cy="804672"/>
          </a:xfrm>
          <a:prstGeom prst="roundRect">
            <a:avLst>
              <a:gd name="adj" fmla="val 9091"/>
            </a:avLst>
          </a:prstGeom>
          <a:solidFill>
            <a:srgbClr val="FFF7ED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4160520" y="5029200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CTGAN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160520" y="540410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Score-space augmentation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577840" y="4892040"/>
            <a:ext cx="1280160" cy="804672"/>
          </a:xfrm>
          <a:prstGeom prst="roundRect">
            <a:avLst>
              <a:gd name="adj" fmla="val 9091"/>
            </a:avLst>
          </a:prstGeom>
          <a:solidFill>
            <a:srgbClr val="F5F3FF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7" name="Text 25"/>
          <p:cNvSpPr/>
          <p:nvPr/>
        </p:nvSpPr>
        <p:spPr>
          <a:xfrm>
            <a:off x="5669280" y="50292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MLP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5669280" y="5404104"/>
            <a:ext cx="1097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Decision layer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B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Uncertainty-aware triage policy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22377" y="1234440"/>
            <a:ext cx="5029200" cy="5138368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835152" y="1362455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3B5D"/>
                </a:solidFill>
              </a:rPr>
              <a:t>Core rules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399" y="2560320"/>
            <a:ext cx="4526281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900" b="1" dirty="0">
              <a:solidFill>
                <a:srgbClr val="D97706"/>
              </a:solidFill>
            </a:endParaRPr>
          </a:p>
          <a:p>
            <a:pPr marL="0" indent="0">
              <a:buNone/>
            </a:pPr>
            <a:r>
              <a:rPr lang="en-US" sz="1900" b="1" dirty="0">
                <a:solidFill>
                  <a:srgbClr val="D97706"/>
                </a:solidFill>
              </a:rPr>
              <a:t>ESCALATE</a:t>
            </a:r>
            <a:r>
              <a:rPr lang="en-US" sz="1900" dirty="0">
                <a:solidFill>
                  <a:srgbClr val="1E293B"/>
                </a:solidFill>
              </a:rPr>
              <a:t> if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3392424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A34A"/>
                </a:solidFill>
              </a:rPr>
              <a:t>ALLOW</a:t>
            </a:r>
            <a:r>
              <a:rPr lang="en-US" sz="1900" dirty="0">
                <a:solidFill>
                  <a:srgbClr val="1E293B"/>
                </a:solidFill>
              </a:rPr>
              <a:t> otherwise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14400" y="3840480"/>
            <a:ext cx="4617718" cy="228040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Axis-aligned thresholds preserve interpretability and auditability.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Max uncertainty ensures either detector can veto autonomous action.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Main deployment goal: conservative routing of ambiguous cases.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</a:rPr>
              <a:t>Thresholds are automatically calibrated via Bayesian optimisation (Optuna TPE, 300 trials, GPU-batched inference).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90816" y="1188720"/>
            <a:ext cx="5440680" cy="4526280"/>
          </a:xfrm>
          <a:prstGeom prst="roundRect">
            <a:avLst>
              <a:gd name="adj" fmla="val 1616"/>
            </a:avLst>
          </a:prstGeom>
          <a:solidFill>
            <a:srgbClr val="EEF5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 dirty="0"/>
          </a:p>
        </p:txBody>
      </p:sp>
      <p:sp>
        <p:nvSpPr>
          <p:cNvPr id="10" name="Shape 8"/>
          <p:cNvSpPr/>
          <p:nvPr/>
        </p:nvSpPr>
        <p:spPr>
          <a:xfrm>
            <a:off x="6583680" y="1828800"/>
            <a:ext cx="0" cy="2926080"/>
          </a:xfrm>
          <a:prstGeom prst="line">
            <a:avLst/>
          </a:prstGeom>
          <a:noFill/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583680" y="4160520"/>
            <a:ext cx="4023360" cy="0"/>
          </a:xfrm>
          <a:prstGeom prst="line">
            <a:avLst/>
          </a:prstGeom>
          <a:noFill/>
          <a:ln w="12700">
            <a:solidFill>
              <a:srgbClr val="7A8FA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8778240" y="1828800"/>
            <a:ext cx="0" cy="2926080"/>
          </a:xfrm>
          <a:prstGeom prst="line">
            <a:avLst/>
          </a:prstGeom>
          <a:noFill/>
          <a:ln w="12700">
            <a:solidFill>
              <a:srgbClr val="AEBF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583680" y="2880360"/>
            <a:ext cx="4023360" cy="0"/>
          </a:xfrm>
          <a:prstGeom prst="line">
            <a:avLst/>
          </a:prstGeom>
          <a:noFill/>
          <a:ln w="12700">
            <a:solidFill>
              <a:srgbClr val="AEBFD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 rot="16200000">
            <a:off x="5422392" y="2798064"/>
            <a:ext cx="158191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3B5D"/>
                </a:solidFill>
              </a:rPr>
              <a:t>Uncertainty    k</a:t>
            </a:r>
            <a:endParaRPr lang="en-US" sz="13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D5A272EF-F84D-7237-B084-15C9BC352D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1078" y="2037997"/>
            <a:ext cx="2773980" cy="323969"/>
          </a:xfrm>
          <a:prstGeom prst="rect">
            <a:avLst/>
          </a:prstGeom>
        </p:spPr>
      </p:pic>
      <p:sp>
        <p:nvSpPr>
          <p:cNvPr id="15" name="Text 13"/>
          <p:cNvSpPr/>
          <p:nvPr/>
        </p:nvSpPr>
        <p:spPr>
          <a:xfrm>
            <a:off x="8229600" y="4663439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3B5D"/>
                </a:solidFill>
              </a:rPr>
              <a:t>Risk   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0" y="1828800"/>
            <a:ext cx="2176270" cy="1051560"/>
          </a:xfrm>
          <a:prstGeom prst="rect">
            <a:avLst/>
          </a:prstGeom>
          <a:solidFill>
            <a:srgbClr val="EAF7EC"/>
          </a:solidFill>
          <a:ln w="12700">
            <a:solidFill>
              <a:srgbClr val="C8E6C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8778239" y="1828800"/>
            <a:ext cx="2194560" cy="1051560"/>
          </a:xfrm>
          <a:prstGeom prst="rect">
            <a:avLst/>
          </a:prstGeom>
          <a:solidFill>
            <a:srgbClr val="FFF1F2"/>
          </a:solidFill>
          <a:ln w="12700">
            <a:solidFill>
              <a:srgbClr val="F7CDD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6583679" y="2898088"/>
            <a:ext cx="2194553" cy="1262432"/>
          </a:xfrm>
          <a:prstGeom prst="rect">
            <a:avLst/>
          </a:prstGeom>
          <a:solidFill>
            <a:srgbClr val="F8FAFC"/>
          </a:solidFill>
          <a:ln w="12700">
            <a:solidFill>
              <a:srgbClr val="D7E2EE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8778240" y="2880360"/>
            <a:ext cx="2194558" cy="1280160"/>
          </a:xfrm>
          <a:prstGeom prst="rect">
            <a:avLst/>
          </a:prstGeom>
          <a:solidFill>
            <a:srgbClr val="FFF7ED"/>
          </a:solidFill>
          <a:ln w="12700">
            <a:solidFill>
              <a:srgbClr val="F3D9B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6949440" y="221284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A34A"/>
                </a:solidFill>
              </a:rPr>
              <a:t>ALLOW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9125711" y="2084832"/>
            <a:ext cx="176310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C2626"/>
                </a:solidFill>
              </a:rPr>
              <a:t>AUTO-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DC2626"/>
                </a:solidFill>
              </a:rPr>
              <a:t>CONTAIN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32320" y="33375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8795A5"/>
                </a:solidFill>
              </a:rPr>
              <a:t>ALLOW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034272" y="34290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97706"/>
                </a:solidFill>
              </a:rPr>
              <a:t>ESCALATE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66764" y="1829360"/>
            <a:ext cx="4754881" cy="75895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DC2626"/>
                </a:solidFill>
              </a:rPr>
              <a:t>AUTO-CONTAIN</a:t>
            </a:r>
            <a:r>
              <a:rPr lang="en-US" sz="1900" b="1" dirty="0">
                <a:solidFill>
                  <a:srgbClr val="1E293B"/>
                </a:solidFill>
              </a:rPr>
              <a:t> If                         and</a:t>
            </a:r>
            <a:endParaRPr lang="en-US" sz="1900" dirty="0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D29AA467-7D4B-4907-F273-0A96D55364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2005" y="2916275"/>
            <a:ext cx="2211635" cy="29532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B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Per-agent performance (balanced eval)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143000"/>
            <a:ext cx="548640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355080" y="1143000"/>
            <a:ext cx="516636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868680" y="1417320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3B5D"/>
                </a:solidFill>
              </a:rPr>
              <a:t>Accuracy</a:t>
            </a:r>
            <a:endParaRPr lang="en-US" sz="20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868680" y="1783080"/>
          <a:ext cx="484632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 4"/>
          <p:cNvSpPr/>
          <p:nvPr/>
        </p:nvSpPr>
        <p:spPr>
          <a:xfrm>
            <a:off x="868680" y="406908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3B5D"/>
                </a:solidFill>
              </a:rPr>
              <a:t>AUC</a:t>
            </a:r>
            <a:endParaRPr lang="en-US" sz="2000" dirty="0"/>
          </a:p>
        </p:txBody>
      </p:sp>
      <p:graphicFrame>
        <p:nvGraphicFramePr>
          <p:cNvPr id="8" name="Chart 1"/>
          <p:cNvGraphicFramePr/>
          <p:nvPr/>
        </p:nvGraphicFramePr>
        <p:xfrm>
          <a:off x="868680" y="4434840"/>
          <a:ext cx="4846320" cy="1325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 6"/>
          <p:cNvSpPr/>
          <p:nvPr/>
        </p:nvSpPr>
        <p:spPr>
          <a:xfrm>
            <a:off x="6355080" y="1828800"/>
            <a:ext cx="516636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The semantic setting is almost perfectly separable on RDset.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The behavioural detector scores 0.6209 AUC on balanced RanSMAP (0.5680 acc); the knowledge agent achieves 0.9953 AUC on RansKnow.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This asymmetry motivates uncertainty-aware triage: the knowledge agent provides strong complementary signal when behavioural evidence is ambiguous.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6766560" y="4526280"/>
            <a:ext cx="1371600" cy="841248"/>
          </a:xfrm>
          <a:prstGeom prst="roundRect">
            <a:avLst>
              <a:gd name="adj" fmla="val 8696"/>
            </a:avLst>
          </a:prstGeom>
          <a:solidFill>
            <a:srgbClr val="EEF5FF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Text 8"/>
          <p:cNvSpPr/>
          <p:nvPr/>
        </p:nvSpPr>
        <p:spPr>
          <a:xfrm>
            <a:off x="6858000" y="466344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1.0000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858000" y="5038344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RDset accuracy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8366760" y="4526280"/>
            <a:ext cx="1371600" cy="841248"/>
          </a:xfrm>
          <a:prstGeom prst="roundRect">
            <a:avLst>
              <a:gd name="adj" fmla="val 8696"/>
            </a:avLst>
          </a:prstGeom>
          <a:solidFill>
            <a:srgbClr val="EEF5FF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Text 11"/>
          <p:cNvSpPr/>
          <p:nvPr/>
        </p:nvSpPr>
        <p:spPr>
          <a:xfrm>
            <a:off x="8458200" y="466344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1.0000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8458200" y="5038344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RDset AUC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9966960" y="4526280"/>
            <a:ext cx="1371600" cy="841248"/>
          </a:xfrm>
          <a:prstGeom prst="roundRect">
            <a:avLst>
              <a:gd name="adj" fmla="val 8696"/>
            </a:avLst>
          </a:prstGeom>
          <a:solidFill>
            <a:srgbClr val="EEF9F1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8" name="Text 14"/>
          <p:cNvSpPr/>
          <p:nvPr/>
        </p:nvSpPr>
        <p:spPr>
          <a:xfrm>
            <a:off x="10058400" y="466344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0.5680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10058400" y="5038344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RanSMAP acc (balanced)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8366760" y="5486400"/>
            <a:ext cx="1371600" cy="566928"/>
          </a:xfrm>
          <a:prstGeom prst="roundRect">
            <a:avLst>
              <a:gd name="adj" fmla="val 12903"/>
            </a:avLst>
          </a:prstGeom>
          <a:solidFill>
            <a:srgbClr val="EEF9F1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1" name="Text 17"/>
          <p:cNvSpPr/>
          <p:nvPr/>
        </p:nvSpPr>
        <p:spPr>
          <a:xfrm>
            <a:off x="8458200" y="56235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0.6209</a:t>
            </a:r>
            <a:endParaRPr lang="en-US" sz="2400" dirty="0"/>
          </a:p>
        </p:txBody>
      </p:sp>
      <p:sp>
        <p:nvSpPr>
          <p:cNvPr id="22" name="Text 18"/>
          <p:cNvSpPr/>
          <p:nvPr/>
        </p:nvSpPr>
        <p:spPr>
          <a:xfrm>
            <a:off x="8458200" y="5998464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RanSMAP AUC</a:t>
            </a:r>
            <a:endParaRPr lang="en-US" sz="1100" dirty="0"/>
          </a:p>
        </p:txBody>
      </p:sp>
      <p:sp>
        <p:nvSpPr>
          <p:cNvPr id="9" name="Text 17"/>
          <p:cNvSpPr/>
          <p:nvPr/>
        </p:nvSpPr>
        <p:spPr>
          <a:xfrm>
            <a:off x="6858000" y="56235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0.9650</a:t>
            </a:r>
            <a:endParaRPr lang="en-US" sz="2400" dirty="0"/>
          </a:p>
        </p:txBody>
      </p:sp>
      <p:sp>
        <p:nvSpPr>
          <p:cNvPr id="23" name="Text 18"/>
          <p:cNvSpPr/>
          <p:nvPr/>
        </p:nvSpPr>
        <p:spPr>
          <a:xfrm>
            <a:off x="6858000" y="5998464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RansKnow accuracy</a:t>
            </a:r>
            <a:endParaRPr lang="en-US" sz="1100" dirty="0"/>
          </a:p>
        </p:txBody>
      </p:sp>
      <p:sp>
        <p:nvSpPr>
          <p:cNvPr id="24" name="Text 17"/>
          <p:cNvSpPr/>
          <p:nvPr/>
        </p:nvSpPr>
        <p:spPr>
          <a:xfrm>
            <a:off x="10058400" y="5623560"/>
            <a:ext cx="1188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0.9953</a:t>
            </a:r>
            <a:endParaRPr lang="en-US" sz="2400" dirty="0"/>
          </a:p>
        </p:txBody>
      </p:sp>
      <p:sp>
        <p:nvSpPr>
          <p:cNvPr id="25" name="Text 18"/>
          <p:cNvSpPr/>
          <p:nvPr/>
        </p:nvSpPr>
        <p:spPr>
          <a:xfrm>
            <a:off x="10058400" y="5998464"/>
            <a:ext cx="11887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RansKnow AUC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8CA6F6B-6E9E-48C8-94F1-DB8C158E12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825" y="276226"/>
            <a:ext cx="10420349" cy="52101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1655175-7A44-C5F9-3461-2F8B55F79742}"/>
              </a:ext>
            </a:extLst>
          </p:cNvPr>
          <p:cNvSpPr txBox="1"/>
          <p:nvPr/>
        </p:nvSpPr>
        <p:spPr>
          <a:xfrm>
            <a:off x="47625" y="5572719"/>
            <a:ext cx="1210627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1800" b="0" i="0" u="none" strike="noStrike" baseline="0" dirty="0">
                <a:latin typeface="SFSS0900"/>
              </a:rPr>
              <a:t>Permutation-based feature importance for the behavioural detector, measured as the drop in AUC after permuting each feature independently. Variance- and entropy-driven memory access statistics dominate, indicating that behavioural discrimination relies on irregularity patterns rather than raw activity volume.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3782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C4F3AF6-8624-312C-12C0-EE613112EE5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592"/>
          <a:stretch>
            <a:fillRect/>
          </a:stretch>
        </p:blipFill>
        <p:spPr>
          <a:xfrm>
            <a:off x="9737" y="314325"/>
            <a:ext cx="12182263" cy="206575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D300CA6-BEB0-ADEF-36C6-786FB81B4A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37" y="2402081"/>
            <a:ext cx="7140559" cy="28729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FB6CAD6-41B8-E56C-A337-492AA581E1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0038" y="2402082"/>
            <a:ext cx="5052224" cy="378916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2DE609F-CCB4-3145-4C24-A2F751437450}"/>
              </a:ext>
            </a:extLst>
          </p:cNvPr>
          <p:cNvSpPr txBox="1"/>
          <p:nvPr/>
        </p:nvSpPr>
        <p:spPr>
          <a:xfrm>
            <a:off x="132751" y="5264295"/>
            <a:ext cx="699728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GB" sz="1800" b="0" i="0" u="none" strike="noStrike" baseline="0" dirty="0">
                <a:latin typeface="SFSS0900"/>
              </a:rPr>
              <a:t>ROC curves for the evaluated settings. Left: </a:t>
            </a:r>
            <a:r>
              <a:rPr lang="en-GB" sz="1800" b="0" i="0" u="none" strike="noStrike" baseline="0" dirty="0" err="1">
                <a:latin typeface="SFSS0900"/>
              </a:rPr>
              <a:t>RanSMAP</a:t>
            </a:r>
            <a:r>
              <a:rPr lang="en-GB" sz="1800" b="0" i="0" u="none" strike="noStrike" baseline="0" dirty="0">
                <a:latin typeface="SFSS0900"/>
              </a:rPr>
              <a:t>, where behavioural signals are difficult to separate and decision-layer performance remains modest. Right: </a:t>
            </a:r>
            <a:r>
              <a:rPr lang="en-GB" sz="1800" b="0" i="0" u="none" strike="noStrike" baseline="0" dirty="0" err="1">
                <a:latin typeface="SFSS0900"/>
              </a:rPr>
              <a:t>RDset</a:t>
            </a:r>
            <a:r>
              <a:rPr lang="en-GB" sz="1800" b="0" i="0" u="none" strike="noStrike" baseline="0" dirty="0">
                <a:latin typeface="SFSS0900"/>
              </a:rPr>
              <a:t>, where the semantic detector already saturates and near-perfect discrimination is preserved.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41714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285CAC2-11FC-05DD-C625-742B6DB8F3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2571" y="279918"/>
            <a:ext cx="6966858" cy="5225143"/>
          </a:xfrm>
          <a:prstGeom prst="rect">
            <a:avLst/>
          </a:prstGeom>
        </p:spPr>
      </p:pic>
      <p:sp>
        <p:nvSpPr>
          <p:cNvPr id="4" name="Text 6">
            <a:extLst>
              <a:ext uri="{FF2B5EF4-FFF2-40B4-BE49-F238E27FC236}">
                <a16:creationId xmlns:a16="http://schemas.microsoft.com/office/drawing/2014/main" id="{DB601FC8-E1C4-F4FA-6AAE-52922DA0D1EC}"/>
              </a:ext>
            </a:extLst>
          </p:cNvPr>
          <p:cNvSpPr/>
          <p:nvPr/>
        </p:nvSpPr>
        <p:spPr>
          <a:xfrm>
            <a:off x="233266" y="5533053"/>
            <a:ext cx="11700587" cy="98344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r>
              <a:rPr lang="en-GB" dirty="0"/>
              <a:t>Triage policy geometry in the (</a:t>
            </a:r>
            <a:r>
              <a:rPr lang="en-GB" i="1" dirty="0"/>
              <a:t>𝑝̂, 𝜎</a:t>
            </a:r>
            <a:r>
              <a:rPr lang="en-GB" dirty="0"/>
              <a:t>max) space. Horizontal and vertical thresholds correspond to the analytical decision</a:t>
            </a:r>
          </a:p>
          <a:p>
            <a:r>
              <a:rPr lang="en-GB" dirty="0"/>
              <a:t>rules partitioning the space into ALLOW, ESCALATE, and AUTO-CONTAIN regions. Uncertainty</a:t>
            </a:r>
          </a:p>
          <a:p>
            <a:r>
              <a:rPr lang="en-GB" dirty="0"/>
              <a:t>acts as a stabilising control variable, limiting overconfident automatic containment.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8835922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34791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B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Explainability: what drives the detectors?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2456" y="701657"/>
            <a:ext cx="544068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409201" y="646793"/>
            <a:ext cx="5166360" cy="5074920"/>
          </a:xfrm>
          <a:prstGeom prst="roundRect">
            <a:avLst>
              <a:gd name="adj" fmla="val 1441"/>
            </a:avLst>
          </a:prstGeom>
          <a:solidFill>
            <a:srgbClr val="FFFF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33997" y="737112"/>
            <a:ext cx="4572000" cy="411480"/>
          </a:xfrm>
          <a:prstGeom prst="roundRect">
            <a:avLst>
              <a:gd name="adj" fmla="val 26667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1477971" y="763984"/>
            <a:ext cx="3712651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Behavioural detector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3997" y="1194312"/>
            <a:ext cx="4572000" cy="2560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Permutation importance highlights dispersion-related telemetry features.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Most influential examples: read/write LBA variance and memory GPA variance.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Counterfactuals show only small relative changes can push a high-risk sample below the target threshold.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Interpretation: the model relies on irregularity patterns rather than raw activity volume.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2577" y="3612900"/>
            <a:ext cx="4892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3B5D"/>
                </a:solidFill>
              </a:rPr>
              <a:t>Representative behavioural counterfactuals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603277" y="625146"/>
            <a:ext cx="4785360" cy="487431"/>
          </a:xfrm>
          <a:prstGeom prst="roundRect">
            <a:avLst>
              <a:gd name="adj" fmla="val 2666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8"/>
          <p:cNvSpPr/>
          <p:nvPr/>
        </p:nvSpPr>
        <p:spPr>
          <a:xfrm>
            <a:off x="6603277" y="6913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Semantic detector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603277" y="1194312"/>
            <a:ext cx="4434840" cy="2560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Gradient saliency highlights embedding directions tied to entropy and PE structural irregularities.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Permutation importance in latent space is consistent with gradient magnitude patterns.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Across 50 borderline-malicious samples, semantic counterfactuals flipped labels with small perturbations.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Mean counterfactual norm: 3.27; observed flip success: 100% in the evaluated sample set.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7216765" y="3810521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EF5FF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Text 11"/>
          <p:cNvSpPr/>
          <p:nvPr/>
        </p:nvSpPr>
        <p:spPr>
          <a:xfrm>
            <a:off x="7315670" y="3937862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3.27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7315670" y="4360981"/>
            <a:ext cx="1051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Mean $||Delta z||_2$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698932" y="3810521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EF5FF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7" name="Text 14"/>
          <p:cNvSpPr/>
          <p:nvPr/>
        </p:nvSpPr>
        <p:spPr>
          <a:xfrm>
            <a:off x="8732989" y="3967241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0.49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786640" y="4343417"/>
            <a:ext cx="1051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Target threshold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0169437" y="3810521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EF5FF"/>
          </a:solidFill>
          <a:ln w="12700">
            <a:solidFill>
              <a:srgbClr val="DDE7F2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Text 17"/>
          <p:cNvSpPr/>
          <p:nvPr/>
        </p:nvSpPr>
        <p:spPr>
          <a:xfrm>
            <a:off x="10233041" y="3937862"/>
            <a:ext cx="1051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100%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10260877" y="4323753"/>
            <a:ext cx="10515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Flip success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66897" y="4679055"/>
            <a:ext cx="5217990" cy="3434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</a:rPr>
              <a:t>Counterfactual norms describe local sensitivity, not formal adversarial robustness guarantees.</a:t>
            </a:r>
            <a:endParaRPr lang="en-US" sz="1300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323F9B78-D3D1-1D3B-23B7-0BC97A967C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558" y="4405952"/>
            <a:ext cx="5322306" cy="106717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B0308A-FEBC-37E5-4CF1-AC15E1AF94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922" y="489988"/>
            <a:ext cx="6507027" cy="5057053"/>
          </a:xfrm>
          <a:prstGeom prst="rect">
            <a:avLst/>
          </a:prstGeom>
        </p:spPr>
      </p:pic>
      <p:sp>
        <p:nvSpPr>
          <p:cNvPr id="4" name="Text 6">
            <a:extLst>
              <a:ext uri="{FF2B5EF4-FFF2-40B4-BE49-F238E27FC236}">
                <a16:creationId xmlns:a16="http://schemas.microsoft.com/office/drawing/2014/main" id="{1B6C8162-97CE-2A2F-BABF-2D289BD967E8}"/>
              </a:ext>
            </a:extLst>
          </p:cNvPr>
          <p:cNvSpPr/>
          <p:nvPr/>
        </p:nvSpPr>
        <p:spPr>
          <a:xfrm>
            <a:off x="108024" y="5507492"/>
            <a:ext cx="12078749" cy="939961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r>
              <a:rPr lang="en-GB" dirty="0"/>
              <a:t>Semantic counterfactual diagnostics for </a:t>
            </a:r>
            <a:r>
              <a:rPr lang="en-GB" i="1" dirty="0"/>
              <a:t>𝑁 </a:t>
            </a:r>
            <a:r>
              <a:rPr lang="en-GB" dirty="0"/>
              <a:t>= 50 borderline-malicious samples. (Top-left) Distribution of counterfactual</a:t>
            </a:r>
          </a:p>
          <a:p>
            <a:r>
              <a:rPr lang="en-GB" dirty="0"/>
              <a:t>distance ‖Δ</a:t>
            </a:r>
            <a:r>
              <a:rPr lang="en-GB" i="1" dirty="0"/>
              <a:t>𝑧</a:t>
            </a:r>
            <a:r>
              <a:rPr lang="en-GB" dirty="0"/>
              <a:t>‖2. (Top-right) Distribution of relative distance ‖Δ</a:t>
            </a:r>
            <a:r>
              <a:rPr lang="en-GB" i="1" dirty="0"/>
              <a:t>𝑧</a:t>
            </a:r>
            <a:r>
              <a:rPr lang="en-GB" dirty="0"/>
              <a:t>‖2∕‖</a:t>
            </a:r>
            <a:r>
              <a:rPr lang="en-GB" i="1" dirty="0"/>
              <a:t>𝑧</a:t>
            </a:r>
            <a:r>
              <a:rPr lang="en-GB" dirty="0"/>
              <a:t>‖2. (Bottom-left) Relationship between original semantic score </a:t>
            </a:r>
            <a:r>
              <a:rPr lang="en-GB" i="1" dirty="0"/>
              <a:t>𝑝_</a:t>
            </a:r>
            <a:r>
              <a:rPr lang="en-GB" dirty="0" err="1"/>
              <a:t>sem</a:t>
            </a:r>
            <a:r>
              <a:rPr lang="en-GB" dirty="0"/>
              <a:t> and ‖Δ</a:t>
            </a:r>
            <a:r>
              <a:rPr lang="en-GB" i="1" dirty="0"/>
              <a:t>𝑧</a:t>
            </a:r>
            <a:r>
              <a:rPr lang="en-GB" dirty="0"/>
              <a:t>‖2. (Bottom-right) Optimisation steps required to reach the target </a:t>
            </a:r>
            <a:r>
              <a:rPr lang="en-GB" i="1" dirty="0"/>
              <a:t>𝜃 </a:t>
            </a:r>
            <a:r>
              <a:rPr lang="en-GB" dirty="0"/>
              <a:t>= 0</a:t>
            </a:r>
            <a:r>
              <a:rPr lang="en-GB" i="1" dirty="0"/>
              <a:t>.</a:t>
            </a:r>
            <a:r>
              <a:rPr lang="en-GB" dirty="0"/>
              <a:t>49.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3714574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607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23B5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Main contribution, limitations, and future 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5577840" cy="5074920"/>
          </a:xfrm>
          <a:prstGeom prst="roundRect">
            <a:avLst>
              <a:gd name="adj" fmla="val 1441"/>
            </a:avLst>
          </a:prstGeom>
          <a:solidFill>
            <a:srgbClr val="EEF9F1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6400800" y="1143000"/>
            <a:ext cx="5074920" cy="5074920"/>
          </a:xfrm>
          <a:prstGeom prst="roundRect">
            <a:avLst>
              <a:gd name="adj" fmla="val 1441"/>
            </a:avLst>
          </a:prstGeom>
          <a:solidFill>
            <a:srgbClr val="FEF2F2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685799" y="845820"/>
            <a:ext cx="5577839" cy="297180"/>
          </a:xfrm>
          <a:prstGeom prst="roundRect">
            <a:avLst>
              <a:gd name="adj" fmla="val 26667"/>
            </a:avLst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685800" y="891540"/>
            <a:ext cx="5410200" cy="2514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Main contribution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798" y="1595255"/>
            <a:ext cx="5577839" cy="22318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3B5D"/>
                </a:solidFill>
              </a:rPr>
              <a:t>SABRE’s practical value is a transparent uncertainty-aware decision process that links predictive risk to analyst escalation and automated response.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05840" y="4202041"/>
            <a:ext cx="4754880" cy="1828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Works especially well when evidence quality differs across detectors.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Supports selective automation instead of all-or-nothing autonomous action.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Makes uncertainty operational rather than merely descriptive.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00800" y="795528"/>
            <a:ext cx="5074920" cy="347472"/>
          </a:xfrm>
          <a:prstGeom prst="roundRect">
            <a:avLst>
              <a:gd name="adj" fmla="val 2666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6400798" y="870966"/>
            <a:ext cx="4973216" cy="1965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Limitations &amp; next steps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0" y="1783080"/>
            <a:ext cx="4389120" cy="3200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RDset, RanSMAP, and RansKnow are independent datasets — no matched multimodal views across all three modalities.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Adaptive MC Dropout (convergence-based T, max T=50) mitigates fixed-T bias; static T=10 available for reproducibility.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Counterfactuals are continuous-space explanations, not executable attack transformations.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E293B"/>
                </a:solidFill>
              </a:rPr>
              <a:t>Future work: matched multimodal datasets, richer behavioural models, threshold stability across distribution shifts.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272521" y="5270303"/>
            <a:ext cx="2654559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3B5D"/>
                </a:solidFill>
              </a:rPr>
              <a:t>Bottom line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29400" y="5550408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93B"/>
                </a:solidFill>
              </a:rPr>
              <a:t>The triage layer is modular and can be recalibrated or upgraded without redesigning the whole system.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14300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3B5D"/>
                </a:solidFill>
              </a:rPr>
              <a:t>Thank you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41248" y="18288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563EB"/>
                </a:solidFill>
              </a:rPr>
              <a:t>Questions?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68680" y="274320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3B5D"/>
                </a:solidFill>
              </a:rPr>
              <a:t>Suggested discussion prompts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3154680"/>
            <a:ext cx="4754880" cy="1828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/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Why use uncertainty in the triage layer instead of only for calibration?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How would SABRE change with matched static + runtime datasets?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E293B"/>
                </a:solidFill>
              </a:rPr>
              <a:t>What would make the behavioural component stronger in future work?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583680" y="1097280"/>
            <a:ext cx="4297680" cy="4480560"/>
          </a:xfrm>
          <a:prstGeom prst="roundRect">
            <a:avLst>
              <a:gd name="adj" fmla="val 1702"/>
            </a:avLst>
          </a:prstGeom>
          <a:solidFill>
            <a:srgbClr val="EEF5FF"/>
          </a:solidFill>
          <a:ln w="12700">
            <a:solidFill>
              <a:srgbClr val="D7E2EE"/>
            </a:solidFill>
            <a:prstDash val="solid"/>
          </a:ln>
          <a:effectLst>
            <a:outerShdw blurRad="12700" dist="50800" dir="2700000" algn="bl" rotWithShape="0">
              <a:srgbClr val="AAB7C6">
                <a:alpha val="12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Text 6"/>
          <p:cNvSpPr/>
          <p:nvPr/>
        </p:nvSpPr>
        <p:spPr>
          <a:xfrm>
            <a:off x="6522723" y="1874519"/>
            <a:ext cx="4655350" cy="37798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</a:rPr>
              <a:t>SABRE combines semantic, behavioural, and knowledge evidence with uncertainty-aware triage.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</a:rPr>
              <a:t>Its strongest contribution is not uniform accuracy gains, but safer decision routing under uneven evidence quality.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1E293B"/>
                </a:solidFill>
              </a:rPr>
              <a:t>That makes it practically relevant for ransomware response settings where incorrect automation is costly.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1105</Words>
  <Application>Microsoft Office PowerPoint</Application>
  <PresentationFormat>Widescreen</PresentationFormat>
  <Paragraphs>172</Paragraphs>
  <Slides>15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SFSS0900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SABRE: Uncertainty-Aware Modular Semantic-Behavioural Triage Framework</dc:title>
  <dc:subject>SABRE presentation</dc:subject>
  <dc:creator>OpenAI</dc:creator>
  <cp:lastModifiedBy>henry.kabuye</cp:lastModifiedBy>
  <cp:revision>8</cp:revision>
  <dcterms:created xsi:type="dcterms:W3CDTF">2026-03-31T22:53:36Z</dcterms:created>
  <dcterms:modified xsi:type="dcterms:W3CDTF">2026-04-15T22:47:43Z</dcterms:modified>
</cp:coreProperties>
</file>