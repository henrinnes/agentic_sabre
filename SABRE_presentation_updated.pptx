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72" r:id="rId2"/>
    <p:sldId id="256" r:id="rId3"/>
    <p:sldId id="257" r:id="rId4"/>
    <p:sldId id="258" r:id="rId5"/>
    <p:sldId id="259" r:id="rId6"/>
    <p:sldId id="260" r:id="rId7"/>
    <p:sldId id="261" r:id="rId8"/>
    <p:sldId id="262" r:id="rId9"/>
    <p:sldId id="271" r:id="rId10"/>
    <p:sldId id="268" r:id="rId11"/>
    <p:sldId id="269" r:id="rId12"/>
    <p:sldId id="264" r:id="rId13"/>
    <p:sldId id="270" r:id="rId14"/>
    <p:sldId id="266" r:id="rId15"/>
    <p:sldId id="267" r:id="rId16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82" autoAdjust="0"/>
    <p:restoredTop sz="94610"/>
  </p:normalViewPr>
  <p:slideViewPr>
    <p:cSldViewPr snapToGrid="0" snapToObjects="1">
      <p:cViewPr varScale="1">
        <p:scale>
          <a:sx n="82" d="100"/>
          <a:sy n="82" d="100"/>
        </p:scale>
        <p:origin x="720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Relationship Id="rId22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henry.kabuye" userId="eb11684c-b2f7-47c6-a059-9031b708ef9b" providerId="ADAL" clId="{1DFA72CE-DF62-41DC-8B30-16B405C245CA}"/>
    <pc:docChg chg="custSel modSld">
      <pc:chgData name="henry.kabuye" userId="eb11684c-b2f7-47c6-a059-9031b708ef9b" providerId="ADAL" clId="{1DFA72CE-DF62-41DC-8B30-16B405C245CA}" dt="2026-04-14T14:42:19.988" v="66" actId="1037"/>
      <pc:docMkLst>
        <pc:docMk/>
      </pc:docMkLst>
      <pc:sldChg chg="modSp mod">
        <pc:chgData name="henry.kabuye" userId="eb11684c-b2f7-47c6-a059-9031b708ef9b" providerId="ADAL" clId="{1DFA72CE-DF62-41DC-8B30-16B405C245CA}" dt="2026-04-14T13:57:58.949" v="55" actId="1076"/>
        <pc:sldMkLst>
          <pc:docMk/>
          <pc:sldMk cId="0" sldId="256"/>
        </pc:sldMkLst>
        <pc:spChg chg="mod">
          <ac:chgData name="henry.kabuye" userId="eb11684c-b2f7-47c6-a059-9031b708ef9b" providerId="ADAL" clId="{1DFA72CE-DF62-41DC-8B30-16B405C245CA}" dt="2026-04-14T13:57:58.949" v="55" actId="1076"/>
          <ac:spMkLst>
            <pc:docMk/>
            <pc:sldMk cId="0" sldId="256"/>
            <ac:spMk id="3" creationId="{00000000-0000-0000-0000-000000000000}"/>
          </ac:spMkLst>
        </pc:spChg>
      </pc:sldChg>
      <pc:sldChg chg="addSp delSp modSp mod">
        <pc:chgData name="henry.kabuye" userId="eb11684c-b2f7-47c6-a059-9031b708ef9b" providerId="ADAL" clId="{1DFA72CE-DF62-41DC-8B30-16B405C245CA}" dt="2026-04-13T16:30:26.303" v="45" actId="14100"/>
        <pc:sldMkLst>
          <pc:docMk/>
          <pc:sldMk cId="0" sldId="259"/>
        </pc:sldMkLst>
        <pc:picChg chg="add del mod">
          <ac:chgData name="henry.kabuye" userId="eb11684c-b2f7-47c6-a059-9031b708ef9b" providerId="ADAL" clId="{1DFA72CE-DF62-41DC-8B30-16B405C245CA}" dt="2026-04-13T16:30:16.577" v="43" actId="478"/>
          <ac:picMkLst>
            <pc:docMk/>
            <pc:sldMk cId="0" sldId="259"/>
            <ac:picMk id="4" creationId="{72CDD895-FD86-88E9-428E-C9FD9ACD403D}"/>
          </ac:picMkLst>
        </pc:picChg>
        <pc:picChg chg="add mod">
          <ac:chgData name="henry.kabuye" userId="eb11684c-b2f7-47c6-a059-9031b708ef9b" providerId="ADAL" clId="{1DFA72CE-DF62-41DC-8B30-16B405C245CA}" dt="2026-04-13T16:30:26.303" v="45" actId="14100"/>
          <ac:picMkLst>
            <pc:docMk/>
            <pc:sldMk cId="0" sldId="259"/>
            <ac:picMk id="5" creationId="{D0BFA837-D314-66EF-6EBA-2E1801755548}"/>
          </ac:picMkLst>
        </pc:picChg>
        <pc:picChg chg="del">
          <ac:chgData name="henry.kabuye" userId="eb11684c-b2f7-47c6-a059-9031b708ef9b" providerId="ADAL" clId="{1DFA72CE-DF62-41DC-8B30-16B405C245CA}" dt="2026-04-13T15:29:16.372" v="19" actId="478"/>
          <ac:picMkLst>
            <pc:docMk/>
            <pc:sldMk cId="0" sldId="259"/>
            <ac:picMk id="39" creationId="{97EE6EB4-41A9-55F2-879D-231F43FE8A40}"/>
          </ac:picMkLst>
        </pc:picChg>
      </pc:sldChg>
      <pc:sldChg chg="modSp mod">
        <pc:chgData name="henry.kabuye" userId="eb11684c-b2f7-47c6-a059-9031b708ef9b" providerId="ADAL" clId="{1DFA72CE-DF62-41DC-8B30-16B405C245CA}" dt="2026-04-14T14:42:19.988" v="66" actId="1037"/>
        <pc:sldMkLst>
          <pc:docMk/>
          <pc:sldMk cId="3371457412" sldId="270"/>
        </pc:sldMkLst>
        <pc:spChg chg="mod">
          <ac:chgData name="henry.kabuye" userId="eb11684c-b2f7-47c6-a059-9031b708ef9b" providerId="ADAL" clId="{1DFA72CE-DF62-41DC-8B30-16B405C245CA}" dt="2026-04-14T14:42:19.988" v="66" actId="1037"/>
          <ac:spMkLst>
            <pc:docMk/>
            <pc:sldMk cId="3371457412" sldId="270"/>
            <ac:spMk id="4" creationId="{1B6C8162-97CE-2A2F-BABF-2D289BD967E8}"/>
          </ac:spMkLst>
        </pc:spChg>
      </pc:sldChg>
      <pc:sldChg chg="modSp mod">
        <pc:chgData name="henry.kabuye" userId="eb11684c-b2f7-47c6-a059-9031b708ef9b" providerId="ADAL" clId="{1DFA72CE-DF62-41DC-8B30-16B405C245CA}" dt="2026-04-13T17:50:37.256" v="53" actId="20577"/>
        <pc:sldMkLst>
          <pc:docMk/>
          <pc:sldMk cId="2027162615" sldId="272"/>
        </pc:sldMkLst>
        <pc:spChg chg="mod">
          <ac:chgData name="henry.kabuye" userId="eb11684c-b2f7-47c6-a059-9031b708ef9b" providerId="ADAL" clId="{1DFA72CE-DF62-41DC-8B30-16B405C245CA}" dt="2026-04-13T17:50:37.256" v="53" actId="20577"/>
          <ac:spMkLst>
            <pc:docMk/>
            <pc:sldMk cId="2027162615" sldId="272"/>
            <ac:spMk id="3" creationId="{A9C0AFC8-53F3-7FF2-0BEC-13B26EAC188B}"/>
          </ac:spMkLst>
        </pc:spChg>
      </pc:sldChg>
    </pc:docChg>
  </pc:docChgLst>
</pc:chgInfo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Accuracy</c:v>
                </c:pt>
              </c:strCache>
            </c:strRef>
          </c:tx>
          <c:spPr>
            <a:solidFill>
              <a:srgbClr val="2563EB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A608-4F21-9A9A-0EF63AE9DC14}"/>
              </c:ext>
            </c:extLst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A608-4F21-9A9A-0EF63AE9DC14}"/>
              </c:ext>
            </c:extLst>
          </c:dPt>
          <c:cat>
            <c:strRef>
              <c:f>Sheet1!$A$2:$A$3</c:f>
              <c:strCache>
                <c:ptCount val="2"/>
                <c:pt idx="0">
                  <c:v>Semantic CNN (RDset)</c:v>
                </c:pt>
                <c:pt idx="1">
                  <c:v>Behavioural CNN (RanSMAP)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</c:v>
                </c:pt>
                <c:pt idx="1">
                  <c:v>0.98719999999999997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A608-4F21-9A9A-0EF63AE9DC1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"/>
          <c:min val="0.94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AUC</c:v>
                </c:pt>
              </c:strCache>
            </c:strRef>
          </c:tx>
          <c:spPr>
            <a:solidFill>
              <a:srgbClr val="2563EB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433A-43E0-8779-7AD1B664D010}"/>
              </c:ext>
            </c:extLst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433A-43E0-8779-7AD1B664D010}"/>
              </c:ext>
            </c:extLst>
          </c:dPt>
          <c:cat>
            <c:strRef>
              <c:f>Sheet1!$A$2:$A$3</c:f>
              <c:strCache>
                <c:ptCount val="2"/>
                <c:pt idx="0">
                  <c:v>Semantic CNN (RDset)</c:v>
                </c:pt>
                <c:pt idx="1">
                  <c:v>Behavioural CNN (RanSMAP)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</c:v>
                </c:pt>
                <c:pt idx="1">
                  <c:v>0.60299999999999998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433A-43E0-8779-7AD1B664D01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"/>
          <c:min val="0.5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84126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STER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19456"/>
          </a:xfrm>
          <a:prstGeom prst="rect">
            <a:avLst/>
          </a:prstGeom>
          <a:solidFill>
            <a:srgbClr val="123B5D"/>
          </a:solidFill>
          <a:ln w="12700">
            <a:solidFill>
              <a:srgbClr val="123B5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123B5D"/>
          </a:solidFill>
          <a:ln w="12700">
            <a:solidFill>
              <a:srgbClr val="123B5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Text 2"/>
          <p:cNvSpPr/>
          <p:nvPr/>
        </p:nvSpPr>
        <p:spPr>
          <a:xfrm>
            <a:off x="10881360" y="6574536"/>
            <a:ext cx="10972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SABRE</a:t>
            </a:r>
            <a:endParaRPr lang="en-US" sz="1000" dirty="0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2.jpe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chart" Target="../charts/chart1.xml"/><Relationship Id="rId4" Type="http://schemas.openxmlformats.org/officeDocument/2006/relationships/chart" Target="../charts/char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A9C0AFC8-53F3-7FF2-0BEC-13B26EAC188B}"/>
              </a:ext>
            </a:extLst>
          </p:cNvPr>
          <p:cNvSpPr txBox="1"/>
          <p:nvPr/>
        </p:nvSpPr>
        <p:spPr>
          <a:xfrm>
            <a:off x="817924" y="851294"/>
            <a:ext cx="10729519" cy="21698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en-US" sz="4500" dirty="0">
                <a:solidFill>
                  <a:srgbClr val="1E293B"/>
                </a:solidFill>
              </a:rPr>
              <a:t>SABRE: An uncertainty-aware semantic–</a:t>
            </a:r>
            <a:r>
              <a:rPr lang="en-US" sz="4500" dirty="0" err="1">
                <a:solidFill>
                  <a:srgbClr val="1E293B"/>
                </a:solidFill>
              </a:rPr>
              <a:t>behavioural–knowledge</a:t>
            </a:r>
            <a:r>
              <a:rPr lang="en-US" sz="4500" dirty="0">
                <a:solidFill>
                  <a:srgbClr val="1E293B"/>
                </a:solidFill>
              </a:rPr>
              <a:t> triage framework for adaptive ransomware detection</a:t>
            </a:r>
            <a:endParaRPr lang="en-US" sz="4500" dirty="0"/>
          </a:p>
        </p:txBody>
      </p:sp>
      <p:sp>
        <p:nvSpPr>
          <p:cNvPr id="9" name="Shape 7"/>
          <p:cNvSpPr/>
          <p:nvPr/>
        </p:nvSpPr>
        <p:spPr>
          <a:xfrm>
            <a:off x="3178742" y="3745046"/>
            <a:ext cx="6007881" cy="1537888"/>
          </a:xfrm>
          <a:prstGeom prst="roundRect">
            <a:avLst>
              <a:gd name="adj" fmla="val 26667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 dirty="0"/>
          </a:p>
        </p:txBody>
      </p:sp>
      <p:sp>
        <p:nvSpPr>
          <p:cNvPr id="10" name="Text 8"/>
          <p:cNvSpPr/>
          <p:nvPr/>
        </p:nvSpPr>
        <p:spPr>
          <a:xfrm>
            <a:off x="3677558" y="3760992"/>
            <a:ext cx="5010247" cy="135724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2400" b="1" dirty="0">
                <a:solidFill>
                  <a:srgbClr val="FFFFFF"/>
                </a:solidFill>
              </a:rPr>
              <a:t>Presented by Henry Kabuye</a:t>
            </a:r>
          </a:p>
          <a:p>
            <a:pPr marL="0" indent="0" algn="ctr">
              <a:lnSpc>
                <a:spcPct val="150000"/>
              </a:lnSpc>
              <a:buNone/>
            </a:pPr>
            <a:r>
              <a:rPr lang="en-US" b="1" dirty="0">
                <a:solidFill>
                  <a:srgbClr val="FFFFFF"/>
                </a:solidFill>
              </a:rPr>
              <a:t>Principal Supervisor: Dr Biju Issac</a:t>
            </a:r>
          </a:p>
          <a:p>
            <a:pPr marL="0" indent="0" algn="ctr">
              <a:lnSpc>
                <a:spcPct val="150000"/>
              </a:lnSpc>
              <a:buNone/>
            </a:pPr>
            <a:r>
              <a:rPr lang="en-US" b="1" dirty="0">
                <a:solidFill>
                  <a:srgbClr val="FFFFFF"/>
                </a:solidFill>
              </a:rPr>
              <a:t>Secondary Supervisor: Dr Neera Jeyamohan </a:t>
            </a:r>
            <a:endParaRPr lang="en-US" dirty="0"/>
          </a:p>
        </p:txBody>
      </p:sp>
      <p:pic>
        <p:nvPicPr>
          <p:cNvPr id="1026" name="x_Picture 2" descr="Northumbria University Logo">
            <a:extLst>
              <a:ext uri="{FF2B5EF4-FFF2-40B4-BE49-F238E27FC236}">
                <a16:creationId xmlns:a16="http://schemas.microsoft.com/office/drawing/2014/main" id="{90F83A98-0EA4-0184-6DC1-451D872D990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51199" y="5635464"/>
            <a:ext cx="1818156" cy="6311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28" name="x_Picture 1">
            <a:extLst>
              <a:ext uri="{FF2B5EF4-FFF2-40B4-BE49-F238E27FC236}">
                <a16:creationId xmlns:a16="http://schemas.microsoft.com/office/drawing/2014/main" id="{83B2C869-F53C-B049-CCE5-A6F6022EB27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88906" y="5592754"/>
            <a:ext cx="4289425" cy="7127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7B5859F3-58D2-7946-4DAD-B184DC2DB350}"/>
              </a:ext>
            </a:extLst>
          </p:cNvPr>
          <p:cNvCxnSpPr>
            <a:cxnSpLocks/>
          </p:cNvCxnSpPr>
          <p:nvPr/>
        </p:nvCxnSpPr>
        <p:spPr>
          <a:xfrm>
            <a:off x="205530" y="3376569"/>
            <a:ext cx="11836866" cy="1594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2716261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19456"/>
            <a:ext cx="12191695" cy="6364224"/>
          </a:xfrm>
          <a:prstGeom prst="rect">
            <a:avLst/>
          </a:prstGeom>
          <a:solidFill>
            <a:srgbClr val="F7F9FC"/>
          </a:solidFill>
          <a:ln w="12700">
            <a:solidFill>
              <a:srgbClr val="F7F9F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305" y="246888"/>
            <a:ext cx="12191695" cy="6364224"/>
          </a:xfrm>
          <a:prstGeom prst="rect">
            <a:avLst/>
          </a:prstGeom>
          <a:solidFill>
            <a:srgbClr val="EDF4FB"/>
          </a:solidFill>
          <a:ln w="12700">
            <a:solidFill>
              <a:srgbClr val="EDF4F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Shape 2"/>
          <p:cNvSpPr/>
          <p:nvPr/>
        </p:nvSpPr>
        <p:spPr>
          <a:xfrm>
            <a:off x="8046720" y="914400"/>
            <a:ext cx="3200400" cy="4206240"/>
          </a:xfrm>
          <a:prstGeom prst="roundRect">
            <a:avLst>
              <a:gd name="adj" fmla="val 2571"/>
            </a:avLst>
          </a:prstGeom>
          <a:solidFill>
            <a:srgbClr val="E6F4F1"/>
          </a:solidFill>
          <a:ln w="12700">
            <a:solidFill>
              <a:srgbClr val="D0E9E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Text 3"/>
          <p:cNvSpPr/>
          <p:nvPr/>
        </p:nvSpPr>
        <p:spPr>
          <a:xfrm>
            <a:off x="658368" y="960120"/>
            <a:ext cx="51206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23B5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SABRE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685799" y="1600200"/>
            <a:ext cx="6582747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1E293B"/>
                </a:solidFill>
              </a:rPr>
              <a:t>An uncertainty-aware multi-agent semantic–behavioural–knowledge triage framework for adaptive ransomware detection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749808" y="3291840"/>
            <a:ext cx="5577840" cy="20116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/>
          <a:lstStyle/>
          <a:p>
            <a:pPr marL="177800" indent="-177800">
              <a:buSzPct val="100000"/>
              <a:buChar char="•"/>
            </a:pPr>
            <a:r>
              <a:rPr lang="en-US" sz="1800" dirty="0">
                <a:solidFill>
                  <a:srgbClr val="1E293B"/>
                </a:solidFill>
              </a:rPr>
              <a:t>Combines semantic, behavioural, and knowledge detectors</a:t>
            </a:r>
            <a:endParaRPr lang="en-US" sz="1800" dirty="0"/>
          </a:p>
          <a:p>
            <a:pPr marL="177800" indent="-177800">
              <a:buSzPct val="100000"/>
              <a:buChar char="•"/>
            </a:pPr>
            <a:r>
              <a:rPr lang="en-US" sz="1800" dirty="0">
                <a:solidFill>
                  <a:srgbClr val="1E293B"/>
                </a:solidFill>
              </a:rPr>
              <a:t>Uses Monte Carlo Dropout uncertainty in the decision process</a:t>
            </a:r>
            <a:endParaRPr lang="en-US" sz="1800" dirty="0"/>
          </a:p>
          <a:p>
            <a:pPr marL="177800" indent="-177800">
              <a:buSzPct val="100000"/>
              <a:buChar char="•"/>
            </a:pPr>
            <a:r>
              <a:rPr lang="en-US" sz="1800" dirty="0">
                <a:solidFill>
                  <a:srgbClr val="1E293B"/>
                </a:solidFill>
              </a:rPr>
              <a:t>Supports AUTO-CONTAIN, ESCALATE, and ALLOW triage actions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8549640" y="1261872"/>
            <a:ext cx="2103120" cy="822960"/>
          </a:xfrm>
          <a:prstGeom prst="roundRect">
            <a:avLst>
              <a:gd name="adj" fmla="val 8889"/>
            </a:avLst>
          </a:prstGeom>
          <a:solidFill>
            <a:srgbClr val="EEF5FF"/>
          </a:solidFill>
          <a:ln w="12700">
            <a:solidFill>
              <a:srgbClr val="D7E2EE"/>
            </a:solidFill>
            <a:prstDash val="solid"/>
          </a:ln>
          <a:effectLst>
            <a:outerShdw blurRad="12700" dist="50800" dir="2700000" algn="bl" rotWithShape="0">
              <a:srgbClr val="AAB7C6">
                <a:alpha val="12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3" name="Text 11"/>
          <p:cNvSpPr/>
          <p:nvPr/>
        </p:nvSpPr>
        <p:spPr>
          <a:xfrm>
            <a:off x="8641080" y="1426464"/>
            <a:ext cx="1920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23B5D"/>
                </a:solidFill>
              </a:rPr>
              <a:t>Semantic</a:t>
            </a:r>
            <a:endParaRPr lang="en-US" sz="1800" dirty="0"/>
          </a:p>
          <a:p>
            <a:pPr marL="0" indent="0" algn="ctr">
              <a:buNone/>
            </a:pPr>
            <a:r>
              <a:rPr lang="en-US" sz="1800" b="1" dirty="0">
                <a:solidFill>
                  <a:srgbClr val="123B5D"/>
                </a:solidFill>
              </a:rPr>
              <a:t>Detector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8549640" y="2377440"/>
            <a:ext cx="2103120" cy="822960"/>
          </a:xfrm>
          <a:prstGeom prst="roundRect">
            <a:avLst>
              <a:gd name="adj" fmla="val 8889"/>
            </a:avLst>
          </a:prstGeom>
          <a:solidFill>
            <a:srgbClr val="EEF9F1"/>
          </a:solidFill>
          <a:ln w="12700">
            <a:solidFill>
              <a:srgbClr val="D7E2EE"/>
            </a:solidFill>
            <a:prstDash val="solid"/>
          </a:ln>
          <a:effectLst>
            <a:outerShdw blurRad="12700" dist="50800" dir="2700000" algn="bl" rotWithShape="0">
              <a:srgbClr val="AAB7C6">
                <a:alpha val="12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5" name="Text 13"/>
          <p:cNvSpPr/>
          <p:nvPr/>
        </p:nvSpPr>
        <p:spPr>
          <a:xfrm>
            <a:off x="8641080" y="2542032"/>
            <a:ext cx="1920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23B5D"/>
                </a:solidFill>
              </a:rPr>
              <a:t>Behavioural</a:t>
            </a:r>
            <a:endParaRPr lang="en-US" sz="1800" dirty="0"/>
          </a:p>
          <a:p>
            <a:pPr marL="0" indent="0" algn="ctr">
              <a:buNone/>
            </a:pPr>
            <a:r>
              <a:rPr lang="en-US" sz="1800" b="1" dirty="0">
                <a:solidFill>
                  <a:srgbClr val="123B5D"/>
                </a:solidFill>
              </a:rPr>
              <a:t>Detector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8549640" y="4114800"/>
            <a:ext cx="2103120" cy="822960"/>
          </a:xfrm>
          <a:prstGeom prst="roundRect">
            <a:avLst>
              <a:gd name="adj" fmla="val 8889"/>
            </a:avLst>
          </a:prstGeom>
          <a:solidFill>
            <a:srgbClr val="FFF7ED"/>
          </a:solidFill>
          <a:ln w="12700">
            <a:solidFill>
              <a:srgbClr val="D7E2EE"/>
            </a:solidFill>
            <a:prstDash val="solid"/>
          </a:ln>
          <a:effectLst>
            <a:outerShdw blurRad="12700" dist="50800" dir="2700000" algn="bl" rotWithShape="0">
              <a:srgbClr val="AAB7C6">
                <a:alpha val="12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7" name="Text 15"/>
          <p:cNvSpPr/>
          <p:nvPr/>
        </p:nvSpPr>
        <p:spPr>
          <a:xfrm>
            <a:off x="8641080" y="4279392"/>
            <a:ext cx="1920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23B5D"/>
                </a:solidFill>
              </a:rPr>
              <a:t>Decision</a:t>
            </a:r>
            <a:endParaRPr lang="en-US" sz="1800" dirty="0"/>
          </a:p>
          <a:p>
            <a:pPr marL="0" indent="0" algn="ctr">
              <a:buNone/>
            </a:pPr>
            <a:r>
              <a:rPr lang="en-US" sz="1800" b="1" dirty="0">
                <a:solidFill>
                  <a:srgbClr val="123B5D"/>
                </a:solidFill>
              </a:rPr>
              <a:t>Layer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8247888" y="5285232"/>
            <a:ext cx="2697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F766E"/>
                </a:solidFill>
              </a:rPr>
              <a:t>Risk + uncertainty → action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8549640" y="3108960"/>
            <a:ext cx="2103120" cy="822960"/>
          </a:xfrm>
          <a:prstGeom prst="roundRect">
            <a:avLst>
              <a:gd name="adj" fmla="val 8889"/>
            </a:avLst>
          </a:prstGeom>
          <a:solidFill>
            <a:srgbClr val="EEF9F1"/>
          </a:solidFill>
          <a:ln w="12700">
            <a:solidFill>
              <a:srgbClr val="D7E2EE"/>
            </a:solidFill>
            <a:prstDash val="solid"/>
          </a:ln>
          <a:effectLst>
            <a:outerShdw blurRad="12700" dist="50800" dir="2700000" algn="bl" rotWithShape="0">
              <a:srgbClr val="AAB7C6">
                <a:alpha val="12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5" name="Text 13"/>
          <p:cNvSpPr/>
          <p:nvPr/>
        </p:nvSpPr>
        <p:spPr>
          <a:xfrm>
            <a:off x="8641080" y="3264408"/>
            <a:ext cx="1920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23B5D"/>
                </a:solidFill>
              </a:rPr>
              <a:t>Knowledge</a:t>
            </a:r>
            <a:endParaRPr lang="en-US" sz="1800" dirty="0"/>
          </a:p>
          <a:p>
            <a:pPr marL="0" indent="0" algn="ctr">
              <a:buNone/>
            </a:pPr>
            <a:r>
              <a:rPr lang="en-US" sz="1800" b="1" dirty="0">
                <a:solidFill>
                  <a:srgbClr val="123B5D"/>
                </a:solidFill>
              </a:rPr>
              <a:t>Detector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0607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23B5D"/>
                </a:solidFill>
                <a:latin typeface="Aptos Display" pitchFamily="34" charset="0"/>
              </a:rPr>
              <a:t>Agenda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731520" y="1143000"/>
            <a:ext cx="10607040" cy="658368"/>
          </a:xfrm>
          <a:prstGeom prst="roundRect">
            <a:avLst>
              <a:gd name="adj" fmla="val 11111"/>
            </a:avLst>
          </a:prstGeom>
          <a:solidFill>
            <a:srgbClr val="F9FBFE"/>
          </a:solidFill>
          <a:ln w="12700">
            <a:solidFill>
              <a:srgbClr val="D7E2EE"/>
            </a:solidFill>
            <a:prstDash val="solid"/>
          </a:ln>
          <a:effectLst>
            <a:outerShdw blurRad="12700" dist="50800" dir="2700000" algn="bl" rotWithShape="0">
              <a:srgbClr val="AAB7C6">
                <a:alpha val="12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4" name="Shape 2"/>
          <p:cNvSpPr/>
          <p:nvPr/>
        </p:nvSpPr>
        <p:spPr>
          <a:xfrm>
            <a:off x="932688" y="1289304"/>
            <a:ext cx="438912" cy="347472"/>
          </a:xfrm>
          <a:prstGeom prst="roundRect">
            <a:avLst>
              <a:gd name="adj" fmla="val 15789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Text 3"/>
          <p:cNvSpPr/>
          <p:nvPr/>
        </p:nvSpPr>
        <p:spPr>
          <a:xfrm>
            <a:off x="932688" y="1335024"/>
            <a:ext cx="438912" cy="1280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572768" y="1252728"/>
            <a:ext cx="2560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23B5D"/>
                </a:solidFill>
              </a:rPr>
              <a:t>Problem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3886200" y="1261872"/>
            <a:ext cx="6858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</a:rPr>
              <a:t>Why ransomware detection needs uncertainty-aware decision support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31520" y="1929384"/>
            <a:ext cx="10607040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D7E2EE"/>
            </a:solidFill>
            <a:prstDash val="solid"/>
          </a:ln>
          <a:effectLst>
            <a:outerShdw blurRad="12700" dist="50800" dir="2700000" algn="bl" rotWithShape="0">
              <a:srgbClr val="AAB7C6">
                <a:alpha val="12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9" name="Shape 7"/>
          <p:cNvSpPr/>
          <p:nvPr/>
        </p:nvSpPr>
        <p:spPr>
          <a:xfrm>
            <a:off x="932688" y="2075688"/>
            <a:ext cx="438912" cy="347472"/>
          </a:xfrm>
          <a:prstGeom prst="roundRect">
            <a:avLst>
              <a:gd name="adj" fmla="val 15789"/>
            </a:avLst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Text 8"/>
          <p:cNvSpPr/>
          <p:nvPr/>
        </p:nvSpPr>
        <p:spPr>
          <a:xfrm>
            <a:off x="932688" y="2121408"/>
            <a:ext cx="438912" cy="1280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572768" y="2039112"/>
            <a:ext cx="2560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23B5D"/>
                </a:solidFill>
              </a:rPr>
              <a:t>Framework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886200" y="2048256"/>
            <a:ext cx="6858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</a:rPr>
              <a:t>How SABRE combines three detectors with a score-level triage layer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31520" y="2715768"/>
            <a:ext cx="10607040" cy="658368"/>
          </a:xfrm>
          <a:prstGeom prst="roundRect">
            <a:avLst>
              <a:gd name="adj" fmla="val 11111"/>
            </a:avLst>
          </a:prstGeom>
          <a:solidFill>
            <a:srgbClr val="F9FBFE"/>
          </a:solidFill>
          <a:ln w="12700">
            <a:solidFill>
              <a:srgbClr val="D7E2EE"/>
            </a:solidFill>
            <a:prstDash val="solid"/>
          </a:ln>
          <a:effectLst>
            <a:outerShdw blurRad="12700" dist="50800" dir="2700000" algn="bl" rotWithShape="0">
              <a:srgbClr val="AAB7C6">
                <a:alpha val="12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4" name="Shape 12"/>
          <p:cNvSpPr/>
          <p:nvPr/>
        </p:nvSpPr>
        <p:spPr>
          <a:xfrm>
            <a:off x="932688" y="2862072"/>
            <a:ext cx="438912" cy="347472"/>
          </a:xfrm>
          <a:prstGeom prst="roundRect">
            <a:avLst>
              <a:gd name="adj" fmla="val 15789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Text 13"/>
          <p:cNvSpPr/>
          <p:nvPr/>
        </p:nvSpPr>
        <p:spPr>
          <a:xfrm>
            <a:off x="932688" y="2907792"/>
            <a:ext cx="438912" cy="1280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572768" y="2825496"/>
            <a:ext cx="2560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23B5D"/>
                </a:solidFill>
              </a:rPr>
              <a:t>Data &amp; evaluation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3886200" y="2834640"/>
            <a:ext cx="6858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</a:rPr>
              <a:t>RDset and RanSMAP as complementary semantic and behavioural settings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731520" y="3502152"/>
            <a:ext cx="10607040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D7E2EE"/>
            </a:solidFill>
            <a:prstDash val="solid"/>
          </a:ln>
          <a:effectLst>
            <a:outerShdw blurRad="12700" dist="50800" dir="2700000" algn="bl" rotWithShape="0">
              <a:srgbClr val="AAB7C6">
                <a:alpha val="12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9" name="Shape 17"/>
          <p:cNvSpPr/>
          <p:nvPr/>
        </p:nvSpPr>
        <p:spPr>
          <a:xfrm>
            <a:off x="932688" y="3648456"/>
            <a:ext cx="438912" cy="347472"/>
          </a:xfrm>
          <a:prstGeom prst="roundRect">
            <a:avLst>
              <a:gd name="adj" fmla="val 15789"/>
            </a:avLst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Text 18"/>
          <p:cNvSpPr/>
          <p:nvPr/>
        </p:nvSpPr>
        <p:spPr>
          <a:xfrm>
            <a:off x="932688" y="3694176"/>
            <a:ext cx="438912" cy="1280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4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572768" y="3611880"/>
            <a:ext cx="2560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23B5D"/>
                </a:solidFill>
              </a:rPr>
              <a:t>Results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3886200" y="3621024"/>
            <a:ext cx="6858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</a:rPr>
              <a:t>Detection, calibration, and policy behaviour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731520" y="4288536"/>
            <a:ext cx="10607040" cy="658368"/>
          </a:xfrm>
          <a:prstGeom prst="roundRect">
            <a:avLst>
              <a:gd name="adj" fmla="val 11111"/>
            </a:avLst>
          </a:prstGeom>
          <a:solidFill>
            <a:srgbClr val="F9FBFE"/>
          </a:solidFill>
          <a:ln w="12700">
            <a:solidFill>
              <a:srgbClr val="D7E2EE"/>
            </a:solidFill>
            <a:prstDash val="solid"/>
          </a:ln>
          <a:effectLst>
            <a:outerShdw blurRad="12700" dist="50800" dir="2700000" algn="bl" rotWithShape="0">
              <a:srgbClr val="AAB7C6">
                <a:alpha val="12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24" name="Shape 22"/>
          <p:cNvSpPr/>
          <p:nvPr/>
        </p:nvSpPr>
        <p:spPr>
          <a:xfrm>
            <a:off x="932688" y="4434840"/>
            <a:ext cx="438912" cy="347472"/>
          </a:xfrm>
          <a:prstGeom prst="roundRect">
            <a:avLst>
              <a:gd name="adj" fmla="val 15789"/>
            </a:avLst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Text 23"/>
          <p:cNvSpPr/>
          <p:nvPr/>
        </p:nvSpPr>
        <p:spPr>
          <a:xfrm>
            <a:off x="932688" y="4480560"/>
            <a:ext cx="438912" cy="1280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5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1572768" y="4398264"/>
            <a:ext cx="2560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23B5D"/>
                </a:solidFill>
              </a:rPr>
              <a:t>Explainability</a:t>
            </a:r>
            <a:endParaRPr lang="en-US" sz="2000" dirty="0"/>
          </a:p>
        </p:txBody>
      </p:sp>
      <p:sp>
        <p:nvSpPr>
          <p:cNvPr id="27" name="Text 25"/>
          <p:cNvSpPr/>
          <p:nvPr/>
        </p:nvSpPr>
        <p:spPr>
          <a:xfrm>
            <a:off x="3886200" y="4407408"/>
            <a:ext cx="6858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</a:rPr>
              <a:t>Feature importance and semantic counterfactuals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731520" y="5074920"/>
            <a:ext cx="10607040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D7E2EE"/>
            </a:solidFill>
            <a:prstDash val="solid"/>
          </a:ln>
          <a:effectLst>
            <a:outerShdw blurRad="12700" dist="50800" dir="2700000" algn="bl" rotWithShape="0">
              <a:srgbClr val="AAB7C6">
                <a:alpha val="12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29" name="Shape 27"/>
          <p:cNvSpPr/>
          <p:nvPr/>
        </p:nvSpPr>
        <p:spPr>
          <a:xfrm>
            <a:off x="932688" y="5221224"/>
            <a:ext cx="438912" cy="347472"/>
          </a:xfrm>
          <a:prstGeom prst="roundRect">
            <a:avLst>
              <a:gd name="adj" fmla="val 15789"/>
            </a:avLst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0" name="Text 28"/>
          <p:cNvSpPr/>
          <p:nvPr/>
        </p:nvSpPr>
        <p:spPr>
          <a:xfrm>
            <a:off x="932688" y="5266944"/>
            <a:ext cx="438912" cy="1280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6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1572768" y="5184648"/>
            <a:ext cx="2560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23B5D"/>
                </a:solidFill>
              </a:rPr>
              <a:t>Takeaways</a:t>
            </a:r>
            <a:endParaRPr lang="en-US" sz="2000" dirty="0"/>
          </a:p>
        </p:txBody>
      </p:sp>
      <p:sp>
        <p:nvSpPr>
          <p:cNvPr id="32" name="Text 30"/>
          <p:cNvSpPr/>
          <p:nvPr/>
        </p:nvSpPr>
        <p:spPr>
          <a:xfrm>
            <a:off x="3886200" y="5193792"/>
            <a:ext cx="6858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</a:rPr>
              <a:t>Operational contribution, limitations, and next steps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0607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23B5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Why this problem matters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12064" y="786384"/>
            <a:ext cx="10607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</a:rPr>
              <a:t>Operational ransomware defence is not just classification; it is a decision problem.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685800" y="1188720"/>
            <a:ext cx="3657600" cy="448056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7E2EE"/>
            </a:solidFill>
            <a:prstDash val="solid"/>
          </a:ln>
          <a:effectLst>
            <a:outerShdw blurRad="12700" dist="50800" dir="2700000" algn="bl" rotWithShape="0">
              <a:srgbClr val="AAB7C6">
                <a:alpha val="12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5" name="Shape 3"/>
          <p:cNvSpPr/>
          <p:nvPr/>
        </p:nvSpPr>
        <p:spPr>
          <a:xfrm>
            <a:off x="841248" y="1371600"/>
            <a:ext cx="1417320" cy="274320"/>
          </a:xfrm>
          <a:prstGeom prst="roundRect">
            <a:avLst>
              <a:gd name="adj" fmla="val 26667"/>
            </a:avLst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Text 4"/>
          <p:cNvSpPr/>
          <p:nvPr/>
        </p:nvSpPr>
        <p:spPr>
          <a:xfrm>
            <a:off x="841248" y="1399032"/>
            <a:ext cx="1417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Challenge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877824" y="1783080"/>
            <a:ext cx="3246120" cy="23774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/>
          <a:lstStyle/>
          <a:p>
            <a:pPr marL="177800" indent="-177800">
              <a:buSzPct val="100000"/>
              <a:buChar char="•"/>
            </a:pPr>
            <a:r>
              <a:rPr lang="en-US" sz="1800" dirty="0">
                <a:solidFill>
                  <a:srgbClr val="1E293B"/>
                </a:solidFill>
              </a:rPr>
              <a:t>Ransomware evolves through polymorphism, obfuscation, and behavioural drift.</a:t>
            </a:r>
            <a:endParaRPr lang="en-US" sz="1800" dirty="0"/>
          </a:p>
          <a:p>
            <a:pPr marL="177800" indent="-177800">
              <a:buSzPct val="100000"/>
              <a:buChar char="•"/>
            </a:pPr>
            <a:r>
              <a:rPr lang="en-US" sz="1800" dirty="0">
                <a:solidFill>
                  <a:srgbClr val="1E293B"/>
                </a:solidFill>
              </a:rPr>
              <a:t>Static or behavioural evidence can be uneven in quality across samples.</a:t>
            </a:r>
            <a:endParaRPr lang="en-US" sz="1800" dirty="0"/>
          </a:p>
          <a:p>
            <a:pPr marL="177800" indent="-177800">
              <a:buSzPct val="100000"/>
              <a:buChar char="•"/>
            </a:pPr>
            <a:r>
              <a:rPr lang="en-US" sz="1800" dirty="0">
                <a:solidFill>
                  <a:srgbClr val="1E293B"/>
                </a:solidFill>
              </a:rPr>
              <a:t>Point predictions alone do not tell us when autonomous action is safe.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4526280" y="1188720"/>
            <a:ext cx="3200400" cy="4480560"/>
          </a:xfrm>
          <a:prstGeom prst="roundRect">
            <a:avLst>
              <a:gd name="adj" fmla="val 2286"/>
            </a:avLst>
          </a:prstGeom>
          <a:solidFill>
            <a:srgbClr val="EEF5FF"/>
          </a:solidFill>
          <a:ln w="12700">
            <a:solidFill>
              <a:srgbClr val="D7E2EE"/>
            </a:solidFill>
            <a:prstDash val="solid"/>
          </a:ln>
          <a:effectLst>
            <a:outerShdw blurRad="12700" dist="50800" dir="2700000" algn="bl" rotWithShape="0">
              <a:srgbClr val="AAB7C6">
                <a:alpha val="12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9" name="Shape 7"/>
          <p:cNvSpPr/>
          <p:nvPr/>
        </p:nvSpPr>
        <p:spPr>
          <a:xfrm>
            <a:off x="4709160" y="1371600"/>
            <a:ext cx="1417320" cy="274320"/>
          </a:xfrm>
          <a:prstGeom prst="roundRect">
            <a:avLst>
              <a:gd name="adj" fmla="val 26667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Text 8"/>
          <p:cNvSpPr/>
          <p:nvPr/>
        </p:nvSpPr>
        <p:spPr>
          <a:xfrm>
            <a:off x="4625181" y="1335585"/>
            <a:ext cx="1607664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Risk of standard ML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718304" y="1783080"/>
            <a:ext cx="2743200" cy="22860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/>
          <a:lstStyle/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1E293B"/>
                </a:solidFill>
              </a:rPr>
              <a:t>Aggressive thresholds risk false positives and unnecessary containment.</a:t>
            </a:r>
            <a:endParaRPr lang="en-US" sz="1700" dirty="0"/>
          </a:p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1E293B"/>
                </a:solidFill>
              </a:rPr>
              <a:t>Conservative thresholds push too much work to analysts.</a:t>
            </a:r>
            <a:endParaRPr lang="en-US" sz="1700" dirty="0"/>
          </a:p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1E293B"/>
                </a:solidFill>
              </a:rPr>
              <a:t>Out-of-distribution behaviour can make confidence misleading.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909560" y="1188720"/>
            <a:ext cx="3566160" cy="4480560"/>
          </a:xfrm>
          <a:prstGeom prst="roundRect">
            <a:avLst>
              <a:gd name="adj" fmla="val 2051"/>
            </a:avLst>
          </a:prstGeom>
          <a:solidFill>
            <a:srgbClr val="EEF9F1"/>
          </a:solidFill>
          <a:ln w="12700">
            <a:solidFill>
              <a:srgbClr val="D7E2EE"/>
            </a:solidFill>
            <a:prstDash val="solid"/>
          </a:ln>
          <a:effectLst>
            <a:outerShdw blurRad="12700" dist="50800" dir="2700000" algn="bl" rotWithShape="0">
              <a:srgbClr val="AAB7C6">
                <a:alpha val="12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3" name="Shape 11"/>
          <p:cNvSpPr/>
          <p:nvPr/>
        </p:nvSpPr>
        <p:spPr>
          <a:xfrm>
            <a:off x="8119872" y="1371600"/>
            <a:ext cx="1417320" cy="274320"/>
          </a:xfrm>
          <a:prstGeom prst="roundRect">
            <a:avLst>
              <a:gd name="adj" fmla="val 26667"/>
            </a:avLst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Text 12"/>
          <p:cNvSpPr/>
          <p:nvPr/>
        </p:nvSpPr>
        <p:spPr>
          <a:xfrm>
            <a:off x="8119872" y="1399032"/>
            <a:ext cx="1417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SABRE idea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183880" y="1828800"/>
            <a:ext cx="3017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123B5D"/>
                </a:solidFill>
              </a:rPr>
              <a:t>Use uncertainty as an operational control variable</a:t>
            </a:r>
            <a:endParaRPr lang="en-US" sz="2100" dirty="0"/>
          </a:p>
        </p:txBody>
      </p:sp>
      <p:sp>
        <p:nvSpPr>
          <p:cNvPr id="16" name="Text 14"/>
          <p:cNvSpPr/>
          <p:nvPr/>
        </p:nvSpPr>
        <p:spPr>
          <a:xfrm>
            <a:off x="8156448" y="2743200"/>
            <a:ext cx="2926080" cy="18288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/>
          <a:lstStyle/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1E293B"/>
                </a:solidFill>
              </a:rPr>
              <a:t>High risk + low uncertainty → AUTO-CONTAIN</a:t>
            </a:r>
            <a:endParaRPr lang="en-US" sz="1700" dirty="0"/>
          </a:p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1E293B"/>
                </a:solidFill>
              </a:rPr>
              <a:t>High risk or high uncertainty → ESCALATE</a:t>
            </a:r>
            <a:endParaRPr lang="en-US" sz="1700" dirty="0"/>
          </a:p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1E293B"/>
                </a:solidFill>
              </a:rPr>
              <a:t>Otherwise → ALLOW</a:t>
            </a:r>
            <a:endParaRPr lang="en-US" sz="1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0607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23B5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SABRE framework</a:t>
            </a:r>
            <a:endParaRPr lang="en-US" sz="2800" dirty="0"/>
          </a:p>
        </p:txBody>
      </p:sp>
      <p:sp>
        <p:nvSpPr>
          <p:cNvPr id="35" name="Text 33"/>
          <p:cNvSpPr/>
          <p:nvPr/>
        </p:nvSpPr>
        <p:spPr>
          <a:xfrm>
            <a:off x="713232" y="5897880"/>
            <a:ext cx="10515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64748B"/>
                </a:solidFill>
              </a:rPr>
              <a:t>CTGAN augments the score space used by the decision layer; SMOTE addresses feature-level class imbalance.</a:t>
            </a:r>
            <a:endParaRPr lang="en-US" sz="12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0BFA837-D314-66EF-6EBA-2E180175554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4265" y="1539551"/>
            <a:ext cx="11790162" cy="380689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0607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23B5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Datasets and evaluation setup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640080" y="1143000"/>
            <a:ext cx="3749040" cy="4389120"/>
          </a:xfrm>
          <a:prstGeom prst="roundRect">
            <a:avLst>
              <a:gd name="adj" fmla="val 1951"/>
            </a:avLst>
          </a:prstGeom>
          <a:solidFill>
            <a:srgbClr val="FFFFFF"/>
          </a:solidFill>
          <a:ln w="12700">
            <a:solidFill>
              <a:srgbClr val="D7E2EE"/>
            </a:solidFill>
            <a:prstDash val="solid"/>
          </a:ln>
          <a:effectLst>
            <a:outerShdw blurRad="12700" dist="50800" dir="2700000" algn="bl" rotWithShape="0">
              <a:srgbClr val="AAB7C6">
                <a:alpha val="12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4" name="Shape 2"/>
          <p:cNvSpPr/>
          <p:nvPr/>
        </p:nvSpPr>
        <p:spPr>
          <a:xfrm>
            <a:off x="640080" y="1143000"/>
            <a:ext cx="3749040" cy="457200"/>
          </a:xfrm>
          <a:prstGeom prst="roundRect">
            <a:avLst>
              <a:gd name="adj" fmla="val 26667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 dirty="0"/>
          </a:p>
        </p:txBody>
      </p:sp>
      <p:sp>
        <p:nvSpPr>
          <p:cNvPr id="5" name="Text 3"/>
          <p:cNvSpPr/>
          <p:nvPr/>
        </p:nvSpPr>
        <p:spPr>
          <a:xfrm>
            <a:off x="822959" y="1252728"/>
            <a:ext cx="3487783" cy="2834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</a:rPr>
              <a:t>Semantic setting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868680" y="178308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3B5D"/>
                </a:solidFill>
              </a:rPr>
              <a:t>RDset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868680" y="2148840"/>
            <a:ext cx="3200400" cy="19202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/>
          <a:lstStyle/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1E293B"/>
                </a:solidFill>
              </a:rPr>
              <a:t>138,047 PE samples with 57 structured static attributes</a:t>
            </a:r>
            <a:endParaRPr lang="en-US" sz="1700" dirty="0"/>
          </a:p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1E293B"/>
                </a:solidFill>
              </a:rPr>
              <a:t>Attributes encoded into text-like strings and embedded</a:t>
            </a:r>
            <a:endParaRPr lang="en-US" sz="1700" dirty="0"/>
          </a:p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1E293B"/>
                </a:solidFill>
              </a:rPr>
              <a:t>Used to train the semantic detector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4526280" y="1143000"/>
            <a:ext cx="3749040" cy="4389120"/>
          </a:xfrm>
          <a:prstGeom prst="roundRect">
            <a:avLst>
              <a:gd name="adj" fmla="val 1951"/>
            </a:avLst>
          </a:prstGeom>
          <a:solidFill>
            <a:srgbClr val="FFFFFF"/>
          </a:solidFill>
          <a:ln w="12700">
            <a:solidFill>
              <a:srgbClr val="D7E2EE"/>
            </a:solidFill>
            <a:prstDash val="solid"/>
          </a:ln>
          <a:effectLst>
            <a:outerShdw blurRad="12700" dist="50800" dir="2700000" algn="bl" rotWithShape="0">
              <a:srgbClr val="AAB7C6">
                <a:alpha val="12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9" name="Shape 7"/>
          <p:cNvSpPr/>
          <p:nvPr/>
        </p:nvSpPr>
        <p:spPr>
          <a:xfrm>
            <a:off x="4493622" y="1188720"/>
            <a:ext cx="3781698" cy="521208"/>
          </a:xfrm>
          <a:prstGeom prst="roundRect">
            <a:avLst>
              <a:gd name="adj" fmla="val 26667"/>
            </a:avLst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Text 8"/>
          <p:cNvSpPr/>
          <p:nvPr/>
        </p:nvSpPr>
        <p:spPr>
          <a:xfrm>
            <a:off x="4709160" y="1252728"/>
            <a:ext cx="3246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</a:rPr>
              <a:t>Behavioural setting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4754880" y="1783080"/>
            <a:ext cx="3200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3B5D"/>
                </a:solidFill>
              </a:rPr>
              <a:t>RanSMAP / RanSAP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4754880" y="2148840"/>
            <a:ext cx="3200400" cy="19202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/>
          <a:lstStyle/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1E293B"/>
                </a:solidFill>
              </a:rPr>
              <a:t>Hypervisor-level storage and memory activity windows</a:t>
            </a:r>
            <a:endParaRPr lang="en-US" sz="1700" dirty="0"/>
          </a:p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1E293B"/>
                </a:solidFill>
              </a:rPr>
              <a:t>Sliding-window statistics: variance, entropy, access counts</a:t>
            </a:r>
            <a:endParaRPr lang="en-US" sz="1700" dirty="0"/>
          </a:p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1E293B"/>
                </a:solidFill>
              </a:rPr>
              <a:t>Used to train the behavioural detector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8412480" y="1143000"/>
            <a:ext cx="3108960" cy="4389120"/>
          </a:xfrm>
          <a:prstGeom prst="roundRect">
            <a:avLst>
              <a:gd name="adj" fmla="val 2353"/>
            </a:avLst>
          </a:prstGeom>
          <a:solidFill>
            <a:srgbClr val="FFF7ED"/>
          </a:solidFill>
          <a:ln w="12700">
            <a:solidFill>
              <a:srgbClr val="D7E2EE"/>
            </a:solidFill>
            <a:prstDash val="solid"/>
          </a:ln>
          <a:effectLst>
            <a:outerShdw blurRad="12700" dist="50800" dir="2700000" algn="bl" rotWithShape="0">
              <a:srgbClr val="AAB7C6">
                <a:alpha val="12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4" name="Shape 12"/>
          <p:cNvSpPr/>
          <p:nvPr/>
        </p:nvSpPr>
        <p:spPr>
          <a:xfrm>
            <a:off x="8412480" y="1143000"/>
            <a:ext cx="3108960" cy="566928"/>
          </a:xfrm>
          <a:prstGeom prst="roundRect">
            <a:avLst>
              <a:gd name="adj" fmla="val 26667"/>
            </a:avLst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Text 13"/>
          <p:cNvSpPr/>
          <p:nvPr/>
        </p:nvSpPr>
        <p:spPr>
          <a:xfrm>
            <a:off x="8641080" y="1234440"/>
            <a:ext cx="2651760" cy="3566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Knowledge setting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8567928" y="1828799"/>
            <a:ext cx="2651760" cy="2547257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/>
          <a:lstStyle/>
          <a:p>
            <a:pPr marL="177800" indent="-177800">
              <a:buSzPct val="100000"/>
              <a:buChar char="•"/>
            </a:pPr>
            <a:r>
              <a:rPr lang="en-US" sz="1600" dirty="0">
                <a:solidFill>
                  <a:srgbClr val="1E293B"/>
                </a:solidFill>
              </a:rPr>
              <a:t>MITRE ATT&amp;CK + threat intel features</a:t>
            </a:r>
            <a:endParaRPr lang="en-US" sz="1600" dirty="0"/>
          </a:p>
          <a:p>
            <a:pPr marL="177800" indent="-177800">
              <a:buSzPct val="100000"/>
              <a:buChar char="•"/>
            </a:pPr>
            <a:r>
              <a:rPr lang="en-US" sz="1600" dirty="0">
                <a:solidFill>
                  <a:srgbClr val="1E293B"/>
                </a:solidFill>
              </a:rPr>
              <a:t>23-dimensional feature vector</a:t>
            </a:r>
            <a:endParaRPr lang="en-US" sz="1600" dirty="0"/>
          </a:p>
          <a:p>
            <a:pPr marL="177800" indent="-177800">
              <a:buSzPct val="100000"/>
              <a:buChar char="•"/>
            </a:pPr>
            <a:r>
              <a:rPr lang="en-US" sz="1600" dirty="0">
                <a:solidFill>
                  <a:srgbClr val="1E293B"/>
                </a:solidFill>
              </a:rPr>
              <a:t>Trained on labelled ransomware TTPs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1051560" y="4892040"/>
            <a:ext cx="1280160" cy="804672"/>
          </a:xfrm>
          <a:prstGeom prst="roundRect">
            <a:avLst>
              <a:gd name="adj" fmla="val 9091"/>
            </a:avLst>
          </a:prstGeom>
          <a:solidFill>
            <a:srgbClr val="EEF5FF"/>
          </a:solidFill>
          <a:ln w="12700">
            <a:solidFill>
              <a:srgbClr val="DDE7F2"/>
            </a:solidFill>
            <a:prstDash val="solid"/>
          </a:ln>
          <a:effectLst>
            <a:outerShdw blurRad="12700" dist="50800" dir="2700000" algn="bl" rotWithShape="0">
              <a:srgbClr val="AAB7C6">
                <a:alpha val="12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8" name="Text 16"/>
          <p:cNvSpPr/>
          <p:nvPr/>
        </p:nvSpPr>
        <p:spPr>
          <a:xfrm>
            <a:off x="1143000" y="502920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23B5D"/>
                </a:solidFill>
              </a:rPr>
              <a:t>Adaptive T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1143000" y="5404104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</a:rPr>
              <a:t>MC Dropout (converges, max T=50)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2560320" y="4892040"/>
            <a:ext cx="1280160" cy="804672"/>
          </a:xfrm>
          <a:prstGeom prst="roundRect">
            <a:avLst>
              <a:gd name="adj" fmla="val 9091"/>
            </a:avLst>
          </a:prstGeom>
          <a:solidFill>
            <a:srgbClr val="EEF9F1"/>
          </a:solidFill>
          <a:ln w="12700">
            <a:solidFill>
              <a:srgbClr val="DDE7F2"/>
            </a:solidFill>
            <a:prstDash val="solid"/>
          </a:ln>
          <a:effectLst>
            <a:outerShdw blurRad="12700" dist="50800" dir="2700000" algn="bl" rotWithShape="0">
              <a:srgbClr val="AAB7C6">
                <a:alpha val="12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21" name="Text 19"/>
          <p:cNvSpPr/>
          <p:nvPr/>
        </p:nvSpPr>
        <p:spPr>
          <a:xfrm>
            <a:off x="2651760" y="5029200"/>
            <a:ext cx="1188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23B5D"/>
                </a:solidFill>
              </a:rPr>
              <a:t>SMOTE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2651760" y="5404104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</a:rPr>
              <a:t>Feature-level balance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069080" y="4892040"/>
            <a:ext cx="1280160" cy="804672"/>
          </a:xfrm>
          <a:prstGeom prst="roundRect">
            <a:avLst>
              <a:gd name="adj" fmla="val 9091"/>
            </a:avLst>
          </a:prstGeom>
          <a:solidFill>
            <a:srgbClr val="FFF7ED"/>
          </a:solidFill>
          <a:ln w="12700">
            <a:solidFill>
              <a:srgbClr val="DDE7F2"/>
            </a:solidFill>
            <a:prstDash val="solid"/>
          </a:ln>
          <a:effectLst>
            <a:outerShdw blurRad="12700" dist="50800" dir="2700000" algn="bl" rotWithShape="0">
              <a:srgbClr val="AAB7C6">
                <a:alpha val="12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24" name="Text 22"/>
          <p:cNvSpPr/>
          <p:nvPr/>
        </p:nvSpPr>
        <p:spPr>
          <a:xfrm>
            <a:off x="4160520" y="5029200"/>
            <a:ext cx="1280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23B5D"/>
                </a:solidFill>
              </a:rPr>
              <a:t>CTGAN</a:t>
            </a:r>
            <a:endParaRPr lang="en-US" sz="2400" dirty="0"/>
          </a:p>
        </p:txBody>
      </p:sp>
      <p:sp>
        <p:nvSpPr>
          <p:cNvPr id="25" name="Text 23"/>
          <p:cNvSpPr/>
          <p:nvPr/>
        </p:nvSpPr>
        <p:spPr>
          <a:xfrm>
            <a:off x="4160520" y="5404104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</a:rPr>
              <a:t>Score-space augmentation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5577840" y="4892040"/>
            <a:ext cx="1280160" cy="804672"/>
          </a:xfrm>
          <a:prstGeom prst="roundRect">
            <a:avLst>
              <a:gd name="adj" fmla="val 9091"/>
            </a:avLst>
          </a:prstGeom>
          <a:solidFill>
            <a:srgbClr val="F5F3FF"/>
          </a:solidFill>
          <a:ln w="12700">
            <a:solidFill>
              <a:srgbClr val="DDE7F2"/>
            </a:solidFill>
            <a:prstDash val="solid"/>
          </a:ln>
          <a:effectLst>
            <a:outerShdw blurRad="12700" dist="50800" dir="2700000" algn="bl" rotWithShape="0">
              <a:srgbClr val="AAB7C6">
                <a:alpha val="12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27" name="Text 25"/>
          <p:cNvSpPr/>
          <p:nvPr/>
        </p:nvSpPr>
        <p:spPr>
          <a:xfrm>
            <a:off x="5669280" y="502920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23B5D"/>
                </a:solidFill>
              </a:rPr>
              <a:t>MLP</a:t>
            </a:r>
            <a:endParaRPr lang="en-US" sz="2400" dirty="0"/>
          </a:p>
        </p:txBody>
      </p:sp>
      <p:sp>
        <p:nvSpPr>
          <p:cNvPr id="28" name="Text 26"/>
          <p:cNvSpPr/>
          <p:nvPr/>
        </p:nvSpPr>
        <p:spPr>
          <a:xfrm>
            <a:off x="5669280" y="5404104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</a:rPr>
              <a:t>Decision layer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0607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23B5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Uncertainty-aware triage policy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722377" y="1234440"/>
            <a:ext cx="5029200" cy="4526280"/>
          </a:xfrm>
          <a:prstGeom prst="roundRect">
            <a:avLst>
              <a:gd name="adj" fmla="val 1616"/>
            </a:avLst>
          </a:prstGeom>
          <a:solidFill>
            <a:srgbClr val="FFFFFF"/>
          </a:solidFill>
          <a:ln w="12700">
            <a:solidFill>
              <a:srgbClr val="D7E2EE"/>
            </a:solidFill>
            <a:prstDash val="solid"/>
          </a:ln>
          <a:effectLst>
            <a:outerShdw blurRad="12700" dist="50800" dir="2700000" algn="bl" rotWithShape="0">
              <a:srgbClr val="AAB7C6">
                <a:alpha val="12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4" name="Text 2"/>
          <p:cNvSpPr/>
          <p:nvPr/>
        </p:nvSpPr>
        <p:spPr>
          <a:xfrm>
            <a:off x="835152" y="1362455"/>
            <a:ext cx="1645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3B5D"/>
                </a:solidFill>
              </a:rPr>
              <a:t>Core rules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914399" y="2560320"/>
            <a:ext cx="4526281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900" b="1" dirty="0">
              <a:solidFill>
                <a:srgbClr val="D97706"/>
              </a:solidFill>
            </a:endParaRPr>
          </a:p>
          <a:p>
            <a:pPr marL="0" indent="0">
              <a:buNone/>
            </a:pPr>
            <a:r>
              <a:rPr lang="en-US" sz="1900" b="1" dirty="0">
                <a:solidFill>
                  <a:srgbClr val="D97706"/>
                </a:solidFill>
              </a:rPr>
              <a:t>ESCALATE</a:t>
            </a:r>
            <a:r>
              <a:rPr lang="en-US" sz="1900" dirty="0">
                <a:solidFill>
                  <a:srgbClr val="1E293B"/>
                </a:solidFill>
              </a:rPr>
              <a:t> if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914400" y="3392424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6A34A"/>
                </a:solidFill>
              </a:rPr>
              <a:t>ALLOW</a:t>
            </a:r>
            <a:r>
              <a:rPr lang="en-US" sz="1900" dirty="0">
                <a:solidFill>
                  <a:srgbClr val="1E293B"/>
                </a:solidFill>
              </a:rPr>
              <a:t> otherwise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914400" y="3840480"/>
            <a:ext cx="4617718" cy="15544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/>
          <a:lstStyle/>
          <a:p>
            <a:pPr marL="177800" indent="-177800">
              <a:buSzPct val="100000"/>
              <a:buChar char="•"/>
            </a:pPr>
            <a:r>
              <a:rPr lang="en-US" sz="1600" dirty="0">
                <a:solidFill>
                  <a:srgbClr val="1E293B"/>
                </a:solidFill>
              </a:rPr>
              <a:t>Axis-aligned thresholds preserve interpretability and auditability.</a:t>
            </a:r>
            <a:endParaRPr lang="en-US" sz="1600" dirty="0"/>
          </a:p>
          <a:p>
            <a:pPr marL="177800" indent="-177800">
              <a:buSzPct val="100000"/>
              <a:buChar char="•"/>
            </a:pPr>
            <a:r>
              <a:rPr lang="en-US" sz="1600" dirty="0">
                <a:solidFill>
                  <a:srgbClr val="1E293B"/>
                </a:solidFill>
              </a:rPr>
              <a:t>Max uncertainty ensures either detector can veto autonomous action.</a:t>
            </a:r>
            <a:endParaRPr lang="en-US" sz="1600" dirty="0"/>
          </a:p>
          <a:p>
            <a:pPr marL="177800" indent="-177800">
              <a:buSzPct val="100000"/>
              <a:buChar char="•"/>
            </a:pPr>
            <a:r>
              <a:rPr lang="en-US" sz="1600" dirty="0">
                <a:solidFill>
                  <a:srgbClr val="1E293B"/>
                </a:solidFill>
              </a:rPr>
              <a:t>Main deployment goal: conservative routing of ambiguous cases.</a:t>
            </a:r>
            <a:endParaRPr lang="en-US" sz="1600" dirty="0"/>
          </a:p>
          <a:p>
            <a:pPr marL="177800" indent="-177800">
              <a:buSzPct val="100000"/>
              <a:buChar char="•"/>
            </a:pPr>
            <a:r>
              <a:rPr lang="en-US" sz="1600" dirty="0">
                <a:solidFill>
                  <a:srgbClr val="1E293B"/>
                </a:solidFill>
              </a:rPr>
              <a:t>Thresholds are automatically calibrated via Bayesian optimisation (Optuna TPE, 300 trials, GPU-batched inference).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990816" y="1188720"/>
            <a:ext cx="5440680" cy="4526280"/>
          </a:xfrm>
          <a:prstGeom prst="roundRect">
            <a:avLst>
              <a:gd name="adj" fmla="val 1616"/>
            </a:avLst>
          </a:prstGeom>
          <a:solidFill>
            <a:srgbClr val="EEF5FF"/>
          </a:solidFill>
          <a:ln w="12700">
            <a:solidFill>
              <a:srgbClr val="D7E2EE"/>
            </a:solidFill>
            <a:prstDash val="solid"/>
          </a:ln>
          <a:effectLst>
            <a:outerShdw blurRad="12700" dist="50800" dir="2700000" algn="bl" rotWithShape="0">
              <a:srgbClr val="AAB7C6">
                <a:alpha val="12000"/>
              </a:srgbClr>
            </a:outerShdw>
          </a:effectLst>
        </p:spPr>
        <p:txBody>
          <a:bodyPr/>
          <a:lstStyle/>
          <a:p>
            <a:endParaRPr lang="en-GB" dirty="0"/>
          </a:p>
        </p:txBody>
      </p:sp>
      <p:sp>
        <p:nvSpPr>
          <p:cNvPr id="10" name="Shape 8"/>
          <p:cNvSpPr/>
          <p:nvPr/>
        </p:nvSpPr>
        <p:spPr>
          <a:xfrm>
            <a:off x="6583680" y="1828800"/>
            <a:ext cx="0" cy="2926080"/>
          </a:xfrm>
          <a:prstGeom prst="line">
            <a:avLst/>
          </a:prstGeom>
          <a:noFill/>
          <a:ln w="12700">
            <a:solidFill>
              <a:srgbClr val="7A8FA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Shape 9"/>
          <p:cNvSpPr/>
          <p:nvPr/>
        </p:nvSpPr>
        <p:spPr>
          <a:xfrm>
            <a:off x="6583680" y="4160520"/>
            <a:ext cx="4023360" cy="0"/>
          </a:xfrm>
          <a:prstGeom prst="line">
            <a:avLst/>
          </a:prstGeom>
          <a:noFill/>
          <a:ln w="12700">
            <a:solidFill>
              <a:srgbClr val="7A8FA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Shape 10"/>
          <p:cNvSpPr/>
          <p:nvPr/>
        </p:nvSpPr>
        <p:spPr>
          <a:xfrm>
            <a:off x="8778240" y="1828800"/>
            <a:ext cx="0" cy="2926080"/>
          </a:xfrm>
          <a:prstGeom prst="line">
            <a:avLst/>
          </a:prstGeom>
          <a:noFill/>
          <a:ln w="12700">
            <a:solidFill>
              <a:srgbClr val="AEBFD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Shape 11"/>
          <p:cNvSpPr/>
          <p:nvPr/>
        </p:nvSpPr>
        <p:spPr>
          <a:xfrm>
            <a:off x="6583680" y="2880360"/>
            <a:ext cx="4023360" cy="0"/>
          </a:xfrm>
          <a:prstGeom prst="line">
            <a:avLst/>
          </a:prstGeom>
          <a:noFill/>
          <a:ln w="12700">
            <a:solidFill>
              <a:srgbClr val="AEBFD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Text 12"/>
          <p:cNvSpPr/>
          <p:nvPr/>
        </p:nvSpPr>
        <p:spPr>
          <a:xfrm rot="16200000">
            <a:off x="5422392" y="2798064"/>
            <a:ext cx="158191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23B5D"/>
                </a:solidFill>
              </a:rPr>
              <a:t>Uncertainty    k</a:t>
            </a:r>
            <a:endParaRPr lang="en-US" sz="1300" dirty="0"/>
          </a:p>
        </p:txBody>
      </p:sp>
      <p:pic>
        <p:nvPicPr>
          <p:cNvPr id="29" name="Picture 28">
            <a:extLst>
              <a:ext uri="{FF2B5EF4-FFF2-40B4-BE49-F238E27FC236}">
                <a16:creationId xmlns:a16="http://schemas.microsoft.com/office/drawing/2014/main" id="{D5A272EF-F84D-7237-B084-15C9BC352D1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51078" y="2037997"/>
            <a:ext cx="2773980" cy="323969"/>
          </a:xfrm>
          <a:prstGeom prst="rect">
            <a:avLst/>
          </a:prstGeom>
        </p:spPr>
      </p:pic>
      <p:sp>
        <p:nvSpPr>
          <p:cNvPr id="15" name="Text 13"/>
          <p:cNvSpPr/>
          <p:nvPr/>
        </p:nvSpPr>
        <p:spPr>
          <a:xfrm>
            <a:off x="8229600" y="4663439"/>
            <a:ext cx="731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23B5D"/>
                </a:solidFill>
              </a:rPr>
              <a:t>Risk   t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583680" y="1828800"/>
            <a:ext cx="2176270" cy="1051560"/>
          </a:xfrm>
          <a:prstGeom prst="rect">
            <a:avLst/>
          </a:prstGeom>
          <a:solidFill>
            <a:srgbClr val="EAF7EC"/>
          </a:solidFill>
          <a:ln w="12700">
            <a:solidFill>
              <a:srgbClr val="C8E6C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Shape 15"/>
          <p:cNvSpPr/>
          <p:nvPr/>
        </p:nvSpPr>
        <p:spPr>
          <a:xfrm>
            <a:off x="8778239" y="1828800"/>
            <a:ext cx="2194560" cy="1051560"/>
          </a:xfrm>
          <a:prstGeom prst="rect">
            <a:avLst/>
          </a:prstGeom>
          <a:solidFill>
            <a:srgbClr val="FFF1F2"/>
          </a:solidFill>
          <a:ln w="12700">
            <a:solidFill>
              <a:srgbClr val="F7CDD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Shape 16"/>
          <p:cNvSpPr/>
          <p:nvPr/>
        </p:nvSpPr>
        <p:spPr>
          <a:xfrm>
            <a:off x="6583679" y="2898088"/>
            <a:ext cx="2194553" cy="1262432"/>
          </a:xfrm>
          <a:prstGeom prst="rect">
            <a:avLst/>
          </a:prstGeom>
          <a:solidFill>
            <a:srgbClr val="F8FAFC"/>
          </a:solidFill>
          <a:ln w="12700">
            <a:solidFill>
              <a:srgbClr val="D7E2EE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Shape 17"/>
          <p:cNvSpPr/>
          <p:nvPr/>
        </p:nvSpPr>
        <p:spPr>
          <a:xfrm>
            <a:off x="8778240" y="2880360"/>
            <a:ext cx="2194558" cy="1280160"/>
          </a:xfrm>
          <a:prstGeom prst="rect">
            <a:avLst/>
          </a:prstGeom>
          <a:solidFill>
            <a:srgbClr val="FFF7ED"/>
          </a:solidFill>
          <a:ln w="12700">
            <a:solidFill>
              <a:srgbClr val="F3D9B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Text 18"/>
          <p:cNvSpPr/>
          <p:nvPr/>
        </p:nvSpPr>
        <p:spPr>
          <a:xfrm>
            <a:off x="6949440" y="2212848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6A34A"/>
                </a:solidFill>
              </a:rPr>
              <a:t>ALLOW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9125711" y="2084832"/>
            <a:ext cx="1763109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DC2626"/>
                </a:solidFill>
              </a:rPr>
              <a:t>AUTO-</a:t>
            </a:r>
            <a:endParaRPr lang="en-US" sz="1800" dirty="0"/>
          </a:p>
          <a:p>
            <a:pPr marL="0" indent="0" algn="ctr">
              <a:buNone/>
            </a:pPr>
            <a:r>
              <a:rPr lang="en-US" sz="1800" b="1" dirty="0">
                <a:solidFill>
                  <a:srgbClr val="DC2626"/>
                </a:solidFill>
              </a:rPr>
              <a:t>CONTAIN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7132320" y="3337560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8795A5"/>
                </a:solidFill>
              </a:rPr>
              <a:t>ALLOW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9034272" y="342900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D97706"/>
                </a:solidFill>
              </a:rPr>
              <a:t>ESCALATE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666764" y="1829360"/>
            <a:ext cx="4754881" cy="75895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DC2626"/>
                </a:solidFill>
              </a:rPr>
              <a:t>AUTO-CONTAIN</a:t>
            </a:r>
            <a:r>
              <a:rPr lang="en-US" sz="1900" b="1" dirty="0">
                <a:solidFill>
                  <a:srgbClr val="1E293B"/>
                </a:solidFill>
              </a:rPr>
              <a:t> If                         and</a:t>
            </a:r>
            <a:endParaRPr lang="en-US" sz="1900" dirty="0"/>
          </a:p>
        </p:txBody>
      </p:sp>
      <p:pic>
        <p:nvPicPr>
          <p:cNvPr id="31" name="Picture 30">
            <a:extLst>
              <a:ext uri="{FF2B5EF4-FFF2-40B4-BE49-F238E27FC236}">
                <a16:creationId xmlns:a16="http://schemas.microsoft.com/office/drawing/2014/main" id="{D29AA467-7D4B-4907-F273-0A96D55364B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82005" y="2916275"/>
            <a:ext cx="2211635" cy="295322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0607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23B5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Per-agent performance (balanced eval)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640080" y="1143000"/>
            <a:ext cx="5486400" cy="5074920"/>
          </a:xfrm>
          <a:prstGeom prst="roundRect">
            <a:avLst>
              <a:gd name="adj" fmla="val 1441"/>
            </a:avLst>
          </a:prstGeom>
          <a:solidFill>
            <a:srgbClr val="FFFFFF"/>
          </a:solidFill>
          <a:ln w="12700">
            <a:solidFill>
              <a:srgbClr val="D7E2EE"/>
            </a:solidFill>
            <a:prstDash val="solid"/>
          </a:ln>
          <a:effectLst>
            <a:outerShdw blurRad="12700" dist="50800" dir="2700000" algn="bl" rotWithShape="0">
              <a:srgbClr val="AAB7C6">
                <a:alpha val="12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4" name="Shape 2"/>
          <p:cNvSpPr/>
          <p:nvPr/>
        </p:nvSpPr>
        <p:spPr>
          <a:xfrm>
            <a:off x="6355080" y="1143000"/>
            <a:ext cx="5166360" cy="5074920"/>
          </a:xfrm>
          <a:prstGeom prst="roundRect">
            <a:avLst>
              <a:gd name="adj" fmla="val 1441"/>
            </a:avLst>
          </a:prstGeom>
          <a:solidFill>
            <a:srgbClr val="FFFFFF"/>
          </a:solidFill>
          <a:ln w="12700">
            <a:solidFill>
              <a:srgbClr val="D7E2EE"/>
            </a:solidFill>
            <a:prstDash val="solid"/>
          </a:ln>
          <a:effectLst>
            <a:outerShdw blurRad="12700" dist="50800" dir="2700000" algn="bl" rotWithShape="0">
              <a:srgbClr val="AAB7C6">
                <a:alpha val="12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5" name="Text 3"/>
          <p:cNvSpPr/>
          <p:nvPr/>
        </p:nvSpPr>
        <p:spPr>
          <a:xfrm>
            <a:off x="868680" y="1417320"/>
            <a:ext cx="1463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23B5D"/>
                </a:solidFill>
              </a:rPr>
              <a:t>Accuracy</a:t>
            </a:r>
            <a:endParaRPr lang="en-US" sz="20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868680" y="1783080"/>
          <a:ext cx="4846320" cy="2011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Text 4"/>
          <p:cNvSpPr/>
          <p:nvPr/>
        </p:nvSpPr>
        <p:spPr>
          <a:xfrm>
            <a:off x="868680" y="4069080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23B5D"/>
                </a:solidFill>
              </a:rPr>
              <a:t>AUC</a:t>
            </a:r>
            <a:endParaRPr lang="en-US" sz="2000" dirty="0"/>
          </a:p>
        </p:txBody>
      </p:sp>
      <p:graphicFrame>
        <p:nvGraphicFramePr>
          <p:cNvPr id="8" name="Chart 1"/>
          <p:cNvGraphicFramePr/>
          <p:nvPr/>
        </p:nvGraphicFramePr>
        <p:xfrm>
          <a:off x="868680" y="4434840"/>
          <a:ext cx="4846320" cy="13258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0" name="Text 6"/>
          <p:cNvSpPr/>
          <p:nvPr/>
        </p:nvSpPr>
        <p:spPr>
          <a:xfrm>
            <a:off x="6355080" y="1828800"/>
            <a:ext cx="5166360" cy="20116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/>
          <a:lstStyle/>
          <a:p>
            <a:pPr marL="177800" indent="-177800">
              <a:buSzPct val="100000"/>
              <a:buChar char="•"/>
            </a:pPr>
            <a:r>
              <a:rPr lang="en-US" sz="1800" dirty="0">
                <a:solidFill>
                  <a:srgbClr val="1E293B"/>
                </a:solidFill>
              </a:rPr>
              <a:t>The semantic setting is almost perfectly separable on RDset.</a:t>
            </a:r>
            <a:endParaRPr lang="en-US" sz="1800" dirty="0"/>
          </a:p>
          <a:p>
            <a:pPr marL="177800" indent="-177800">
              <a:buSzPct val="100000"/>
              <a:buChar char="•"/>
            </a:pPr>
            <a:r>
              <a:rPr lang="en-US" sz="1800" dirty="0">
                <a:solidFill>
                  <a:srgbClr val="1E293B"/>
                </a:solidFill>
              </a:rPr>
              <a:t>The behavioural detector scores 0.6209 AUC on balanced RanSMAP (0.5680 acc); the knowledge agent achieves 0.9953 AUC on RansKnow.</a:t>
            </a:r>
            <a:endParaRPr lang="en-US" sz="1800" dirty="0"/>
          </a:p>
          <a:p>
            <a:pPr marL="177800" indent="-177800">
              <a:buSzPct val="100000"/>
              <a:buChar char="•"/>
            </a:pPr>
            <a:r>
              <a:rPr lang="en-US" sz="1800" dirty="0">
                <a:solidFill>
                  <a:srgbClr val="1E293B"/>
                </a:solidFill>
              </a:rPr>
              <a:t>This asymmetry motivates uncertainty-aware triage: the knowledge agent provides strong complementary signal when behavioural evidence is ambiguous.</a:t>
            </a:r>
            <a:endParaRPr lang="en-US" sz="1800" dirty="0"/>
          </a:p>
        </p:txBody>
      </p:sp>
      <p:sp>
        <p:nvSpPr>
          <p:cNvPr id="11" name="Shape 7"/>
          <p:cNvSpPr/>
          <p:nvPr/>
        </p:nvSpPr>
        <p:spPr>
          <a:xfrm>
            <a:off x="6766560" y="4526280"/>
            <a:ext cx="1371600" cy="841248"/>
          </a:xfrm>
          <a:prstGeom prst="roundRect">
            <a:avLst>
              <a:gd name="adj" fmla="val 8696"/>
            </a:avLst>
          </a:prstGeom>
          <a:solidFill>
            <a:srgbClr val="EEF5FF"/>
          </a:solidFill>
          <a:ln w="12700">
            <a:solidFill>
              <a:srgbClr val="DDE7F2"/>
            </a:solidFill>
            <a:prstDash val="solid"/>
          </a:ln>
          <a:effectLst>
            <a:outerShdw blurRad="12700" dist="50800" dir="2700000" algn="bl" rotWithShape="0">
              <a:srgbClr val="AAB7C6">
                <a:alpha val="12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2" name="Text 8"/>
          <p:cNvSpPr/>
          <p:nvPr/>
        </p:nvSpPr>
        <p:spPr>
          <a:xfrm>
            <a:off x="6858000" y="4663440"/>
            <a:ext cx="1188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23B5D"/>
                </a:solidFill>
              </a:rPr>
              <a:t>1.0000</a:t>
            </a:r>
            <a:endParaRPr lang="en-US" sz="2400" dirty="0"/>
          </a:p>
        </p:txBody>
      </p:sp>
      <p:sp>
        <p:nvSpPr>
          <p:cNvPr id="13" name="Text 9"/>
          <p:cNvSpPr/>
          <p:nvPr/>
        </p:nvSpPr>
        <p:spPr>
          <a:xfrm>
            <a:off x="6858000" y="5038344"/>
            <a:ext cx="1188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</a:rPr>
              <a:t>RDset accuracy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8366760" y="4526280"/>
            <a:ext cx="1371600" cy="841248"/>
          </a:xfrm>
          <a:prstGeom prst="roundRect">
            <a:avLst>
              <a:gd name="adj" fmla="val 8696"/>
            </a:avLst>
          </a:prstGeom>
          <a:solidFill>
            <a:srgbClr val="EEF5FF"/>
          </a:solidFill>
          <a:ln w="12700">
            <a:solidFill>
              <a:srgbClr val="DDE7F2"/>
            </a:solidFill>
            <a:prstDash val="solid"/>
          </a:ln>
          <a:effectLst>
            <a:outerShdw blurRad="12700" dist="50800" dir="2700000" algn="bl" rotWithShape="0">
              <a:srgbClr val="AAB7C6">
                <a:alpha val="12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5" name="Text 11"/>
          <p:cNvSpPr/>
          <p:nvPr/>
        </p:nvSpPr>
        <p:spPr>
          <a:xfrm>
            <a:off x="8458200" y="4663440"/>
            <a:ext cx="1188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23B5D"/>
                </a:solidFill>
              </a:rPr>
              <a:t>1.0000</a:t>
            </a:r>
            <a:endParaRPr lang="en-US" sz="2400" dirty="0"/>
          </a:p>
        </p:txBody>
      </p:sp>
      <p:sp>
        <p:nvSpPr>
          <p:cNvPr id="16" name="Text 12"/>
          <p:cNvSpPr/>
          <p:nvPr/>
        </p:nvSpPr>
        <p:spPr>
          <a:xfrm>
            <a:off x="8458200" y="5038344"/>
            <a:ext cx="1188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</a:rPr>
              <a:t>RDset AUC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9966960" y="4526280"/>
            <a:ext cx="1371600" cy="841248"/>
          </a:xfrm>
          <a:prstGeom prst="roundRect">
            <a:avLst>
              <a:gd name="adj" fmla="val 8696"/>
            </a:avLst>
          </a:prstGeom>
          <a:solidFill>
            <a:srgbClr val="EEF9F1"/>
          </a:solidFill>
          <a:ln w="12700">
            <a:solidFill>
              <a:srgbClr val="DDE7F2"/>
            </a:solidFill>
            <a:prstDash val="solid"/>
          </a:ln>
          <a:effectLst>
            <a:outerShdw blurRad="12700" dist="50800" dir="2700000" algn="bl" rotWithShape="0">
              <a:srgbClr val="AAB7C6">
                <a:alpha val="12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8" name="Text 14"/>
          <p:cNvSpPr/>
          <p:nvPr/>
        </p:nvSpPr>
        <p:spPr>
          <a:xfrm>
            <a:off x="10058400" y="4663440"/>
            <a:ext cx="1188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23B5D"/>
                </a:solidFill>
              </a:rPr>
              <a:t>0.5680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10058400" y="5038344"/>
            <a:ext cx="1188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</a:rPr>
              <a:t>RanSMAP acc (balanced)</a:t>
            </a:r>
            <a:endParaRPr lang="en-US" sz="1100" dirty="0"/>
          </a:p>
        </p:txBody>
      </p:sp>
      <p:sp>
        <p:nvSpPr>
          <p:cNvPr id="20" name="Shape 16"/>
          <p:cNvSpPr/>
          <p:nvPr/>
        </p:nvSpPr>
        <p:spPr>
          <a:xfrm>
            <a:off x="8366760" y="5486400"/>
            <a:ext cx="1371600" cy="566928"/>
          </a:xfrm>
          <a:prstGeom prst="roundRect">
            <a:avLst>
              <a:gd name="adj" fmla="val 12903"/>
            </a:avLst>
          </a:prstGeom>
          <a:solidFill>
            <a:srgbClr val="EEF9F1"/>
          </a:solidFill>
          <a:ln w="12700">
            <a:solidFill>
              <a:srgbClr val="DDE7F2"/>
            </a:solidFill>
            <a:prstDash val="solid"/>
          </a:ln>
          <a:effectLst>
            <a:outerShdw blurRad="12700" dist="50800" dir="2700000" algn="bl" rotWithShape="0">
              <a:srgbClr val="AAB7C6">
                <a:alpha val="12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21" name="Text 17"/>
          <p:cNvSpPr/>
          <p:nvPr/>
        </p:nvSpPr>
        <p:spPr>
          <a:xfrm>
            <a:off x="8458200" y="5623560"/>
            <a:ext cx="1188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23B5D"/>
                </a:solidFill>
              </a:rPr>
              <a:t>0.6209</a:t>
            </a:r>
            <a:endParaRPr lang="en-US" sz="2400" dirty="0"/>
          </a:p>
        </p:txBody>
      </p:sp>
      <p:sp>
        <p:nvSpPr>
          <p:cNvPr id="22" name="Text 18"/>
          <p:cNvSpPr/>
          <p:nvPr/>
        </p:nvSpPr>
        <p:spPr>
          <a:xfrm>
            <a:off x="8458200" y="5998464"/>
            <a:ext cx="1188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</a:rPr>
              <a:t>RanSMAP AUC</a:t>
            </a:r>
            <a:endParaRPr lang="en-US" sz="1100" dirty="0"/>
          </a:p>
        </p:txBody>
      </p:sp>
      <p:sp>
        <p:nvSpPr>
          <p:cNvPr id="21" name="Text 17"/>
          <p:cNvSpPr/>
          <p:nvPr/>
        </p:nvSpPr>
        <p:spPr>
          <a:xfrm>
            <a:off x="6858000" y="5623560"/>
            <a:ext cx="1188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23B5D"/>
                </a:solidFill>
              </a:rPr>
              <a:t>0.9650</a:t>
            </a:r>
            <a:endParaRPr lang="en-US" sz="2400" dirty="0"/>
          </a:p>
        </p:txBody>
      </p:sp>
      <p:sp>
        <p:nvSpPr>
          <p:cNvPr id="22" name="Text 18"/>
          <p:cNvSpPr/>
          <p:nvPr/>
        </p:nvSpPr>
        <p:spPr>
          <a:xfrm>
            <a:off x="6858000" y="5998464"/>
            <a:ext cx="1188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</a:rPr>
              <a:t>RansKnow accuracy</a:t>
            </a:r>
            <a:endParaRPr lang="en-US" sz="1100" dirty="0"/>
          </a:p>
        </p:txBody>
      </p:sp>
      <p:sp>
        <p:nvSpPr>
          <p:cNvPr id="21" name="Text 17"/>
          <p:cNvSpPr/>
          <p:nvPr/>
        </p:nvSpPr>
        <p:spPr>
          <a:xfrm>
            <a:off x="10058400" y="5623560"/>
            <a:ext cx="1188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23B5D"/>
                </a:solidFill>
              </a:rPr>
              <a:t>0.9953</a:t>
            </a:r>
            <a:endParaRPr lang="en-US" sz="2400" dirty="0"/>
          </a:p>
        </p:txBody>
      </p:sp>
      <p:sp>
        <p:nvSpPr>
          <p:cNvPr id="22" name="Text 18"/>
          <p:cNvSpPr/>
          <p:nvPr/>
        </p:nvSpPr>
        <p:spPr>
          <a:xfrm>
            <a:off x="10058400" y="5998464"/>
            <a:ext cx="1188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</a:rPr>
              <a:t>RansKnow AUC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8CA6F6B-6E9E-48C8-94F1-DB8C158E12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5825" y="276226"/>
            <a:ext cx="10420349" cy="521017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D1655175-7A44-C5F9-3461-2F8B55F79742}"/>
              </a:ext>
            </a:extLst>
          </p:cNvPr>
          <p:cNvSpPr txBox="1"/>
          <p:nvPr/>
        </p:nvSpPr>
        <p:spPr>
          <a:xfrm>
            <a:off x="47625" y="5572719"/>
            <a:ext cx="12106275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GB" sz="1800" b="0" i="0" u="none" strike="noStrike" baseline="0" dirty="0">
                <a:latin typeface="SFSS0900"/>
              </a:rPr>
              <a:t>Permutation-based feature importance for the behavioural detector, measured as the drop in AUC after permuting each feature independently. Variance- and entropy-driven memory access statistics dominate, indicating that behavioural discrimination relies on irregularity patterns rather than raw activity volume.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2637822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C4F3AF6-8624-312C-12C0-EE613112EE5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8592"/>
          <a:stretch>
            <a:fillRect/>
          </a:stretch>
        </p:blipFill>
        <p:spPr>
          <a:xfrm>
            <a:off x="9737" y="314325"/>
            <a:ext cx="12182263" cy="2065758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CD300CA6-BEB0-ADEF-36C6-786FB81B4AF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37" y="2402081"/>
            <a:ext cx="7140559" cy="287298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FB6CAD6-41B8-E56C-A337-492AA581E17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30038" y="2402082"/>
            <a:ext cx="5052224" cy="3789168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22DE609F-CCB4-3145-4C24-A2F751437450}"/>
              </a:ext>
            </a:extLst>
          </p:cNvPr>
          <p:cNvSpPr txBox="1"/>
          <p:nvPr/>
        </p:nvSpPr>
        <p:spPr>
          <a:xfrm>
            <a:off x="132751" y="5264295"/>
            <a:ext cx="6997287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GB" sz="1800" b="0" i="0" u="none" strike="noStrike" baseline="0" dirty="0">
                <a:latin typeface="SFSS0900"/>
              </a:rPr>
              <a:t>ROC curves for the evaluated settings. Left: </a:t>
            </a:r>
            <a:r>
              <a:rPr lang="en-GB" sz="1800" b="0" i="0" u="none" strike="noStrike" baseline="0" dirty="0" err="1">
                <a:latin typeface="SFSS0900"/>
              </a:rPr>
              <a:t>RanSMAP</a:t>
            </a:r>
            <a:r>
              <a:rPr lang="en-GB" sz="1800" b="0" i="0" u="none" strike="noStrike" baseline="0" dirty="0">
                <a:latin typeface="SFSS0900"/>
              </a:rPr>
              <a:t>, where behavioural signals are difficult to separate and decision-layer performance remains modest. Right: </a:t>
            </a:r>
            <a:r>
              <a:rPr lang="en-GB" sz="1800" b="0" i="0" u="none" strike="noStrike" baseline="0" dirty="0" err="1">
                <a:latin typeface="SFSS0900"/>
              </a:rPr>
              <a:t>RDset</a:t>
            </a:r>
            <a:r>
              <a:rPr lang="en-GB" sz="1800" b="0" i="0" u="none" strike="noStrike" baseline="0" dirty="0">
                <a:latin typeface="SFSS0900"/>
              </a:rPr>
              <a:t>, where the semantic detector already saturates and near-perfect discrimination is preserved.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98417146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285CAC2-11FC-05DD-C625-742B6DB8F34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12571" y="279918"/>
            <a:ext cx="6966858" cy="5225143"/>
          </a:xfrm>
          <a:prstGeom prst="rect">
            <a:avLst/>
          </a:prstGeom>
        </p:spPr>
      </p:pic>
      <p:sp>
        <p:nvSpPr>
          <p:cNvPr id="4" name="Text 6">
            <a:extLst>
              <a:ext uri="{FF2B5EF4-FFF2-40B4-BE49-F238E27FC236}">
                <a16:creationId xmlns:a16="http://schemas.microsoft.com/office/drawing/2014/main" id="{DB601FC8-E1C4-F4FA-6AAE-52922DA0D1EC}"/>
              </a:ext>
            </a:extLst>
          </p:cNvPr>
          <p:cNvSpPr/>
          <p:nvPr/>
        </p:nvSpPr>
        <p:spPr>
          <a:xfrm>
            <a:off x="233266" y="5533053"/>
            <a:ext cx="11700587" cy="98344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/>
          <a:lstStyle/>
          <a:p>
            <a:r>
              <a:rPr lang="en-GB" dirty="0"/>
              <a:t>Triage policy geometry in the (</a:t>
            </a:r>
            <a:r>
              <a:rPr lang="en-GB" i="1" dirty="0"/>
              <a:t>𝑝̂, 𝜎</a:t>
            </a:r>
            <a:r>
              <a:rPr lang="en-GB" dirty="0"/>
              <a:t>max) space. Horizontal and vertical thresholds correspond to the analytical decision</a:t>
            </a:r>
          </a:p>
          <a:p>
            <a:r>
              <a:rPr lang="en-GB" dirty="0"/>
              <a:t>rules partitioning the space into ALLOW, ESCALATE, and AUTO-CONTAIN regions. Uncertainty</a:t>
            </a:r>
          </a:p>
          <a:p>
            <a:r>
              <a:rPr lang="en-GB" dirty="0"/>
              <a:t>acts as a stabilising control variable, limiting overconfident automatic containment.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88359227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34791"/>
            <a:ext cx="10607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23B5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Explainability: what drives the detectors?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732456" y="701657"/>
            <a:ext cx="5440680" cy="5074920"/>
          </a:xfrm>
          <a:prstGeom prst="roundRect">
            <a:avLst>
              <a:gd name="adj" fmla="val 1441"/>
            </a:avLst>
          </a:prstGeom>
          <a:solidFill>
            <a:srgbClr val="FFFFFF"/>
          </a:solidFill>
          <a:ln w="12700">
            <a:solidFill>
              <a:srgbClr val="D7E2EE"/>
            </a:solidFill>
            <a:prstDash val="solid"/>
          </a:ln>
          <a:effectLst>
            <a:outerShdw blurRad="12700" dist="50800" dir="2700000" algn="bl" rotWithShape="0">
              <a:srgbClr val="AAB7C6">
                <a:alpha val="12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4" name="Shape 2"/>
          <p:cNvSpPr/>
          <p:nvPr/>
        </p:nvSpPr>
        <p:spPr>
          <a:xfrm>
            <a:off x="6409201" y="646793"/>
            <a:ext cx="5166360" cy="5074920"/>
          </a:xfrm>
          <a:prstGeom prst="roundRect">
            <a:avLst>
              <a:gd name="adj" fmla="val 1441"/>
            </a:avLst>
          </a:prstGeom>
          <a:solidFill>
            <a:srgbClr val="FFFFFF"/>
          </a:solidFill>
          <a:ln w="12700">
            <a:solidFill>
              <a:srgbClr val="D7E2EE"/>
            </a:solidFill>
            <a:prstDash val="solid"/>
          </a:ln>
          <a:effectLst>
            <a:outerShdw blurRad="12700" dist="50800" dir="2700000" algn="bl" rotWithShape="0">
              <a:srgbClr val="AAB7C6">
                <a:alpha val="12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5" name="Shape 3"/>
          <p:cNvSpPr/>
          <p:nvPr/>
        </p:nvSpPr>
        <p:spPr>
          <a:xfrm>
            <a:off x="933997" y="737112"/>
            <a:ext cx="4572000" cy="411480"/>
          </a:xfrm>
          <a:prstGeom prst="roundRect">
            <a:avLst>
              <a:gd name="adj" fmla="val 26667"/>
            </a:avLst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Text 4"/>
          <p:cNvSpPr/>
          <p:nvPr/>
        </p:nvSpPr>
        <p:spPr>
          <a:xfrm>
            <a:off x="1477971" y="763984"/>
            <a:ext cx="3712651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Behavioural detector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33997" y="1194312"/>
            <a:ext cx="4572000" cy="2560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/>
          <a:lstStyle/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1E293B"/>
                </a:solidFill>
              </a:rPr>
              <a:t>Permutation importance highlights dispersion-related telemetry features.</a:t>
            </a:r>
            <a:endParaRPr lang="en-US" sz="1700" dirty="0"/>
          </a:p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1E293B"/>
                </a:solidFill>
              </a:rPr>
              <a:t>Most influential examples: read/write LBA variance and memory GPA variance.</a:t>
            </a:r>
            <a:endParaRPr lang="en-US" sz="1700" dirty="0"/>
          </a:p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1E293B"/>
                </a:solidFill>
              </a:rPr>
              <a:t>Counterfactuals show only small relative changes can push a high-risk sample below the target threshold.</a:t>
            </a:r>
            <a:endParaRPr lang="en-US" sz="1700" dirty="0"/>
          </a:p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1E293B"/>
                </a:solidFill>
              </a:rPr>
              <a:t>Interpretation: the model relies on irregularity patterns rather than raw activity volume.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002577" y="3612900"/>
            <a:ext cx="4892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23B5D"/>
                </a:solidFill>
              </a:rPr>
              <a:t>Representative behavioural counterfactuals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6603277" y="625146"/>
            <a:ext cx="4785360" cy="487431"/>
          </a:xfrm>
          <a:prstGeom prst="roundRect">
            <a:avLst>
              <a:gd name="adj" fmla="val 26667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Text 8"/>
          <p:cNvSpPr/>
          <p:nvPr/>
        </p:nvSpPr>
        <p:spPr>
          <a:xfrm>
            <a:off x="6603277" y="691392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Semantic detector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6603277" y="1194312"/>
            <a:ext cx="4434840" cy="2560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/>
          <a:lstStyle/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1E293B"/>
                </a:solidFill>
              </a:rPr>
              <a:t>Gradient saliency highlights embedding directions tied to entropy and PE structural irregularities.</a:t>
            </a:r>
            <a:endParaRPr lang="en-US" sz="1700" dirty="0"/>
          </a:p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1E293B"/>
                </a:solidFill>
              </a:rPr>
              <a:t>Permutation importance in latent space is consistent with gradient magnitude patterns.</a:t>
            </a:r>
            <a:endParaRPr lang="en-US" sz="1700" dirty="0"/>
          </a:p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1E293B"/>
                </a:solidFill>
              </a:rPr>
              <a:t>Across 50 borderline-malicious samples, semantic counterfactuals flipped labels with small perturbations.</a:t>
            </a:r>
            <a:endParaRPr lang="en-US" sz="1700" dirty="0"/>
          </a:p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1E293B"/>
                </a:solidFill>
              </a:rPr>
              <a:t>Mean counterfactual norm: 3.27; observed flip success: 100% in the evaluated sample set.</a:t>
            </a:r>
            <a:endParaRPr lang="en-US" sz="1700" dirty="0"/>
          </a:p>
        </p:txBody>
      </p:sp>
      <p:sp>
        <p:nvSpPr>
          <p:cNvPr id="13" name="Shape 10"/>
          <p:cNvSpPr/>
          <p:nvPr/>
        </p:nvSpPr>
        <p:spPr>
          <a:xfrm>
            <a:off x="7216765" y="3810521"/>
            <a:ext cx="1234440" cy="822960"/>
          </a:xfrm>
          <a:prstGeom prst="roundRect">
            <a:avLst>
              <a:gd name="adj" fmla="val 8889"/>
            </a:avLst>
          </a:prstGeom>
          <a:solidFill>
            <a:srgbClr val="EEF5FF"/>
          </a:solidFill>
          <a:ln w="12700">
            <a:solidFill>
              <a:srgbClr val="DDE7F2"/>
            </a:solidFill>
            <a:prstDash val="solid"/>
          </a:ln>
          <a:effectLst>
            <a:outerShdw blurRad="12700" dist="50800" dir="2700000" algn="bl" rotWithShape="0">
              <a:srgbClr val="AAB7C6">
                <a:alpha val="12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4" name="Text 11"/>
          <p:cNvSpPr/>
          <p:nvPr/>
        </p:nvSpPr>
        <p:spPr>
          <a:xfrm>
            <a:off x="7315670" y="3937862"/>
            <a:ext cx="1051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23B5D"/>
                </a:solidFill>
              </a:rPr>
              <a:t>3.27</a:t>
            </a:r>
            <a:endParaRPr lang="en-US" sz="2400" dirty="0"/>
          </a:p>
        </p:txBody>
      </p:sp>
      <p:sp>
        <p:nvSpPr>
          <p:cNvPr id="15" name="Text 12"/>
          <p:cNvSpPr/>
          <p:nvPr/>
        </p:nvSpPr>
        <p:spPr>
          <a:xfrm>
            <a:off x="7315670" y="4360981"/>
            <a:ext cx="10515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</a:rPr>
              <a:t>Mean $||Delta z||_2$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8698932" y="3810521"/>
            <a:ext cx="1234440" cy="822960"/>
          </a:xfrm>
          <a:prstGeom prst="roundRect">
            <a:avLst>
              <a:gd name="adj" fmla="val 8889"/>
            </a:avLst>
          </a:prstGeom>
          <a:solidFill>
            <a:srgbClr val="EEF5FF"/>
          </a:solidFill>
          <a:ln w="12700">
            <a:solidFill>
              <a:srgbClr val="DDE7F2"/>
            </a:solidFill>
            <a:prstDash val="solid"/>
          </a:ln>
          <a:effectLst>
            <a:outerShdw blurRad="12700" dist="50800" dir="2700000" algn="bl" rotWithShape="0">
              <a:srgbClr val="AAB7C6">
                <a:alpha val="12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7" name="Text 14"/>
          <p:cNvSpPr/>
          <p:nvPr/>
        </p:nvSpPr>
        <p:spPr>
          <a:xfrm>
            <a:off x="8732989" y="3967241"/>
            <a:ext cx="1051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23B5D"/>
                </a:solidFill>
              </a:rPr>
              <a:t>0.49</a:t>
            </a:r>
            <a:endParaRPr lang="en-US" sz="2400" dirty="0"/>
          </a:p>
        </p:txBody>
      </p:sp>
      <p:sp>
        <p:nvSpPr>
          <p:cNvPr id="18" name="Text 15"/>
          <p:cNvSpPr/>
          <p:nvPr/>
        </p:nvSpPr>
        <p:spPr>
          <a:xfrm>
            <a:off x="8786640" y="4343417"/>
            <a:ext cx="10515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</a:rPr>
              <a:t>Target threshold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10169437" y="3810521"/>
            <a:ext cx="1234440" cy="822960"/>
          </a:xfrm>
          <a:prstGeom prst="roundRect">
            <a:avLst>
              <a:gd name="adj" fmla="val 8889"/>
            </a:avLst>
          </a:prstGeom>
          <a:solidFill>
            <a:srgbClr val="EEF5FF"/>
          </a:solidFill>
          <a:ln w="12700">
            <a:solidFill>
              <a:srgbClr val="DDE7F2"/>
            </a:solidFill>
            <a:prstDash val="solid"/>
          </a:ln>
          <a:effectLst>
            <a:outerShdw blurRad="12700" dist="50800" dir="2700000" algn="bl" rotWithShape="0">
              <a:srgbClr val="AAB7C6">
                <a:alpha val="12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20" name="Text 17"/>
          <p:cNvSpPr/>
          <p:nvPr/>
        </p:nvSpPr>
        <p:spPr>
          <a:xfrm>
            <a:off x="10233041" y="3937862"/>
            <a:ext cx="1051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23B5D"/>
                </a:solidFill>
              </a:rPr>
              <a:t>100%</a:t>
            </a:r>
            <a:endParaRPr lang="en-US" sz="2400" dirty="0"/>
          </a:p>
        </p:txBody>
      </p:sp>
      <p:sp>
        <p:nvSpPr>
          <p:cNvPr id="21" name="Text 18"/>
          <p:cNvSpPr/>
          <p:nvPr/>
        </p:nvSpPr>
        <p:spPr>
          <a:xfrm>
            <a:off x="10260877" y="4323753"/>
            <a:ext cx="10515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</a:rPr>
              <a:t>Flip success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6466897" y="4679055"/>
            <a:ext cx="5217990" cy="34343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4748B"/>
                </a:solidFill>
              </a:rPr>
              <a:t>Counterfactual norms describe local sensitivity, not formal adversarial robustness guarantees.</a:t>
            </a:r>
            <a:endParaRPr lang="en-US" sz="1300" dirty="0"/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323F9B78-D3D1-1D3B-23B7-0BC97A967C8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0558" y="4405952"/>
            <a:ext cx="5322306" cy="1067174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2B0308A-FEBC-37E5-4CF1-AC15E1AF94C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01922" y="489988"/>
            <a:ext cx="6507027" cy="5057053"/>
          </a:xfrm>
          <a:prstGeom prst="rect">
            <a:avLst/>
          </a:prstGeom>
        </p:spPr>
      </p:pic>
      <p:sp>
        <p:nvSpPr>
          <p:cNvPr id="4" name="Text 6">
            <a:extLst>
              <a:ext uri="{FF2B5EF4-FFF2-40B4-BE49-F238E27FC236}">
                <a16:creationId xmlns:a16="http://schemas.microsoft.com/office/drawing/2014/main" id="{1B6C8162-97CE-2A2F-BABF-2D289BD967E8}"/>
              </a:ext>
            </a:extLst>
          </p:cNvPr>
          <p:cNvSpPr/>
          <p:nvPr/>
        </p:nvSpPr>
        <p:spPr>
          <a:xfrm>
            <a:off x="108024" y="5507492"/>
            <a:ext cx="12078749" cy="939961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/>
          <a:lstStyle/>
          <a:p>
            <a:r>
              <a:rPr lang="en-GB" dirty="0"/>
              <a:t>Semantic counterfactual diagnostics for </a:t>
            </a:r>
            <a:r>
              <a:rPr lang="en-GB" i="1" dirty="0"/>
              <a:t>𝑁 </a:t>
            </a:r>
            <a:r>
              <a:rPr lang="en-GB" dirty="0"/>
              <a:t>= 50 borderline-malicious samples. (Top-left) Distribution of counterfactual</a:t>
            </a:r>
          </a:p>
          <a:p>
            <a:r>
              <a:rPr lang="en-GB" dirty="0"/>
              <a:t>distance ‖Δ</a:t>
            </a:r>
            <a:r>
              <a:rPr lang="en-GB" i="1" dirty="0"/>
              <a:t>𝑧</a:t>
            </a:r>
            <a:r>
              <a:rPr lang="en-GB" dirty="0"/>
              <a:t>‖2. (Top-right) Distribution of relative distance ‖Δ</a:t>
            </a:r>
            <a:r>
              <a:rPr lang="en-GB" i="1" dirty="0"/>
              <a:t>𝑧</a:t>
            </a:r>
            <a:r>
              <a:rPr lang="en-GB" dirty="0"/>
              <a:t>‖2∕‖</a:t>
            </a:r>
            <a:r>
              <a:rPr lang="en-GB" i="1" dirty="0"/>
              <a:t>𝑧</a:t>
            </a:r>
            <a:r>
              <a:rPr lang="en-GB" dirty="0"/>
              <a:t>‖2. (Bottom-left) Relationship between original semantic score </a:t>
            </a:r>
            <a:r>
              <a:rPr lang="en-GB" i="1" dirty="0"/>
              <a:t>𝑝_</a:t>
            </a:r>
            <a:r>
              <a:rPr lang="en-GB" dirty="0" err="1"/>
              <a:t>sem</a:t>
            </a:r>
            <a:r>
              <a:rPr lang="en-GB" dirty="0"/>
              <a:t> and ‖Δ</a:t>
            </a:r>
            <a:r>
              <a:rPr lang="en-GB" i="1" dirty="0"/>
              <a:t>𝑧</a:t>
            </a:r>
            <a:r>
              <a:rPr lang="en-GB" dirty="0"/>
              <a:t>‖2. (Bottom-right) Optimisation steps required to reach the target </a:t>
            </a:r>
            <a:r>
              <a:rPr lang="en-GB" i="1" dirty="0"/>
              <a:t>𝜃 </a:t>
            </a:r>
            <a:r>
              <a:rPr lang="en-GB" dirty="0"/>
              <a:t>= 0</a:t>
            </a:r>
            <a:r>
              <a:rPr lang="en-GB" i="1" dirty="0"/>
              <a:t>.</a:t>
            </a:r>
            <a:r>
              <a:rPr lang="en-GB" dirty="0"/>
              <a:t>49.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337145741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0607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23B5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Main contribution, limitations, and future work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685800" y="1143000"/>
            <a:ext cx="5577840" cy="5074920"/>
          </a:xfrm>
          <a:prstGeom prst="roundRect">
            <a:avLst>
              <a:gd name="adj" fmla="val 1441"/>
            </a:avLst>
          </a:prstGeom>
          <a:solidFill>
            <a:srgbClr val="EEF9F1"/>
          </a:solidFill>
          <a:ln w="12700">
            <a:solidFill>
              <a:srgbClr val="D7E2EE"/>
            </a:solidFill>
            <a:prstDash val="solid"/>
          </a:ln>
          <a:effectLst>
            <a:outerShdw blurRad="12700" dist="50800" dir="2700000" algn="bl" rotWithShape="0">
              <a:srgbClr val="AAB7C6">
                <a:alpha val="12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4" name="Shape 2"/>
          <p:cNvSpPr/>
          <p:nvPr/>
        </p:nvSpPr>
        <p:spPr>
          <a:xfrm>
            <a:off x="6400800" y="1143000"/>
            <a:ext cx="5074920" cy="5074920"/>
          </a:xfrm>
          <a:prstGeom prst="roundRect">
            <a:avLst>
              <a:gd name="adj" fmla="val 1441"/>
            </a:avLst>
          </a:prstGeom>
          <a:solidFill>
            <a:srgbClr val="FEF2F2"/>
          </a:solidFill>
          <a:ln w="12700">
            <a:solidFill>
              <a:srgbClr val="D7E2EE"/>
            </a:solidFill>
            <a:prstDash val="solid"/>
          </a:ln>
          <a:effectLst>
            <a:outerShdw blurRad="12700" dist="50800" dir="2700000" algn="bl" rotWithShape="0">
              <a:srgbClr val="AAB7C6">
                <a:alpha val="12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5" name="Shape 3"/>
          <p:cNvSpPr/>
          <p:nvPr/>
        </p:nvSpPr>
        <p:spPr>
          <a:xfrm>
            <a:off x="685799" y="845820"/>
            <a:ext cx="5577839" cy="297180"/>
          </a:xfrm>
          <a:prstGeom prst="roundRect">
            <a:avLst>
              <a:gd name="adj" fmla="val 26667"/>
            </a:avLst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Text 4"/>
          <p:cNvSpPr/>
          <p:nvPr/>
        </p:nvSpPr>
        <p:spPr>
          <a:xfrm>
            <a:off x="685800" y="891540"/>
            <a:ext cx="5410200" cy="2514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Main contribution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85798" y="1595255"/>
            <a:ext cx="5577839" cy="223188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23B5D"/>
                </a:solidFill>
              </a:rPr>
              <a:t>SABRE’s practical value is a transparent uncertainty-aware decision process that links predictive risk to analyst escalation and automated response.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1005840" y="4202041"/>
            <a:ext cx="4754880" cy="18288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/>
          <a:lstStyle/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1E293B"/>
                </a:solidFill>
              </a:rPr>
              <a:t>Works especially well when evidence quality differs across detectors.</a:t>
            </a:r>
            <a:endParaRPr lang="en-US" sz="1700" dirty="0"/>
          </a:p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1E293B"/>
                </a:solidFill>
              </a:rPr>
              <a:t>Supports selective automation instead of all-or-nothing autonomous action.</a:t>
            </a:r>
            <a:endParaRPr lang="en-US" sz="1700" dirty="0"/>
          </a:p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1E293B"/>
                </a:solidFill>
              </a:rPr>
              <a:t>Makes uncertainty operational rather than merely descriptive.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6400800" y="795528"/>
            <a:ext cx="5074920" cy="347472"/>
          </a:xfrm>
          <a:prstGeom prst="roundRect">
            <a:avLst>
              <a:gd name="adj" fmla="val 26667"/>
            </a:avLst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Text 8"/>
          <p:cNvSpPr/>
          <p:nvPr/>
        </p:nvSpPr>
        <p:spPr>
          <a:xfrm>
            <a:off x="6400798" y="870966"/>
            <a:ext cx="4973216" cy="1965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Limitations &amp; next steps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583680" y="1783080"/>
            <a:ext cx="4389120" cy="32004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/>
          <a:lstStyle/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1E293B"/>
                </a:solidFill>
              </a:rPr>
              <a:t>RDset and RanSMAP are complementary, not matched multimodal views.</a:t>
            </a:r>
            <a:endParaRPr lang="en-US" sz="1700" dirty="0"/>
          </a:p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1E293B"/>
                </a:solidFill>
              </a:rPr>
              <a:t>Adaptive MC Dropout (convergence-based T, max T=50) mitigates fixed-T bias; static T=10 available for reproducibility.</a:t>
            </a:r>
            <a:endParaRPr lang="en-US" sz="1700" dirty="0"/>
          </a:p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1E293B"/>
                </a:solidFill>
              </a:rPr>
              <a:t>Counterfactuals are continuous-space explanations, not executable attack transformations.</a:t>
            </a:r>
            <a:endParaRPr lang="en-US" sz="1700" dirty="0"/>
          </a:p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1E293B"/>
                </a:solidFill>
              </a:rPr>
              <a:t>Future work: matched multimodal datasets, richer behavioural models, threshold stability across distribution shifts.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8272521" y="5270303"/>
            <a:ext cx="2654559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23B5D"/>
                </a:solidFill>
              </a:rPr>
              <a:t>Bottom line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6629400" y="5550408"/>
            <a:ext cx="4297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</a:rPr>
              <a:t>The triage layer is modular and can be recalibrated or upgraded without redesigning the whole system.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143000"/>
            <a:ext cx="4114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23B5D"/>
                </a:solidFill>
              </a:rPr>
              <a:t>Thank you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841248" y="182880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563EB"/>
                </a:solidFill>
              </a:rPr>
              <a:t>Questions?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868680" y="2743200"/>
            <a:ext cx="3474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23B5D"/>
                </a:solidFill>
              </a:rPr>
              <a:t>Suggested discussion prompts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914400" y="3154680"/>
            <a:ext cx="4754880" cy="18288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/>
          <a:lstStyle/>
          <a:p>
            <a:pPr marL="177800" indent="-177800">
              <a:buSzPct val="100000"/>
              <a:buChar char="•"/>
            </a:pPr>
            <a:r>
              <a:rPr lang="en-US" sz="1800" dirty="0">
                <a:solidFill>
                  <a:srgbClr val="1E293B"/>
                </a:solidFill>
              </a:rPr>
              <a:t>Why use uncertainty in the triage layer instead of only for calibration?</a:t>
            </a:r>
            <a:endParaRPr lang="en-US" sz="1800" dirty="0"/>
          </a:p>
          <a:p>
            <a:pPr marL="177800" indent="-177800">
              <a:buSzPct val="100000"/>
              <a:buChar char="•"/>
            </a:pPr>
            <a:r>
              <a:rPr lang="en-US" sz="1800" dirty="0">
                <a:solidFill>
                  <a:srgbClr val="1E293B"/>
                </a:solidFill>
              </a:rPr>
              <a:t>How would SABRE change with matched static + runtime datasets?</a:t>
            </a:r>
            <a:endParaRPr lang="en-US" sz="1800" dirty="0"/>
          </a:p>
          <a:p>
            <a:pPr marL="177800" indent="-177800">
              <a:buSzPct val="100000"/>
              <a:buChar char="•"/>
            </a:pPr>
            <a:r>
              <a:rPr lang="en-US" sz="1800" dirty="0">
                <a:solidFill>
                  <a:srgbClr val="1E293B"/>
                </a:solidFill>
              </a:rPr>
              <a:t>What would make the behavioural component stronger in future work?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583680" y="1097280"/>
            <a:ext cx="4297680" cy="4480560"/>
          </a:xfrm>
          <a:prstGeom prst="roundRect">
            <a:avLst>
              <a:gd name="adj" fmla="val 1702"/>
            </a:avLst>
          </a:prstGeom>
          <a:solidFill>
            <a:srgbClr val="EEF5FF"/>
          </a:solidFill>
          <a:ln w="12700">
            <a:solidFill>
              <a:srgbClr val="D7E2EE"/>
            </a:solidFill>
            <a:prstDash val="solid"/>
          </a:ln>
          <a:effectLst>
            <a:outerShdw blurRad="12700" dist="50800" dir="2700000" algn="bl" rotWithShape="0">
              <a:srgbClr val="AAB7C6">
                <a:alpha val="12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8" name="Text 6"/>
          <p:cNvSpPr/>
          <p:nvPr/>
        </p:nvSpPr>
        <p:spPr>
          <a:xfrm>
            <a:off x="6522723" y="1874519"/>
            <a:ext cx="4655350" cy="377983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</a:rPr>
              <a:t>SABRE combines semantic, behavioural, and knowledge evidence with uncertainty-aware triage.</a:t>
            </a:r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</a:rPr>
              <a:t>Its strongest contribution is not uniform accuracy gains, but safer decision routing under uneven evidence quality.</a:t>
            </a:r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</a:rPr>
              <a:t>That makes it practically relevant for ransomware response settings where incorrect automation is costly.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1044</Words>
  <Application>Microsoft Office PowerPoint</Application>
  <PresentationFormat>Widescreen</PresentationFormat>
  <Paragraphs>165</Paragraphs>
  <Slides>15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0" baseType="lpstr">
      <vt:lpstr>Aptos</vt:lpstr>
      <vt:lpstr>Aptos Display</vt:lpstr>
      <vt:lpstr>Arial</vt:lpstr>
      <vt:lpstr>SFSS0900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OpenAI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SABRE: Uncertainty-Aware Modular Semantic-Behavioural Triage Framework</dc:title>
  <dc:subject>SABRE presentation</dc:subject>
  <dc:creator>OpenAI</dc:creator>
  <cp:lastModifiedBy>henry.kabuye</cp:lastModifiedBy>
  <cp:revision>6</cp:revision>
  <dcterms:created xsi:type="dcterms:W3CDTF">2026-03-31T22:53:36Z</dcterms:created>
  <dcterms:modified xsi:type="dcterms:W3CDTF">2026-04-14T14:42:25Z</dcterms:modified>
</cp:coreProperties>
</file>