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0F6125-AD4F-4390-8143-FAD7492F80A4}" v="1" dt="2026-06-21T09:44:1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.kabuye" userId="eb11684c-b2f7-47c6-a059-9031b708ef9b" providerId="ADAL" clId="{1DFA72CE-DF62-41DC-8B30-16B405C245CA}"/>
    <pc:docChg chg="undo custSel addSld modSld">
      <pc:chgData name="henry.kabuye" userId="eb11684c-b2f7-47c6-a059-9031b708ef9b" providerId="ADAL" clId="{1DFA72CE-DF62-41DC-8B30-16B405C245CA}" dt="2026-06-21T09:44:26.099" v="470" actId="20577"/>
      <pc:docMkLst>
        <pc:docMk/>
      </pc:docMkLst>
      <pc:sldChg chg="addSp modSp mod modNotesTx">
        <pc:chgData name="henry.kabuye" userId="eb11684c-b2f7-47c6-a059-9031b708ef9b" providerId="ADAL" clId="{1DFA72CE-DF62-41DC-8B30-16B405C245CA}" dt="2026-06-21T09:44:26.099" v="470" actId="2057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B1D47-7EB9-495F-910C-5E84AC88B3D2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63B8E-CF84-4F92-AA2A-7DA4777F7E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9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(SOAR) Security Orchestration, Automation, and 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63B8E-CF84-4F92-AA2A-7DA4777F7E3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37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26D734-BB84-4B5D-B2FB-B4CB1433B20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2C794C3-63F5-4946-9F0B-C9C200E4C2C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0B3A6AA-EFAF-4773-B718-E1BFE506EB9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9C88473-6230-46CC-868F-A170452777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150DF31-D437-4EFE-804D-237735C5738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7ED5FA-50FA-4861-BEB2-6888074DBA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99EF5DC-C6A0-4637-A527-E448B8127EB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990EB54-B3C8-4A42-A772-60530E29B8D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C5D4861-3354-425B-93D2-A43DFDF7192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D62665C-CD25-4B27-8604-9F034B69D10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19D5348-F5F3-4B70-95B6-B63FBE34EB2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AB1ED1-0994-4375-89E1-243963F3559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881360" y="65745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SABRE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9824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A82997A-95BD-4EBB-BB8A-124776ABEA7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BF2C8FB-A3B5-41CF-8D4E-70B0114497D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DA8677F-C50F-45FD-BFE3-60A07D1FBB5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E28D95E-EE22-41D0-95CC-B15079D9BC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8532630-0469-4331-8F51-FC22C768026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5E0281E-E158-4122-A6C7-93D322A4774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981B0AF-A7E3-42FC-9167-341BD9E1799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2780F5-506B-4AB2-99EE-A68BB3C4912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16B6BF-17C7-4900-A8A0-6B473E4AE3C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FF2648-9CA1-4D5C-9703-EF07FF67E85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254F54B-A51B-449E-B793-DB85B126A5E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199D485-5E39-4344-AF62-5D705CC334E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GB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837D5B-E7DC-4227-8524-1275A7173182}" type="slidenum">
              <a:rPr lang="en-GB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GB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7F5EB3-8782-4C38-A8C2-14157A845EBF}" type="slidenum">
              <a:rPr lang="en-GB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1470600" y="2845080"/>
            <a:ext cx="9142920" cy="264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E293B"/>
                </a:solidFill>
                <a:latin typeface="Aptos"/>
              </a:rPr>
              <a:t>An Uncertainty-Aware Multi-Agent Framework for Adaptive Ransomware Detection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rgbClr val="1E293B"/>
                </a:solidFill>
                <a:latin typeface="Aptos"/>
              </a:rPr>
              <a:t>Henry Kabuye  ·  PhD Student  ·  Northumbria University</a:t>
            </a:r>
            <a:endParaRPr lang="en-US" sz="14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1E293B"/>
                </a:solidFill>
                <a:latin typeface="Aptos"/>
              </a:rPr>
              <a:t>Principle Supervisor: Dr. Biju Issac </a:t>
            </a:r>
            <a:endParaRPr lang="en-US" sz="13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1E293B"/>
                </a:solidFill>
                <a:latin typeface="Aptos"/>
              </a:rPr>
              <a:t>Secondary Supervisor: Dr. Neera Jeyamohan</a:t>
            </a:r>
            <a:endParaRPr lang="en-US" sz="13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" b="0" strike="noStrike" spc="-1" dirty="0">
                <a:solidFill>
                  <a:srgbClr val="000000"/>
                </a:solidFill>
                <a:latin typeface="Aptos"/>
              </a:rPr>
              <a:t> </a:t>
            </a:r>
            <a:endParaRPr lang="en-US" sz="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156082"/>
                </a:solidFill>
                <a:latin typeface="Aptos"/>
              </a:rPr>
              <a:t>Semantic  ·  Behavioural  ·  Knowledge agents  —  Decision MLP  —  Triage Policy</a:t>
            </a:r>
            <a:endParaRPr lang="en-US" sz="13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E97132"/>
                </a:solidFill>
                <a:latin typeface="Aptos"/>
              </a:rPr>
              <a:t>NEW: Per-Agent Peer Consultation  +  Expert Feedback Loop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83" name="Straight Connector 4"/>
          <p:cNvSpPr/>
          <p:nvPr/>
        </p:nvSpPr>
        <p:spPr>
          <a:xfrm>
            <a:off x="190800" y="2676176"/>
            <a:ext cx="1179828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84" name="Picture 8"/>
          <p:cNvPicPr/>
          <p:nvPr/>
        </p:nvPicPr>
        <p:blipFill>
          <a:blip r:embed="rId2"/>
          <a:stretch/>
        </p:blipFill>
        <p:spPr>
          <a:xfrm>
            <a:off x="6939360" y="5858280"/>
            <a:ext cx="2726640" cy="73512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0"/>
          <p:cNvPicPr/>
          <p:nvPr/>
        </p:nvPicPr>
        <p:blipFill>
          <a:blip r:embed="rId3"/>
          <a:stretch/>
        </p:blipFill>
        <p:spPr>
          <a:xfrm>
            <a:off x="3173760" y="5861160"/>
            <a:ext cx="3472920" cy="74520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1371960" y="1519560"/>
            <a:ext cx="9142920" cy="99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1E293B"/>
                </a:solidFill>
                <a:latin typeface="Aptos Display"/>
              </a:rPr>
              <a:t>Agentic SABRE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981400" y="3310920"/>
            <a:ext cx="214920" cy="23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5ADCD2-8A9E-8BD6-BF67-99B5F421988C}"/>
              </a:ext>
            </a:extLst>
          </p:cNvPr>
          <p:cNvGrpSpPr/>
          <p:nvPr/>
        </p:nvGrpSpPr>
        <p:grpSpPr>
          <a:xfrm>
            <a:off x="10906200" y="5645516"/>
            <a:ext cx="960844" cy="1098062"/>
            <a:chOff x="10906200" y="5645516"/>
            <a:chExt cx="960844" cy="10980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1D9DB1-4B7B-6CC6-9DFE-F280357A1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6200" y="5645516"/>
              <a:ext cx="960844" cy="9608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2BBEFEE-F67F-6380-2E63-9AC4698D5FBD}"/>
                </a:ext>
              </a:extLst>
            </p:cNvPr>
            <p:cNvSpPr txBox="1"/>
            <p:nvPr/>
          </p:nvSpPr>
          <p:spPr>
            <a:xfrm>
              <a:off x="11082692" y="6528134"/>
              <a:ext cx="6078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b="1" dirty="0"/>
                <a:t>LinkedIn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DA85738-3351-7414-B288-55128EB4C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68" y="5931789"/>
            <a:ext cx="2218064" cy="704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2688" y="128930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32688" y="1335024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72768" y="1252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86200" y="12618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Why ransomware detection needs an Agentic approach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9384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2075688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2039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Framework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86200" y="204825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How SABRE combines two detectors with a score-level triage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15768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32688" y="2862072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32688" y="2907792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Data &amp; evaluation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199" y="2825496"/>
            <a:ext cx="710626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RDset and RanSMAP as complementary semantic, behavioural and Discourse settings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02152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32688" y="3648456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32688" y="3694176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72768" y="3611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Results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86200" y="36210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Uncertainty-Aware Triage Policy Results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288536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32688" y="443484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32688" y="4480560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72768" y="43982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Peer Consultation &amp; Feedback loop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86200" y="44074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Inference, Analyst, Feedback Log and Retrain MLP 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07492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32688" y="522122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32688" y="5266944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72768" y="5184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Conclusion &amp; Future work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86200" y="519379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Operational contributions, limitations, and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Aptos Display"/>
              </a:rPr>
              <a:t>Why Ransomware Detection Needs an Agentic Approach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>
                <a:solidFill>
                  <a:srgbClr val="156082"/>
                </a:solidFill>
                <a:latin typeface="Aptos"/>
              </a:rPr>
              <a:t>Ransomware is operationally diverse</a:t>
            </a:r>
            <a:endParaRPr lang="en-US" sz="16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Polymorphism, obfuscation and behavioural drift defeat static signatures</a:t>
            </a:r>
            <a:endParaRPr lang="en-US" sz="13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Runtime behaviour is noisy and imbalanced across real deployments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>
                <a:solidFill>
                  <a:srgbClr val="156082"/>
                </a:solidFill>
                <a:latin typeface="Aptos"/>
              </a:rPr>
              <a:t>Standard ML gives point predictions — no uncertainty signal</a:t>
            </a:r>
            <a:endParaRPr lang="en-US" sz="16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Aggressive threshold → false positives, unnecessary containment, ops disruption</a:t>
            </a:r>
            <a:endParaRPr lang="en-US" sz="13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Conservative threshold → missed threats, analyst overload</a:t>
            </a:r>
            <a:endParaRPr lang="en-US" sz="13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Out-of-distribution samples make confidence values misleading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>
                <a:solidFill>
                  <a:srgbClr val="156082"/>
                </a:solidFill>
                <a:latin typeface="Aptos"/>
              </a:rPr>
              <a:t>Three independent evidence streams: static PE · runtime behaviour · threat intel</a:t>
            </a:r>
            <a:endParaRPr lang="en-US" sz="16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No single modality dominates across all sample types</a:t>
            </a:r>
            <a:endParaRPr lang="en-US" sz="1300" b="0" strike="noStrike" spc="-1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>
                <a:solidFill>
                  <a:srgbClr val="1E293B"/>
                </a:solidFill>
                <a:latin typeface="Aptos"/>
              </a:rPr>
              <a:t>Heterogeneous datasets — no matched multi-modal view per executable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E97132"/>
              </a:buClr>
              <a:buFont typeface="Arial"/>
              <a:buChar char="•"/>
            </a:pPr>
            <a:r>
              <a:rPr lang="en-GB" sz="1500" b="0" strike="noStrike" spc="-1">
                <a:solidFill>
                  <a:srgbClr val="E97132"/>
                </a:solidFill>
                <a:latin typeface="Aptos"/>
              </a:rPr>
              <a:t>SABRE’s answer: </a:t>
            </a:r>
            <a:r>
              <a:rPr lang="en-GB" sz="1500" b="0" strike="noStrike" spc="-1">
                <a:solidFill>
                  <a:srgbClr val="1E293B"/>
                </a:solidFill>
                <a:latin typeface="Aptos"/>
              </a:rPr>
              <a:t>fuse all three agents under an uncertainty-aware triage policy that makes uncertainty operational, not merely descriptive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90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5604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400" b="0" strike="noStrike" spc="-1" dirty="0">
                <a:solidFill>
                  <a:srgbClr val="000000"/>
                </a:solidFill>
                <a:latin typeface="Aptos Display"/>
              </a:rPr>
              <a:t>Three Agent Architecture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92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93" name="TextBox 5"/>
          <p:cNvSpPr/>
          <p:nvPr/>
        </p:nvSpPr>
        <p:spPr>
          <a:xfrm>
            <a:off x="182880" y="6537960"/>
            <a:ext cx="11794680" cy="36396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 dirty="0">
                <a:solidFill>
                  <a:srgbClr val="FFFFFF"/>
                </a:solidFill>
                <a:latin typeface="Aptos"/>
                <a:ea typeface="DejaVu Sans"/>
              </a:rPr>
              <a:t>Semantic (</a:t>
            </a:r>
            <a:r>
              <a:rPr lang="en-US" sz="900" b="0" strike="noStrike" spc="-1" dirty="0" err="1">
                <a:solidFill>
                  <a:srgbClr val="FFFFFF"/>
                </a:solidFill>
                <a:latin typeface="Aptos"/>
                <a:ea typeface="DejaVu Sans"/>
              </a:rPr>
              <a:t>RDset</a:t>
            </a:r>
            <a:r>
              <a:rPr lang="en-US" sz="900" b="0" strike="noStrike" spc="-1" dirty="0">
                <a:solidFill>
                  <a:srgbClr val="FFFFFF"/>
                </a:solidFill>
                <a:latin typeface="Aptos"/>
                <a:ea typeface="DejaVu Sans"/>
              </a:rPr>
              <a:t> · 138K PE)  ·  Behavioural (</a:t>
            </a:r>
            <a:r>
              <a:rPr lang="en-US" sz="900" b="0" strike="noStrike" spc="-1" dirty="0" err="1">
                <a:solidFill>
                  <a:srgbClr val="FFFFFF"/>
                </a:solidFill>
                <a:latin typeface="Aptos"/>
                <a:ea typeface="DejaVu Sans"/>
              </a:rPr>
              <a:t>RanSMAP</a:t>
            </a:r>
            <a:r>
              <a:rPr lang="en-US" sz="900" b="0" strike="noStrike" spc="-1" dirty="0">
                <a:solidFill>
                  <a:srgbClr val="FFFFFF"/>
                </a:solidFill>
                <a:latin typeface="Aptos"/>
                <a:ea typeface="DejaVu Sans"/>
              </a:rPr>
              <a:t> · 2K telemetry)  ·  Knowledge (</a:t>
            </a:r>
            <a:r>
              <a:rPr lang="en-US" sz="900" b="0" strike="noStrike" spc="-1" dirty="0" err="1">
                <a:solidFill>
                  <a:srgbClr val="FFFFFF"/>
                </a:solidFill>
                <a:latin typeface="Aptos"/>
                <a:ea typeface="DejaVu Sans"/>
              </a:rPr>
              <a:t>RansKnow</a:t>
            </a:r>
            <a:r>
              <a:rPr lang="en-US" sz="900" b="0" strike="noStrike" spc="-1" dirty="0">
                <a:solidFill>
                  <a:srgbClr val="FFFFFF"/>
                </a:solidFill>
                <a:latin typeface="Aptos"/>
                <a:ea typeface="DejaVu Sans"/>
              </a:rPr>
              <a:t> · 200 MITRE ATT&amp;CK)  →  MC Dropout UQ  →  Peer Consultation  →  6-D Score Pool  →  Decision MLP  →  TPE Bayesian </a:t>
            </a:r>
            <a:r>
              <a:rPr lang="en-US" sz="900" b="0" strike="noStrike" spc="-1" dirty="0" err="1">
                <a:solidFill>
                  <a:srgbClr val="FFFFFF"/>
                </a:solidFill>
                <a:latin typeface="Aptos"/>
                <a:ea typeface="DejaVu Sans"/>
              </a:rPr>
              <a:t>Optimisation</a:t>
            </a:r>
            <a:r>
              <a:rPr lang="en-US" sz="900" b="0" strike="noStrike" spc="-1" dirty="0">
                <a:solidFill>
                  <a:srgbClr val="FFFFFF"/>
                </a:solidFill>
                <a:latin typeface="Aptos"/>
                <a:ea typeface="DejaVu Sans"/>
              </a:rPr>
              <a:t> Policy</a:t>
            </a:r>
            <a:endParaRPr lang="en-US" sz="9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822D5-4CD4-2FCE-3770-7B9EFA7E8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" y="1453024"/>
            <a:ext cx="11842273" cy="4758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23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Aptos Display"/>
              </a:rPr>
              <a:t>Evaluation Results: Agents &amp; Fused System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277000" cy="480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97" name="Straight Connector 5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graphicFrame>
        <p:nvGraphicFramePr>
          <p:cNvPr id="98" name="Table 6"/>
          <p:cNvGraphicFramePr/>
          <p:nvPr/>
        </p:nvGraphicFramePr>
        <p:xfrm>
          <a:off x="137160" y="1463040"/>
          <a:ext cx="7406640" cy="4234320"/>
        </p:xfrm>
        <a:graphic>
          <a:graphicData uri="http://schemas.openxmlformats.org/drawingml/2006/table">
            <a:tbl>
              <a:tblPr/>
              <a:tblGrid>
                <a:gridCol w="150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3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ptos"/>
                        </a:rPr>
                        <a:t>Agent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ptos"/>
                        </a:rPr>
                        <a:t>Train N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ptos"/>
                        </a:rPr>
                        <a:t>Natural Acc / AUC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ptos"/>
                        </a:rPr>
                        <a:t>Balanced Acc / AUC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Semantic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138,047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100.0% / 1.000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100.0% / 1.000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Static PE embeddings (384-D BERT)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3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 dirty="0">
                          <a:solidFill>
                            <a:srgbClr val="1E293B"/>
                          </a:solidFill>
                          <a:latin typeface="Aptos"/>
                        </a:rPr>
                        <a:t>Behavioural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751,588 ‡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99.6% / 99.9%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99.6% / 0.996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596:1 imbalance → SMOTE + StandardScaler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Knowledge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200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97.4% / 99.8%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96.5% / 0.995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MITRE ATT&amp;CK features (23-D)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Fused System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All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97.2% bal. acc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100% TPR / 94.7% prec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spc="-1">
                          <a:solidFill>
                            <a:srgbClr val="1E293B"/>
                          </a:solidFill>
                          <a:latin typeface="Aptos"/>
                        </a:rPr>
                        <a:t>0 false negatives on 4,000-sample eval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9" name="Picture 7" descr="ROC_all_agents.png"/>
          <p:cNvPicPr/>
          <p:nvPr/>
        </p:nvPicPr>
        <p:blipFill>
          <a:blip r:embed="rId2"/>
          <a:stretch/>
        </p:blipFill>
        <p:spPr>
          <a:xfrm>
            <a:off x="7589520" y="1391040"/>
            <a:ext cx="4433760" cy="3800160"/>
          </a:xfrm>
          <a:prstGeom prst="rect">
            <a:avLst/>
          </a:prstGeom>
          <a:ln w="0">
            <a:noFill/>
          </a:ln>
        </p:spPr>
      </p:pic>
      <p:sp>
        <p:nvSpPr>
          <p:cNvPr id="100" name="TextBox 8"/>
          <p:cNvSpPr/>
          <p:nvPr/>
        </p:nvSpPr>
        <p:spPr>
          <a:xfrm>
            <a:off x="128520" y="5958000"/>
            <a:ext cx="7405560" cy="5918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‡ 751,588 samples (596:1 imbalance) → SMOTE + StandardScaler; evaluated on 150,318-sample natural-dist test. Balanced col = 1,000 per class (equal split). Fusion: 5.6% FPR (112/2,000 benign), 0 false negatives.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8056800" y="5378400"/>
            <a:ext cx="1736280" cy="42444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99.6 %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Beh. Natural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0274400" y="5366880"/>
            <a:ext cx="1736280" cy="4244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0.996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Beh. Balanced AUC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9239040" y="5843520"/>
            <a:ext cx="1736280" cy="42444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0.995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Know. AUC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9235800" y="6316200"/>
            <a:ext cx="1736280" cy="4244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97.2 %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Fused Bal. Acc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4128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400" b="0" strike="noStrike" spc="-1">
                <a:solidFill>
                  <a:srgbClr val="000000"/>
                </a:solidFill>
                <a:latin typeface="Aptos Display"/>
              </a:rPr>
              <a:t>Uncertainty-Aware Triage Policy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107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 Placeholder 6"/>
          <p:cNvSpPr/>
          <p:nvPr/>
        </p:nvSpPr>
        <p:spPr>
          <a:xfrm>
            <a:off x="885960" y="2169720"/>
            <a:ext cx="4966920" cy="87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37160" y="1417320"/>
            <a:ext cx="2513520" cy="3178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ptos"/>
                <a:ea typeface="DejaVu Sans"/>
              </a:rPr>
              <a:t>AUTO-CONTAIN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137160" y="1965960"/>
            <a:ext cx="2513520" cy="4244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p̂ ≥ τ_high (0.905)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AND  σ_max ≤ κ_low (0.195)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13716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High-confidence ransomware: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automated host isolation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2788920" y="1417320"/>
            <a:ext cx="2513520" cy="3178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ptos"/>
                <a:ea typeface="DejaVu Sans"/>
              </a:rPr>
              <a:t>ESCALATE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2788920" y="1965960"/>
            <a:ext cx="2513520" cy="4244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p̂ ≥ τ (0.396)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OR  σ_max &gt; κ (0.196)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278892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Uncertain or suspicious: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route to SOC analyst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5440680" y="1417320"/>
            <a:ext cx="2513520" cy="31788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ptos"/>
                <a:ea typeface="DejaVu Sans"/>
              </a:rPr>
              <a:t>ALLOW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5440680" y="1965960"/>
            <a:ext cx="2513520" cy="2570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otherwise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544068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Low risk, low uncertainty: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no automated action</a:t>
            </a:r>
            <a:endParaRPr lang="en-US" sz="1100" b="0" strike="noStrike" spc="-1">
              <a:latin typeface="Arial"/>
            </a:endParaRPr>
          </a:p>
        </p:txBody>
      </p:sp>
      <p:pic>
        <p:nvPicPr>
          <p:cNvPr id="118" name="Picture 14" descr="Triage_policy_space.png"/>
          <p:cNvPicPr/>
          <p:nvPr/>
        </p:nvPicPr>
        <p:blipFill>
          <a:blip r:embed="rId2"/>
          <a:stretch/>
        </p:blipFill>
        <p:spPr>
          <a:xfrm>
            <a:off x="8138160" y="1971720"/>
            <a:ext cx="3885120" cy="29134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15"/>
          <p:cNvSpPr/>
          <p:nvPr/>
        </p:nvSpPr>
        <p:spPr>
          <a:xfrm>
            <a:off x="137160" y="3474720"/>
            <a:ext cx="7862760" cy="591840"/>
          </a:xfrm>
          <a:prstGeom prst="rect">
            <a:avLst/>
          </a:prstGeom>
          <a:solidFill>
            <a:srgbClr val="D6EA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1E293B"/>
                </a:solidFill>
                <a:latin typeface="Aptos"/>
                <a:ea typeface="DejaVu Sans"/>
              </a:rPr>
              <a:t>Design rationale:  max(σ) ensures either agent can veto autonomous action  ·  Axis-aligned thresholds preserve interpretability &amp; auditability  ·  Thresholds tuned by Bayesian optimisation — TPE (Tree-structured Parzen Estimator) via Optuna, 300 trials, objective: balanced accuracy − λ · escalation rate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137160" y="4160520"/>
            <a:ext cx="7862760" cy="45468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Policy results (4,000-sample eval):  97.2% balanced accuracy  ·  100% TPR  ·  5.6% FPR  ·  0 false negatives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137160" y="4754880"/>
            <a:ext cx="7862760" cy="4244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rgbClr val="FFFFFF"/>
                </a:solidFill>
                <a:latin typeface="Aptos"/>
                <a:ea typeface="DejaVu Sans"/>
              </a:rPr>
              <a:t>NEW — Per-Agent Policies:  each agent also has its own κ_local threshold; if σ_agent &gt; κ_local the orchestrator triggers peer consultation before fusion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8988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Aptos Display"/>
              </a:rPr>
              <a:t>Peer Consultation &amp; Expert Feedback Loop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E97132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E97132"/>
                </a:solidFill>
                <a:latin typeface="Aptos"/>
              </a:rPr>
              <a:t>Feature 1 — </a:t>
            </a:r>
            <a:r>
              <a:rPr lang="en-GB" sz="1600" b="0" strike="noStrike" spc="-1" dirty="0">
                <a:solidFill>
                  <a:srgbClr val="156082"/>
                </a:solidFill>
                <a:latin typeface="Aptos"/>
              </a:rPr>
              <a:t>Per-Agent Peer Consultation</a:t>
            </a:r>
            <a:endParaRPr lang="en-US" sz="16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Each agent has a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κ_local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threshold alongside the global triage policy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If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σ_agent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&gt;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κ_local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→ orchestrator adjusts p using inverse-uncertainty-weighted scores of self + both peers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Uncertainty values (σ) are never modified; consulted flag +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raw_prob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stored per result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Default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κ_local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= 1.0 → consultation never fires (backwards-compatible with Crane baseline)</a:t>
            </a:r>
            <a:endParaRPr lang="en-US" sz="13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 dirty="0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E97132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E97132"/>
                </a:solidFill>
                <a:latin typeface="Aptos"/>
              </a:rPr>
              <a:t>Feature 2 — </a:t>
            </a:r>
            <a:r>
              <a:rPr lang="en-GB" sz="1600" b="0" strike="noStrike" spc="-1" dirty="0">
                <a:solidFill>
                  <a:srgbClr val="156082"/>
                </a:solidFill>
                <a:latin typeface="Aptos"/>
              </a:rPr>
              <a:t>Expert Feedback Loop</a:t>
            </a:r>
            <a:endParaRPr lang="en-US" sz="16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ESCALATE / AUTO-CONTAIN results carry a UUID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sample_id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for analyst tracking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Analysts submit corrections via the ‘Feedback’ tab in the live dashboard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Corrections stored in append-only JSON log (timestamp, scores, σ, expert label, reasoning)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When N ≥ 20 corrections: ‘Trigger Retrain’ enabled — incremental MLP retrain with 3× upweighted feedback rows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Operator promotes updated model manually or via --promote flag; TPE re-tunes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κ_local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124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5" name="Content Placeholder 1"/>
          <p:cNvSpPr/>
          <p:nvPr/>
        </p:nvSpPr>
        <p:spPr>
          <a:xfrm>
            <a:off x="6204960" y="2160000"/>
            <a:ext cx="4966920" cy="393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180000" indent="-1800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marL="180000" indent="-1800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26" name="Content Placeholder 3"/>
          <p:cNvSpPr/>
          <p:nvPr/>
        </p:nvSpPr>
        <p:spPr>
          <a:xfrm>
            <a:off x="828000" y="3038760"/>
            <a:ext cx="4966920" cy="30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137160" y="5440680"/>
            <a:ext cx="2742120" cy="45468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Inference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→ sample_id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28803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58521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89319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9268560" y="5440680"/>
            <a:ext cx="2742120" cy="45468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Retrain MLP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+ Re-tune κ_local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6188760" y="5440680"/>
            <a:ext cx="2742120" cy="454680"/>
          </a:xfrm>
          <a:prstGeom prst="rect">
            <a:avLst/>
          </a:prstGeom>
          <a:solidFill>
            <a:srgbClr val="46788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Feedback Log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(JSON, N records)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3180960" y="5440680"/>
            <a:ext cx="2742120" cy="4546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Analyst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ptos"/>
                <a:ea typeface="DejaVu Sans"/>
              </a:rPr>
              <a:t>Correction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400" b="0" strike="noStrike" spc="-1">
                <a:solidFill>
                  <a:srgbClr val="000000"/>
                </a:solidFill>
                <a:latin typeface="Aptos Display"/>
              </a:rPr>
              <a:t>Conclusions &amp; Future Work</a:t>
            </a:r>
            <a:endParaRPr lang="en-US" sz="3400" b="0" strike="noStrike" spc="-1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06400" y="15930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156082"/>
                </a:solidFill>
                <a:latin typeface="Aptos"/>
              </a:rPr>
              <a:t>Main Contributions</a:t>
            </a:r>
            <a:endParaRPr lang="en-US" sz="16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Uncertainty-aware 3-agent triage pipeline: static PE · runtime behaviour · threat intel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Fused system: 97.2% balanced accuracy, 100% TPR, 94.7% precision on 4,000-sample evaluation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Operational policy linking p̂ and σ to AUTO-CONTAIN / ESCALATE / ALLOW — tuned by Bayesian optimisation (TPE,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Optuna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)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E97132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E97132"/>
                </a:solidFill>
                <a:latin typeface="Aptos"/>
              </a:rPr>
              <a:t>NEW: 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Per-agent peer consultation — adjusts uncertain scores before fusion, σ unchanged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E97132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E97132"/>
                </a:solidFill>
                <a:latin typeface="Aptos"/>
              </a:rPr>
              <a:t>NEW: 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Expert feedback loop — analyst corrections drive incremental MLP retraining + policy re-tune</a:t>
            </a:r>
            <a:endParaRPr lang="en-US" sz="13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 dirty="0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156082"/>
                </a:solidFill>
                <a:latin typeface="Aptos"/>
              </a:rPr>
              <a:t>Limitations</a:t>
            </a:r>
            <a:endParaRPr lang="en-US" sz="16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Three independent datasets — no matched multi-modal view per executable instance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Behavioural AUC 0.996 balanced (after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StandardScaler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); 0.621 pre-scaler —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StandardScaler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was the key fix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5.6% FPR on default policy (112 / 2,000 benign) — mitigated by escalation to analyst</a:t>
            </a:r>
            <a:endParaRPr lang="en-US" sz="13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500" b="0" strike="noStrike" spc="-1" dirty="0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156082"/>
                </a:solidFill>
                <a:latin typeface="Aptos"/>
              </a:rPr>
              <a:t>Future Work</a:t>
            </a:r>
            <a:endParaRPr lang="en-US" sz="16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Unified multi-modal dataset for true joint semantic + behavioural + knowledge evaluation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Online learning from real-world SOC analyst actions and SOAR integration</a:t>
            </a:r>
            <a:endParaRPr lang="en-US" sz="1300" b="0" strike="noStrike" spc="-1" dirty="0">
              <a:latin typeface="Arial"/>
            </a:endParaRPr>
          </a:p>
          <a:p>
            <a:pPr marL="343080" lvl="1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Adaptive per-agent </a:t>
            </a:r>
            <a:r>
              <a:rPr lang="en-GB" sz="1300" b="0" strike="noStrike" spc="-1" dirty="0" err="1">
                <a:solidFill>
                  <a:srgbClr val="1E293B"/>
                </a:solidFill>
                <a:latin typeface="Aptos"/>
              </a:rPr>
              <a:t>κ_local</a:t>
            </a:r>
            <a:r>
              <a:rPr lang="en-GB" sz="1300" b="0" strike="noStrike" spc="-1" dirty="0">
                <a:solidFill>
                  <a:srgbClr val="1E293B"/>
                </a:solidFill>
                <a:latin typeface="Aptos"/>
              </a:rPr>
              <a:t> tuning driven by live feedback statistics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136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7" name="Text Placeholder 3"/>
          <p:cNvSpPr/>
          <p:nvPr/>
        </p:nvSpPr>
        <p:spPr>
          <a:xfrm>
            <a:off x="383040" y="1577520"/>
            <a:ext cx="11424240" cy="485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8" name="TextBox 9"/>
          <p:cNvSpPr/>
          <p:nvPr/>
        </p:nvSpPr>
        <p:spPr>
          <a:xfrm>
            <a:off x="137160" y="6080760"/>
            <a:ext cx="11794680" cy="48564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300" b="1" strike="noStrike" spc="-1">
                <a:solidFill>
                  <a:srgbClr val="FFFFFF"/>
                </a:solidFill>
                <a:latin typeface="Aptos"/>
                <a:ea typeface="DejaVu Sans"/>
              </a:rPr>
              <a:t>Bottom line:  SABRE makes uncertainty operational, not merely descriptive — and now closes the loop with expert-in-the-loop retraining</a:t>
            </a:r>
            <a:endParaRPr lang="en-US" sz="1300" b="0" strike="noStrike" spc="-1"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D72D50-745B-FCC5-282F-202426F2B60D}"/>
              </a:ext>
            </a:extLst>
          </p:cNvPr>
          <p:cNvGrpSpPr/>
          <p:nvPr/>
        </p:nvGrpSpPr>
        <p:grpSpPr>
          <a:xfrm>
            <a:off x="10424756" y="4658338"/>
            <a:ext cx="960844" cy="1098062"/>
            <a:chOff x="10906200" y="5645516"/>
            <a:chExt cx="960844" cy="10980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98837B-0D0F-C7EE-2631-14E0C1332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6200" y="5645516"/>
              <a:ext cx="960844" cy="9608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21373A-F128-14C7-53AC-08E17B9A149F}"/>
                </a:ext>
              </a:extLst>
            </p:cNvPr>
            <p:cNvSpPr txBox="1"/>
            <p:nvPr/>
          </p:nvSpPr>
          <p:spPr>
            <a:xfrm>
              <a:off x="11082692" y="6528134"/>
              <a:ext cx="6078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b="1" dirty="0"/>
                <a:t>LinkedIn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1005</Words>
  <Application>Microsoft Office PowerPoint</Application>
  <PresentationFormat>Widescreen</PresentationFormat>
  <Paragraphs>149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Agentic SABRE</vt:lpstr>
      <vt:lpstr>PowerPoint Presentation</vt:lpstr>
      <vt:lpstr>Why Ransomware Detection Needs an Agentic Approach</vt:lpstr>
      <vt:lpstr>Three Agent Architecture</vt:lpstr>
      <vt:lpstr>Evaluation Results: Agents &amp; Fused System</vt:lpstr>
      <vt:lpstr>Uncertainty-Aware Triage Policy</vt:lpstr>
      <vt:lpstr>Peer Consultation &amp; Expert Feedback Loop</vt:lpstr>
      <vt:lpstr>Conclusions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Biju Issac</dc:creator>
  <dc:description/>
  <cp:lastModifiedBy>henry.kabuye</cp:lastModifiedBy>
  <cp:revision>7</cp:revision>
  <dcterms:created xsi:type="dcterms:W3CDTF">2026-04-02T16:57:41Z</dcterms:created>
  <dcterms:modified xsi:type="dcterms:W3CDTF">2026-06-21T09:46:04Z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