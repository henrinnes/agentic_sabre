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15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8633FD-829E-6EE6-348D-BC558A7969B3}" v="94" dt="2026-04-20T19:51:00.457"/>
    <p1510:client id="{FA1C6F24-4DB0-E024-3A5F-BA8572546F72}" v="515" dt="2026-04-20T19:46:37.5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5/10/relationships/revisionInfo" Target="revisionInfo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1D55-4E99-C4E7-5A7E-2384074F5E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F68B4-23B4-941B-1632-8A4DF1B1D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09D5A-8937-DF24-9EC0-7548CD208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ED7E5-19DA-A779-2641-A5CEBA21D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B574C-25FD-8FA5-0413-D725710E7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258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8A5E2-6E42-65CA-212F-F70C48B25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FEE1E-8339-F5E1-A3C7-65D3D90D2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74FCC-2040-0F93-C5E7-97F0A1FF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8A4B0-AB34-E3AD-7459-62C21BB9A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85A4D-FA58-8D0E-AA59-299210132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680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DCBD4-C11A-2BFF-5E07-7FAAFA6AD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8164D9-0E77-7A6C-B849-D3679FFC8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10F03-55E6-6B00-5AC8-9A63FFA4C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BA8E7-D333-C832-8FD1-1137DCDE8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105F6-F1B2-D3A6-93FF-C684EB46A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5489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01CDE-8D56-9C0A-D1AE-29B602D5D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80EE4-3633-4E69-9D35-2B177FE20A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A1CE3C-2083-11C3-E54F-8B2D0D89F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C4A50-7F98-FA86-2795-28326BC69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CCDC8-FB9F-2CF5-7290-A049D5CEA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A378E3-C297-69D5-9A00-5DD5F7C8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8562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EA6FE-F99F-5DDB-34FF-3F87E9EC7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AB5C6-8D91-44E1-A327-EADBFE446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EC748-E771-1E4E-F07D-80E25D879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A718D9-360B-92BD-AB07-118A637C7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9471DB-2F95-020F-4934-BA7CC2A3E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0044C-90EA-C223-1336-071093E86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61CDBA-D0D7-8F8E-036F-156489977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9B43CE-CB53-3074-262A-325AF83FB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2900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7476A-D008-336B-BAC6-93C1498C2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E915B1-A1E5-02D8-0350-B1E4B4B6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93F818-2EB9-0FE2-2497-B3402E766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47EDFC-134E-9E07-0418-5B54EA6C8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5197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00B3CB-B707-2F94-D3D3-9407B35D2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9B799E-CAF5-0BCE-B731-A067050F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AB239-6627-9741-8FFF-B1149F9E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9308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061D9-0ECE-EA09-531A-882006D2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BFA59-B953-AA41-D48F-9034B1DCC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EA0B96-E8B6-F966-47A6-EB512E8407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90D655-A856-5A04-41DC-2F144D660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E7B30-E30B-0D3D-C098-53AC30315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EB8FC-FB55-8A50-EE04-15918A0A7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130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AF229-452B-AF39-4E5E-D7654E2A4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49C059-AE1F-B6DA-3D5D-BBECBA0F1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07FDFD-D283-EA08-DF78-0E460F5BA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EE455-CB82-E454-1BEE-173CEB9F2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750C57-DB8F-2F88-F826-E345AAB1C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B647BD-A742-867F-537C-DA7282E42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3630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F6527-5E57-FA52-E769-43B39D2BB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EB3839-9A54-FAC1-19C7-C32E1EABD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E54F79-90A8-1035-7E1C-DD4559B30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E0206-78A3-7F82-ADE0-497852EAF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9A096-994D-BD3F-7B59-B7D4BB4BC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099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9F3F51-BAD3-2CFE-4560-C12BC65C27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0F9A00-0C0B-8F32-5B0A-4C272C2FB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F0847-163E-EEFF-F190-7241D9A5D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AA88C-5202-555A-3850-16D38FD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DC90F-5CD9-1FE8-D09D-28842A754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54571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D1924-8C56-918C-704C-E26BFFF26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17284-D41D-143A-6505-0C9491D60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C72C67-1521-3216-DC0D-8F483D3C5D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11D4C6-5CEE-8560-D01C-EF94093C0E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36511-D1ED-E0B9-94BB-ABDB61C0EC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2733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899745-B66E-604A-C911-25D6034185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sz="1600">
                <a:solidFill>
                  <a:srgbClr val="156082"/>
                </a:solidFill>
                <a:latin typeface="Aptos"/>
              </a:rPr>
              <a:t>Henry Kabuye · Biju Issac · Neera Jeyamohan
Northumbria University
CRANE AI-Cyber SIG | June 2026</a:t>
            </a:r>
            <a:endParaRPr lang="en-GB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E5F92F-480A-08D3-08B5-A96A379F7C9A}"/>
              </a:ext>
            </a:extLst>
          </p:cNvPr>
          <p:cNvCxnSpPr/>
          <p:nvPr/>
        </p:nvCxnSpPr>
        <p:spPr>
          <a:xfrm>
            <a:off x="190870" y="3429000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370448E2-EFAF-10DB-D1C9-F7EB84CD3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379" y="5858455"/>
            <a:ext cx="2727569" cy="736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749AA9-5BFB-B942-F3D2-DB00631151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767" y="5861275"/>
            <a:ext cx="3474130" cy="746395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B56106C6-5079-B863-229C-AB7BD33C35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400" b="1">
                <a:solidFill>
                  <a:srgbClr val="0E2841"/>
                </a:solidFill>
                <a:latin typeface="Aptos Display"/>
              </a:rPr>
              <a:t>SABRE: An Uncertainty-Aware Modular
Semantic–Behavioural Triage Framework
for Adaptive Ransomware Detection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748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BA404-C596-C471-3B59-87E69A4B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Ransomware Defence Is a Decision Problem</a:t>
            </a:r>
            <a:endParaRPr lang="en-GB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19012-1158-CC85-7281-8334EED33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GB" sz="1800" b="1" dirty="0">
                <a:latin typeface="Aptos"/>
                <a:solidFill>
                  <a:srgbClr val="0E2841"/>
                </a:solidFill>
              </a:rPr>
              <a:t>Current detectors give a binary answer — but deployment demands more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False automated containment = operational disruption (FP cost)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Missed detection = encryption, data loss, ransom payment (FN cost)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Novel families and obfuscated variants degrade confidence silently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Analyst workload spikes when every alert demands manual review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156082"/>
                </a:solidFill>
              </a:rPr>
              <a:t>What is missing from the state of practice: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Principled uncertainty — how confident is the detector, and why?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Actionable triage — automated on confident cases, escalated on uncertain ones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Modality-aware fusion — semantic PE signals ≠ runtime telemetry signals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800" b="1" dirty="0">
                <a:latin typeface="Aptos"/>
                <a:solidFill>
                  <a:srgbClr val="E97132"/>
                </a:solidFill>
              </a:rPr>
              <a:t>SABRE operationalises uncertainty as a control variable for safer deployment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4E40D7-BE15-03B3-6F32-D4894228A3A0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702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741D3-F503-FF21-EF1D-4D9523D4E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57011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SABRE: Two Complementary Detection Agents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7E979-7C16-34BE-78A8-6078C13F4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C6B19F-A096-0250-5D30-B274E684D7E0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Prop_Agentic_Sabre_27_04_2026_3Agents_Full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88720"/>
            <a:ext cx="6035040" cy="24247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Semantic Agent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Input: PE file → section names → sentence transformer (384D)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Detects structural packing and obfuscation patterns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Behavioural Agent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Input: 10-second telemetry windows → 16D features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Storage: LBA variance, write entropy, throughput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Memory: GPA variance, page counts, entropy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Uncertainty Quantification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Monte Carlo Dropout (T=10 passes) per agent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Each agent outputs: prediction p̂ + uncertainty σ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1" dirty="0">
                <a:latin typeface="Aptos"/>
                <a:solidFill>
                  <a:srgbClr val="E97132"/>
                </a:solidFill>
              </a:rPr>
              <a:t>Score fusion → triage policy → AUTO-CONTAIN / ESCALATE / ALLOW</a:t>
            </a:r>
          </a:p>
        </p:txBody>
      </p:sp>
    </p:spTree>
    <p:extLst>
      <p:ext uri="{BB962C8B-B14F-4D97-AF65-F5344CB8AC3E}">
        <p14:creationId xmlns:p14="http://schemas.microsoft.com/office/powerpoint/2010/main" val="2907032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BA97D-8135-E408-C3BF-AD4EC3E92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35431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Operationalising Uncertainty: The Triage Policy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347FC-8A5F-8549-D393-1CA94B47F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87C24A-0C4A-FC64-7A16-BB6A00A4DB8D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Triage_policy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977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b="1" dirty="0">
                <a:latin typeface="Aptos"/>
                <a:solidFill>
                  <a:srgbClr val="0E2841"/>
                </a:solidFill>
              </a:rPr>
              <a:t>Three-way decision (not binary):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196B24"/>
                </a:solidFill>
              </a:rPr>
              <a:t>AUTO-CONTAIN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p̂ ≥ τ_high  AND  σ_max ≤ κ_low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High confidence ransomware → act immediately</a:t>
            </a:r>
          </a:p>
          <a:p>
            <a:pPr>
              <a:buNone/>
            </a:pPr>
            <a:r>
              <a:rPr lang="en-GB" sz="5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E97132"/>
                </a:solidFill>
              </a:rPr>
              <a:t>ESCALATE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p̂ ≥ τ  AND  σ_max &gt; κ  (uncertain but suspicious)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OR  p̂ high but evidence conflicts across agents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→ Route to analyst; uncertainty is the trigger</a:t>
            </a:r>
          </a:p>
          <a:p>
            <a:pPr>
              <a:buNone/>
            </a:pPr>
            <a:r>
              <a:rPr lang="en-GB" sz="5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156082"/>
                </a:solidFill>
              </a:rPr>
              <a:t>ALLOW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Confident benign prediction → pass through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1E293B"/>
                </a:solidFill>
              </a:rPr>
              <a:t>Key insight: uncertainty gates automation —</a:t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1E293B"/>
                </a:solidFill>
              </a:rPr>
              <a:t>the system knows when NOT to act autonomously</a:t>
            </a:r>
          </a:p>
        </p:txBody>
      </p:sp>
    </p:spTree>
    <p:extLst>
      <p:ext uri="{BB962C8B-B14F-4D97-AF65-F5344CB8AC3E}">
        <p14:creationId xmlns:p14="http://schemas.microsoft.com/office/powerpoint/2010/main" val="4130658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2E2A3-7B5F-3395-1F81-EB77EF2D8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42216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Results: Where SABRE Works and Where It Struggles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B857-8CF3-AA53-D5EA-A1969D9CB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62E8508-6886-DEC6-8DCF-EDE43333A572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AC681000-16B4-5876-9755-AD23724D05D3}"/>
              </a:ext>
            </a:extLst>
          </p:cNvPr>
          <p:cNvSpPr>
            <a:spLocks noGrp="1"/>
          </p:cNvSpPr>
          <p:nvPr/>
        </p:nvSpPr>
        <p:spPr>
          <a:xfrm>
            <a:off x="885873" y="2169646"/>
            <a:ext cx="4967889" cy="878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pic>
        <p:nvPicPr>
          <p:cNvPr id="6" name="Picture 5" descr="ROC_all_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47026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Semantic setting (RDset — 138K PE files):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Semantic agent: AUROC 0.996 — strong PE separation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PE structural features discriminate clearly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Behavioural setting (RanSMAP — 35,857 windows, 15 hardware configs):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Behavioural agent: AUROC 0.963 (random split)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Family holdout: AUROC drops to 0.706 for unseen families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Concurrent execution (AESCrypt + REvil): detection rate 1.5%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E97132"/>
                </a:solidFill>
              </a:rPr>
              <a:t>Why does this matter?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Weaker behavioural evidence → σ_beh rises → ESCALATE fires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Uncertainty correctly identifies where the model is least reliable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Novel families not seen at training → higher σ → analyst review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156082"/>
                </a:solidFill>
              </a:rPr>
              <a:t>The gap between settings is not a failure — it is informative</a:t>
            </a:r>
          </a:p>
        </p:txBody>
      </p:sp>
    </p:spTree>
    <p:extLst>
      <p:ext uri="{BB962C8B-B14F-4D97-AF65-F5344CB8AC3E}">
        <p14:creationId xmlns:p14="http://schemas.microsoft.com/office/powerpoint/2010/main" val="1357055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49C1F-66CE-A3C2-A7FB-A02095B3A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91043" cy="1325563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Explainability: Making Decisions Auditable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38809-D981-2BC3-A738-E3A9AC884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64D6CC-6420-9E00-377D-AFF39E392739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4B2A6A-D7F9-68BE-2B47-56B70BC4D578}"/>
              </a:ext>
            </a:extLst>
          </p:cNvPr>
          <p:cNvSpPr>
            <a:spLocks noGrp="1"/>
          </p:cNvSpPr>
          <p:nvPr/>
        </p:nvSpPr>
        <p:spPr>
          <a:xfrm>
            <a:off x="6204936" y="2160000"/>
            <a:ext cx="4967890" cy="3935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08253C5-5C60-EAD9-A631-71B42907A588}"/>
              </a:ext>
            </a:extLst>
          </p:cNvPr>
          <p:cNvSpPr>
            <a:spLocks noGrp="1"/>
          </p:cNvSpPr>
          <p:nvPr/>
        </p:nvSpPr>
        <p:spPr>
          <a:xfrm>
            <a:off x="828000" y="3038621"/>
            <a:ext cx="4967889" cy="305737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500" b="1" dirty="0">
                <a:latin typeface="Aptos"/>
                <a:solidFill>
                  <a:srgbClr val="0E2841"/>
                </a:solidFill>
              </a:rPr>
              <a:t>Feature Importance (Behavioural):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400" b="0" dirty="0">
                <a:latin typeface="Aptos"/>
              </a:rPr>
              <a:t>write_entropy_mean: encryption → max entropy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400" b="0" dirty="0">
                <a:latin typeface="Aptos"/>
              </a:rPr>
              <a:t>write_LBA_variance: sequential full-disk writes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400" b="0" dirty="0">
                <a:latin typeface="Aptos"/>
              </a:rPr>
              <a:t>mem_write_GPA_variance: uniform memory spread</a:t>
            </a:r>
          </a:p>
          <a:p>
            <a:pPr>
              <a:buNone/>
            </a:pPr>
            <a:r>
              <a:rPr lang="en-GB" sz="4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500" b="1" dirty="0">
                <a:latin typeface="Aptos"/>
                <a:solidFill>
                  <a:srgbClr val="0E2841"/>
                </a:solidFill>
              </a:rPr>
              <a:t>Counterfactual Explanations: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400" b="0" dirty="0">
                <a:latin typeface="Aptos"/>
              </a:rPr>
              <a:t>Minimal L₂ shift flips verdict → analyst sees exactly WHY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400" b="0" dirty="0">
                <a:latin typeface="Aptos"/>
              </a:rPr>
              <a:t>Short distance → near decision boundary → ESCALATE</a:t>
            </a:r>
          </a:p>
        </p:txBody>
      </p:sp>
      <p:pic>
        <p:nvPicPr>
          <p:cNvPr id="8" name="Picture 7" descr="Behaviour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43000"/>
            <a:ext cx="6126480" cy="2377440"/>
          </a:xfrm>
          <a:prstGeom prst="rect">
            <a:avLst/>
          </a:prstGeom>
        </p:spPr>
      </p:pic>
      <p:pic>
        <p:nvPicPr>
          <p:cNvPr id="9" name="Picture 8" descr="Rep_Beh_C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49039"/>
            <a:ext cx="5394960" cy="2834640"/>
          </a:xfrm>
          <a:prstGeom prst="rect">
            <a:avLst/>
          </a:prstGeom>
        </p:spPr>
      </p:pic>
      <p:pic>
        <p:nvPicPr>
          <p:cNvPr id="10" name="Picture 9" descr="fig_semantic_cf_p0_vs_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749039"/>
            <a:ext cx="6126480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30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6838D-3177-9967-ECE2-19A2D96CD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20021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SABRE-II: Learned Fusion &amp; Bayesian Policy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B32D5-EDE1-CE2B-5F5F-E2F318B09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333511D-D6DF-3772-7670-B9E9490CE5AA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C3A7B5B2-1211-DD57-E6BA-0116FDBAEE01}"/>
              </a:ext>
            </a:extLst>
          </p:cNvPr>
          <p:cNvSpPr>
            <a:spLocks noGrp="1"/>
          </p:cNvSpPr>
          <p:nvPr/>
        </p:nvSpPr>
        <p:spPr>
          <a:xfrm>
            <a:off x="6475012" y="2140709"/>
            <a:ext cx="4967890" cy="3935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A99F53D-FC05-0507-68F3-7F4D4A1F0DEA}"/>
              </a:ext>
            </a:extLst>
          </p:cNvPr>
          <p:cNvSpPr>
            <a:spLocks noGrp="1"/>
          </p:cNvSpPr>
          <p:nvPr/>
        </p:nvSpPr>
        <p:spPr>
          <a:xfrm>
            <a:off x="1098076" y="2140709"/>
            <a:ext cx="4967889" cy="878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3EF0573-BB2E-99F2-6A68-73CF7D03094C}"/>
              </a:ext>
            </a:extLst>
          </p:cNvPr>
          <p:cNvSpPr>
            <a:spLocks noGrp="1"/>
          </p:cNvSpPr>
          <p:nvPr/>
        </p:nvSpPr>
        <p:spPr>
          <a:xfrm>
            <a:off x="1098076" y="3019330"/>
            <a:ext cx="4967889" cy="305737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394960" cy="41148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ptos Display"/>
              </a:rPr>
              <a:t>SABRE (this abstract)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Mean score fusion (equal weights)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Fixed hand-tuned triage thresholds τ, κ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2 agents: Semantic + Behavioural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MC Dropout uncertainty per agent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AUROC 0.963 (random), 0.706 (family holdout)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577840" cy="41148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ptos Display"/>
              </a:rPr>
              <a:t>SABRE-II (current work)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45920"/>
            <a:ext cx="5577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Decision MLP replaces mean fusion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ECE: 0.094 → 0.018  (calibration gain)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CTGAN score-space augmentation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Bayesian TPE policy optimisation (300 trials)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Balanced acc: 0.525 → 0.866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Escalation rate: 85% → 25% (Bayesian vs fixed)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Peer Consultation: prevents knowledge collapse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AUROC 0.975 (random), 0.980 (temporal)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691640"/>
            <a:ext cx="594360" cy="32004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tos Display"/>
              </a:rPr>
              <a:t>→</a:t>
            </a:r>
          </a:p>
        </p:txBody>
      </p:sp>
      <p:pic>
        <p:nvPicPr>
          <p:cNvPr id="13" name="Picture 12" descr="fig5_sabre2_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51960"/>
            <a:ext cx="1124712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214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8956E-CFF4-0DC3-78D1-CCFA8FD13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Conclusions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7290-1A10-9B48-B272-9FBE0AD24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spcAft>
                <a:spcPts val="200"/>
              </a:spcAft>
              <a:buNone/>
            </a:pPr>
            <a:r>
              <a:rPr lang="en-GB" sz="1900" b="1" dirty="0">
                <a:latin typeface="Aptos"/>
                <a:solidFill>
                  <a:srgbClr val="0E2841"/>
                </a:solidFill>
              </a:rPr>
              <a:t>SABRE makes uncertainty operational — not merely descriptive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Triage converts (p̂, σ) → actionable decision: automate vs escalate vs allow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Uncertainty correctly identifies hardest cases: novel families, concurrent execution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XAI (feature importance, counterfactuals) supports analyst audit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SABRE-II: learned fusion + Bayesian policy reduces unnecessary escalation by 70%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156082"/>
                </a:solidFill>
              </a:rPr>
              <a:t>Publications: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ESWA (Expert Systems With Applications) — under review, 2nd revision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IEEE TIFS — SABRE+ submitted; SABRE-II in preparation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E97132"/>
                </a:solidFill>
              </a:rPr>
              <a:t>Questions welcome on: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</a:rPr>
              <a:t>Triage threshold design and cost-sensitivity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</a:rPr>
              <a:t>Generalisation to unseen ransomware families (family holdout results)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</a:rPr>
              <a:t>Comparison with operational EDR/AV uncertainty practices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2342D31-2E0B-0EB4-FF9C-60730B50339B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1978E70-3595-504B-8650-4404453B4ACB}"/>
              </a:ext>
            </a:extLst>
          </p:cNvPr>
          <p:cNvSpPr>
            <a:spLocks noGrp="1"/>
          </p:cNvSpPr>
          <p:nvPr/>
        </p:nvSpPr>
        <p:spPr>
          <a:xfrm>
            <a:off x="383109" y="1577615"/>
            <a:ext cx="11425462" cy="48577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377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sz="280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05667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4E40D7-BE15-03B3-6F32-D4894228A3A0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19012-1158-CC85-7281-8334EED33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The Problem — why binary detection fails in practice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SABRE Architecture — two complementary detection agents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Triage Policy — operationalising uncertainty as a control variable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Results — where SABRE works and where it struggles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Explainability — making decisions auditable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SABRE-II — learned fusion and Bayesian policy optimisation</a:t>
            </a:r>
          </a:p>
          <a:p>
            <a:pPr lvl="1">
              <a:spcBef>
                <a:spcPts val="400"/>
              </a:spcBef>
              <a:buClr>
                <a:srgbClr val="E97132"/>
              </a:buClr>
              <a:buFont typeface="Arial"/>
              <a:buChar char="▸"/>
            </a:pPr>
            <a:r>
              <a:rPr lang="en-GB" sz="1800" b="0" dirty="0">
                <a:latin typeface="Aptos"/>
                <a:solidFill>
                  <a:srgbClr val="0E2841"/>
                </a:solidFill>
              </a:rPr>
              <a:t>Conclusions &amp; Discussion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algn="ctr">
              <a:buNone/>
            </a:pPr>
            <a:r>
              <a:rPr lang="en-GB" sz="1500" b="0" dirty="0">
                <a:latin typeface="Aptos"/>
                <a:solidFill>
                  <a:srgbClr val="156082"/>
                </a:solidFill>
              </a:rPr>
              <a:t>15 min talk · 5 min Q&amp;A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7BA404-C596-C471-3B59-87E69A4B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Agenda</a:t>
            </a:r>
            <a:endParaRPr lang="en-GB" err="1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Introduction</vt:lpstr>
      <vt:lpstr>  </vt:lpstr>
      <vt:lpstr>   </vt:lpstr>
      <vt:lpstr>  </vt:lpstr>
      <vt:lpstr> </vt:lpstr>
      <vt:lpstr>    </vt:lpstr>
      <vt:lpstr>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Biju Issac</dc:creator>
  <cp:revision>2</cp:revision>
  <dcterms:created xsi:type="dcterms:W3CDTF">2026-04-02T16:57:41Z</dcterms:created>
  <dcterms:modified xsi:type="dcterms:W3CDTF">2026-04-21T15:47:45Z</dcterms:modified>
</cp:coreProperties>
</file>