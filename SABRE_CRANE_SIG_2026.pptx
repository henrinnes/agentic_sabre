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58" r:id="rId5"/>
    <p:sldId id="266" r:id="rId6"/>
    <p:sldId id="259" r:id="rId7"/>
    <p:sldId id="260" r:id="rId8"/>
    <p:sldId id="261" r:id="rId9"/>
    <p:sldId id="262" r:id="rId10"/>
    <p:sldId id="265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AD6F8F-6A21-4643-B76F-46C021B71931}" v="3" dt="2026-06-22T15:36:35.1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ry.kabuye" userId="eb11684c-b2f7-47c6-a059-9031b708ef9b" providerId="ADAL" clId="{1DFA72CE-DF62-41DC-8B30-16B405C245CA}"/>
    <pc:docChg chg="custSel modSld">
      <pc:chgData name="henry.kabuye" userId="eb11684c-b2f7-47c6-a059-9031b708ef9b" providerId="ADAL" clId="{1DFA72CE-DF62-41DC-8B30-16B405C245CA}" dt="2026-06-22T15:39:15.702" v="170" actId="1038"/>
      <pc:docMkLst>
        <pc:docMk/>
      </pc:docMkLst>
      <pc:sldChg chg="addSp delSp modSp mod">
        <pc:chgData name="henry.kabuye" userId="eb11684c-b2f7-47c6-a059-9031b708ef9b" providerId="ADAL" clId="{1DFA72CE-DF62-41DC-8B30-16B405C245CA}" dt="2026-06-22T15:38:02.767" v="159" actId="478"/>
        <pc:sldMkLst>
          <pc:docMk/>
          <pc:sldMk cId="4130658143" sldId="259"/>
        </pc:sldMkLst>
        <pc:spChg chg="del">
          <ac:chgData name="henry.kabuye" userId="eb11684c-b2f7-47c6-a059-9031b708ef9b" providerId="ADAL" clId="{1DFA72CE-DF62-41DC-8B30-16B405C245CA}" dt="2026-06-22T15:37:57.894" v="158" actId="478"/>
          <ac:spMkLst>
            <pc:docMk/>
            <pc:sldMk cId="4130658143" sldId="259"/>
            <ac:spMk id="3" creationId="{E25347FC-8A5F-8549-D393-1CA94B47F145}"/>
          </ac:spMkLst>
        </pc:spChg>
        <pc:spChg chg="add del mod">
          <ac:chgData name="henry.kabuye" userId="eb11684c-b2f7-47c6-a059-9031b708ef9b" providerId="ADAL" clId="{1DFA72CE-DF62-41DC-8B30-16B405C245CA}" dt="2026-06-22T15:38:02.767" v="159" actId="478"/>
          <ac:spMkLst>
            <pc:docMk/>
            <pc:sldMk cId="4130658143" sldId="259"/>
            <ac:spMk id="5" creationId="{BBBB8D72-8974-8C91-23C7-3ABAE9E8CC03}"/>
          </ac:spMkLst>
        </pc:spChg>
        <pc:picChg chg="mod">
          <ac:chgData name="henry.kabuye" userId="eb11684c-b2f7-47c6-a059-9031b708ef9b" providerId="ADAL" clId="{1DFA72CE-DF62-41DC-8B30-16B405C245CA}" dt="2026-06-22T15:37:48.996" v="157" actId="14100"/>
          <ac:picMkLst>
            <pc:docMk/>
            <pc:sldMk cId="4130658143" sldId="259"/>
            <ac:picMk id="7" creationId="{00000000-0000-0000-0000-000000000000}"/>
          </ac:picMkLst>
        </pc:picChg>
      </pc:sldChg>
      <pc:sldChg chg="delSp mod">
        <pc:chgData name="henry.kabuye" userId="eb11684c-b2f7-47c6-a059-9031b708ef9b" providerId="ADAL" clId="{1DFA72CE-DF62-41DC-8B30-16B405C245CA}" dt="2026-06-22T13:44:32.999" v="0" actId="21"/>
        <pc:sldMkLst>
          <pc:docMk/>
          <pc:sldMk cId="1357055969" sldId="260"/>
        </pc:sldMkLst>
        <pc:picChg chg="del">
          <ac:chgData name="henry.kabuye" userId="eb11684c-b2f7-47c6-a059-9031b708ef9b" providerId="ADAL" clId="{1DFA72CE-DF62-41DC-8B30-16B405C245CA}" dt="2026-06-22T13:44:32.999" v="0" actId="21"/>
          <ac:picMkLst>
            <pc:docMk/>
            <pc:sldMk cId="1357055969" sldId="260"/>
            <ac:picMk id="6" creationId="{00000000-0000-0000-0000-000000000000}"/>
          </ac:picMkLst>
        </pc:picChg>
      </pc:sldChg>
      <pc:sldChg chg="addSp modSp mod">
        <pc:chgData name="henry.kabuye" userId="eb11684c-b2f7-47c6-a059-9031b708ef9b" providerId="ADAL" clId="{1DFA72CE-DF62-41DC-8B30-16B405C245CA}" dt="2026-06-22T15:37:03.537" v="154" actId="1037"/>
        <pc:sldMkLst>
          <pc:docMk/>
          <pc:sldMk cId="3311130298" sldId="261"/>
        </pc:sldMkLst>
        <pc:spChg chg="mod">
          <ac:chgData name="henry.kabuye" userId="eb11684c-b2f7-47c6-a059-9031b708ef9b" providerId="ADAL" clId="{1DFA72CE-DF62-41DC-8B30-16B405C245CA}" dt="2026-06-22T15:35:48.842" v="59" actId="1035"/>
          <ac:spMkLst>
            <pc:docMk/>
            <pc:sldMk cId="3311130298" sldId="261"/>
            <ac:spMk id="2" creationId="{B3E49C1F-66CE-A3C2-A7FB-A02095B3A1D1}"/>
          </ac:spMkLst>
        </pc:spChg>
        <pc:spChg chg="mod">
          <ac:chgData name="henry.kabuye" userId="eb11684c-b2f7-47c6-a059-9031b708ef9b" providerId="ADAL" clId="{1DFA72CE-DF62-41DC-8B30-16B405C245CA}" dt="2026-06-22T15:36:11.945" v="123" actId="1038"/>
          <ac:spMkLst>
            <pc:docMk/>
            <pc:sldMk cId="3311130298" sldId="261"/>
            <ac:spMk id="8" creationId="{00000000-0000-0000-0000-000000000000}"/>
          </ac:spMkLst>
        </pc:spChg>
        <pc:picChg chg="mod">
          <ac:chgData name="henry.kabuye" userId="eb11684c-b2f7-47c6-a059-9031b708ef9b" providerId="ADAL" clId="{1DFA72CE-DF62-41DC-8B30-16B405C245CA}" dt="2026-06-22T15:35:14.073" v="39" actId="1076"/>
          <ac:picMkLst>
            <pc:docMk/>
            <pc:sldMk cId="3311130298" sldId="261"/>
            <ac:picMk id="7" creationId="{00000000-0000-0000-0000-000000000000}"/>
          </ac:picMkLst>
        </pc:picChg>
        <pc:picChg chg="add mod">
          <ac:chgData name="henry.kabuye" userId="eb11684c-b2f7-47c6-a059-9031b708ef9b" providerId="ADAL" clId="{1DFA72CE-DF62-41DC-8B30-16B405C245CA}" dt="2026-06-22T15:35:28.996" v="42" actId="1076"/>
          <ac:picMkLst>
            <pc:docMk/>
            <pc:sldMk cId="3311130298" sldId="261"/>
            <ac:picMk id="9" creationId="{64BEBB3D-83C1-4FFF-D060-202B242DDA07}"/>
          </ac:picMkLst>
        </pc:picChg>
        <pc:picChg chg="add mod">
          <ac:chgData name="henry.kabuye" userId="eb11684c-b2f7-47c6-a059-9031b708ef9b" providerId="ADAL" clId="{1DFA72CE-DF62-41DC-8B30-16B405C245CA}" dt="2026-06-22T15:37:03.537" v="154" actId="1037"/>
          <ac:picMkLst>
            <pc:docMk/>
            <pc:sldMk cId="3311130298" sldId="261"/>
            <ac:picMk id="10" creationId="{482E88EB-45C9-3B74-A55B-9EF69082CF2B}"/>
          </ac:picMkLst>
        </pc:picChg>
        <pc:cxnChg chg="mod">
          <ac:chgData name="henry.kabuye" userId="eb11684c-b2f7-47c6-a059-9031b708ef9b" providerId="ADAL" clId="{1DFA72CE-DF62-41DC-8B30-16B405C245CA}" dt="2026-06-22T15:35:58.704" v="91" actId="1035"/>
          <ac:cxnSpMkLst>
            <pc:docMk/>
            <pc:sldMk cId="3311130298" sldId="261"/>
            <ac:cxnSpMk id="4" creationId="{5B64D6CC-6420-9E00-377D-AFF39E392739}"/>
          </ac:cxnSpMkLst>
        </pc:cxnChg>
      </pc:sldChg>
      <pc:sldChg chg="addSp modSp mod">
        <pc:chgData name="henry.kabuye" userId="eb11684c-b2f7-47c6-a059-9031b708ef9b" providerId="ADAL" clId="{1DFA72CE-DF62-41DC-8B30-16B405C245CA}" dt="2026-06-22T13:45:44.682" v="8" actId="1076"/>
        <pc:sldMkLst>
          <pc:docMk/>
          <pc:sldMk cId="3182898238" sldId="265"/>
        </pc:sldMkLst>
        <pc:picChg chg="mod">
          <ac:chgData name="henry.kabuye" userId="eb11684c-b2f7-47c6-a059-9031b708ef9b" providerId="ADAL" clId="{1DFA72CE-DF62-41DC-8B30-16B405C245CA}" dt="2026-06-22T13:45:08.762" v="7" actId="1076"/>
          <ac:picMkLst>
            <pc:docMk/>
            <pc:sldMk cId="3182898238" sldId="265"/>
            <ac:picMk id="5" creationId="{00000000-0000-0000-0000-000000000000}"/>
          </ac:picMkLst>
        </pc:picChg>
        <pc:picChg chg="add mod">
          <ac:chgData name="henry.kabuye" userId="eb11684c-b2f7-47c6-a059-9031b708ef9b" providerId="ADAL" clId="{1DFA72CE-DF62-41DC-8B30-16B405C245CA}" dt="2026-06-22T13:45:44.682" v="8" actId="1076"/>
          <ac:picMkLst>
            <pc:docMk/>
            <pc:sldMk cId="3182898238" sldId="265"/>
            <ac:picMk id="6" creationId="{00000000-0000-0000-0000-000000000000}"/>
          </ac:picMkLst>
        </pc:picChg>
      </pc:sldChg>
      <pc:sldChg chg="modSp mod">
        <pc:chgData name="henry.kabuye" userId="eb11684c-b2f7-47c6-a059-9031b708ef9b" providerId="ADAL" clId="{1DFA72CE-DF62-41DC-8B30-16B405C245CA}" dt="2026-06-22T15:39:15.702" v="170" actId="1038"/>
        <pc:sldMkLst>
          <pc:docMk/>
          <pc:sldMk cId="1921626863" sldId="266"/>
        </pc:sldMkLst>
        <pc:picChg chg="mod">
          <ac:chgData name="henry.kabuye" userId="eb11684c-b2f7-47c6-a059-9031b708ef9b" providerId="ADAL" clId="{1DFA72CE-DF62-41DC-8B30-16B405C245CA}" dt="2026-06-22T15:39:15.702" v="170" actId="1038"/>
          <ac:picMkLst>
            <pc:docMk/>
            <pc:sldMk cId="1921626863" sldId="266"/>
            <ac:picMk id="4" creationId="{75DE178C-5A83-9353-F1AF-81CA57AB3D4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F61D55-4E99-C4E7-5A7E-2384074F5E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7F68B4-23B4-941B-1632-8A4DF1B1DA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B09D5A-8937-DF24-9EC0-7548CD208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91AEE-1648-4863-A003-0E0E8F40C7AE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4ED7E5-19DA-A779-2641-A5CEBA21D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B574C-25FD-8FA5-0413-D725710E7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99E0E-C52E-4FB8-9F83-0F44835545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7258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8A5E2-6E42-65CA-212F-F70C48B25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0FEE1E-8339-F5E1-A3C7-65D3D90D2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574FCC-2040-0F93-C5E7-97F0A1FF3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91AEE-1648-4863-A003-0E0E8F40C7AE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8A4B0-AB34-E3AD-7459-62C21BB9A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385A4D-FA58-8D0E-AA59-299210132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99E0E-C52E-4FB8-9F83-0F44835545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680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DCBD4-C11A-2BFF-5E07-7FAAFA6AD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164D9-0E77-7A6C-B849-D3679FFC8C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810F03-55E6-6B00-5AC8-9A63FFA4C2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91AEE-1648-4863-A003-0E0E8F40C7AE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5BA8E7-D333-C832-8FD1-1137DCDE8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105F6-F1B2-D3A6-93FF-C684EB46A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99E0E-C52E-4FB8-9F83-0F44835545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54894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01CDE-8D56-9C0A-D1AE-29B602D5D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980EE4-3633-4E69-9D35-2B177FE20A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A1CE3C-2083-11C3-E54F-8B2D0D89F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C4A50-7F98-FA86-2795-28326BC69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91AEE-1648-4863-A003-0E0E8F40C7AE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7CCDC8-FB9F-2CF5-7290-A049D5CEA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378E3-C297-69D5-9A00-5DD5F7C87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99E0E-C52E-4FB8-9F83-0F44835545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38562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EA6FE-F99F-5DDB-34FF-3F87E9EC7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9AB5C6-8D91-44E1-A327-EADBFE4462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EEC748-E771-1E4E-F07D-80E25D879C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A718D9-360B-92BD-AB07-118A637C7D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9471DB-2F95-020F-4934-BA7CC2A3E5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CE0044C-90EA-C223-1336-071093E86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91AEE-1648-4863-A003-0E0E8F40C7AE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61CDBA-D0D7-8F8E-036F-156489977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9B43CE-CB53-3074-262A-325AF83FB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99E0E-C52E-4FB8-9F83-0F44835545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29004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7476A-D008-336B-BAC6-93C1498C2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E915B1-A1E5-02D8-0350-B1E4B4B6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91AEE-1648-4863-A003-0E0E8F40C7AE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93F818-2EB9-0FE2-2497-B3402E766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47EDFC-134E-9E07-0418-5B54EA6C8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99E0E-C52E-4FB8-9F83-0F44835545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5197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00B3CB-B707-2F94-D3D3-9407B35D2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91AEE-1648-4863-A003-0E0E8F40C7AE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9B799E-CAF5-0BCE-B731-A067050FB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1AB239-6627-9741-8FFF-B1149F9E2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99E0E-C52E-4FB8-9F83-0F44835545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9308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061D9-0ECE-EA09-531A-882006D27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BFA59-B953-AA41-D48F-9034B1DCC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EA0B96-E8B6-F966-47A6-EB512E8407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90D655-A856-5A04-41DC-2F144D660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91AEE-1648-4863-A003-0E0E8F40C7AE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5E7B30-E30B-0D3D-C098-53AC30315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8EB8FC-FB55-8A50-EE04-15918A0A72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99E0E-C52E-4FB8-9F83-0F44835545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91307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AF229-452B-AF39-4E5E-D7654E2A4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49C059-AE1F-B6DA-3D5D-BBECBA0F1A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07FDFD-D283-EA08-DF78-0E460F5BA8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7EE455-CB82-E454-1BEE-173CEB9F2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91AEE-1648-4863-A003-0E0E8F40C7AE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750C57-DB8F-2F88-F826-E345AAB1C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B647BD-A742-867F-537C-DA7282E429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99E0E-C52E-4FB8-9F83-0F44835545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3630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F6527-5E57-FA52-E769-43B39D2BB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EB3839-9A54-FAC1-19C7-C32E1EABD8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E54F79-90A8-1035-7E1C-DD4559B30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91AEE-1648-4863-A003-0E0E8F40C7AE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E0206-78A3-7F82-ADE0-497852EAFA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89A096-994D-BD3F-7B59-B7D4BB4BC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99E0E-C52E-4FB8-9F83-0F44835545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5099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9F3F51-BAD3-2CFE-4560-C12BC65C27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0F9A00-0C0B-8F32-5B0A-4C272C2FB8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F0847-163E-EEFF-F190-7241D9A5D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91AEE-1648-4863-A003-0E0E8F40C7AE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AA88C-5202-555A-3850-16D38FD43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6DC90F-5CD9-1FE8-D09D-28842A754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99E0E-C52E-4FB8-9F83-0F44835545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457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CD1924-8C56-918C-704C-E26BFFF26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17284-D41D-143A-6505-0C9491D60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C72C67-1521-3216-DC0D-8F483D3C5D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A91AEE-1648-4863-A003-0E0E8F40C7AE}" type="datetimeFigureOut">
              <a:rPr lang="en-GB" smtClean="0"/>
              <a:t>22/06/2026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11D4C6-5CEE-8560-D01C-EF94093C0E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836511-D1ED-E0B9-94BB-ABDB61C0EC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399E0E-C52E-4FB8-9F83-0F44835545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2733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F9899745-B66E-604A-C911-25D6034185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sz="1600">
                <a:solidFill>
                  <a:srgbClr val="156082"/>
                </a:solidFill>
                <a:latin typeface="Aptos"/>
              </a:rPr>
              <a:t>Henry Kabuye · Biju Issac · Neera Jeyamohan
Northumbria University
CRANE AI-Cyber SIG | June 2026</a:t>
            </a:r>
            <a:endParaRPr lang="en-GB">
              <a:solidFill>
                <a:schemeClr val="bg1">
                  <a:lumMod val="50000"/>
                </a:schemeClr>
              </a:solidFill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9E5F92F-480A-08D3-08B5-A96A379F7C9A}"/>
              </a:ext>
            </a:extLst>
          </p:cNvPr>
          <p:cNvCxnSpPr/>
          <p:nvPr/>
        </p:nvCxnSpPr>
        <p:spPr>
          <a:xfrm>
            <a:off x="190870" y="3429000"/>
            <a:ext cx="117984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370448E2-EFAF-10DB-D1C9-F7EB84CD30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9379" y="5858455"/>
            <a:ext cx="2727569" cy="73626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0749AA9-5BFB-B942-F3D2-DB00631151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3767" y="5861275"/>
            <a:ext cx="3474130" cy="746395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B56106C6-5079-B863-229C-AB7BD33C35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2400" b="1">
                <a:solidFill>
                  <a:srgbClr val="0E2841"/>
                </a:solidFill>
                <a:latin typeface="Aptos Display"/>
              </a:rPr>
              <a:t>SABRE: An Uncertainty-Aware Modular
Semantic–Behavioural Triage Framework
for Adaptive Ransomware Detection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748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4E40D7-BE15-03B3-6F32-D4894228A3A0}"/>
              </a:ext>
            </a:extLst>
          </p:cNvPr>
          <p:cNvCxnSpPr/>
          <p:nvPr/>
        </p:nvCxnSpPr>
        <p:spPr>
          <a:xfrm>
            <a:off x="196788" y="1364942"/>
            <a:ext cx="117984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19012-1158-CC85-7281-8334EED33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34633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>
              <a:spcBef>
                <a:spcPts val="400"/>
              </a:spcBef>
              <a:buClr>
                <a:srgbClr val="E97132"/>
              </a:buClr>
              <a:buFont typeface="Arial"/>
              <a:buChar char="▸"/>
            </a:pPr>
            <a:r>
              <a:rPr lang="en-GB" sz="1800" b="0" dirty="0">
                <a:latin typeface="Aptos"/>
              </a:rPr>
              <a:t>The Problem — why binary detection fails in practice</a:t>
            </a:r>
          </a:p>
          <a:p>
            <a:pPr lvl="1">
              <a:spcBef>
                <a:spcPts val="400"/>
              </a:spcBef>
              <a:buClr>
                <a:srgbClr val="E97132"/>
              </a:buClr>
              <a:buFont typeface="Arial"/>
              <a:buChar char="▸"/>
            </a:pPr>
            <a:r>
              <a:rPr lang="en-GB" sz="1800" b="0" dirty="0">
                <a:latin typeface="Aptos"/>
              </a:rPr>
              <a:t>SABRE Architecture — two complementary detection agents</a:t>
            </a:r>
          </a:p>
          <a:p>
            <a:pPr lvl="1">
              <a:spcBef>
                <a:spcPts val="400"/>
              </a:spcBef>
              <a:buClr>
                <a:srgbClr val="E97132"/>
              </a:buClr>
              <a:buFont typeface="Arial"/>
              <a:buChar char="▸"/>
            </a:pPr>
            <a:r>
              <a:rPr lang="en-GB" sz="1800" b="0" dirty="0">
                <a:latin typeface="Aptos"/>
              </a:rPr>
              <a:t>Triage Policy — operationalising uncertainty as a control variable</a:t>
            </a:r>
          </a:p>
          <a:p>
            <a:pPr lvl="1">
              <a:spcBef>
                <a:spcPts val="400"/>
              </a:spcBef>
              <a:buClr>
                <a:srgbClr val="E97132"/>
              </a:buClr>
              <a:buFont typeface="Arial"/>
              <a:buChar char="▸"/>
            </a:pPr>
            <a:r>
              <a:rPr lang="en-GB" sz="1800" b="0" dirty="0">
                <a:latin typeface="Aptos"/>
              </a:rPr>
              <a:t>Results — where SABRE works and where it struggles</a:t>
            </a:r>
          </a:p>
          <a:p>
            <a:pPr lvl="1">
              <a:spcBef>
                <a:spcPts val="400"/>
              </a:spcBef>
              <a:buClr>
                <a:srgbClr val="E97132"/>
              </a:buClr>
              <a:buFont typeface="Arial"/>
              <a:buChar char="▸"/>
            </a:pPr>
            <a:r>
              <a:rPr lang="en-GB" sz="1800" b="0" dirty="0">
                <a:latin typeface="Aptos"/>
              </a:rPr>
              <a:t>Explainability — making decisions auditable</a:t>
            </a:r>
          </a:p>
          <a:p>
            <a:pPr lvl="1">
              <a:spcBef>
                <a:spcPts val="400"/>
              </a:spcBef>
              <a:buClr>
                <a:srgbClr val="E97132"/>
              </a:buClr>
              <a:buFont typeface="Arial"/>
              <a:buChar char="▸"/>
            </a:pPr>
            <a:r>
              <a:rPr lang="en-GB" sz="1800" b="0" dirty="0">
                <a:latin typeface="Aptos"/>
              </a:rPr>
              <a:t>SABRE-II — learned fusion and Bayesian policy optimisation</a:t>
            </a:r>
          </a:p>
          <a:p>
            <a:pPr lvl="1">
              <a:spcBef>
                <a:spcPts val="400"/>
              </a:spcBef>
              <a:buClr>
                <a:srgbClr val="E97132"/>
              </a:buClr>
              <a:buFont typeface="Arial"/>
              <a:buChar char="▸"/>
            </a:pPr>
            <a:r>
              <a:rPr lang="en-GB" sz="1800" b="0" dirty="0">
                <a:latin typeface="Aptos"/>
              </a:rPr>
              <a:t>Conclusions &amp; Discussion</a:t>
            </a:r>
          </a:p>
          <a:p>
            <a:pPr>
              <a:buNone/>
            </a:pPr>
            <a:endParaRPr lang="en-GB" sz="1800" b="0" dirty="0">
              <a:latin typeface="Aptos"/>
            </a:endParaRPr>
          </a:p>
          <a:p>
            <a:pPr algn="ctr">
              <a:buNone/>
            </a:pPr>
            <a:r>
              <a:rPr lang="en-GB" sz="1500" b="0" dirty="0">
                <a:latin typeface="Aptos"/>
              </a:rPr>
              <a:t>15 min talk · 5 min Q&amp;A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7BA404-C596-C471-3B59-87E69A4BB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E2841"/>
                </a:solidFill>
                <a:latin typeface="Aptos Display"/>
              </a:rPr>
              <a:t>Agenda</a:t>
            </a:r>
            <a:endParaRPr lang="en-GB" err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BA404-C596-C471-3B59-87E69A4BB8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0E2841"/>
                </a:solidFill>
                <a:latin typeface="Aptos Display"/>
              </a:rPr>
              <a:t>Ransomware Defence Is a Decision Problem</a:t>
            </a:r>
            <a:endParaRPr lang="en-GB" err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19012-1158-CC85-7281-8334EED33B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r>
              <a:rPr lang="en-GB" sz="1800" b="1" dirty="0">
                <a:latin typeface="Aptos"/>
              </a:rPr>
              <a:t>Current detectors give a binary answer — but deployment demands more</a:t>
            </a:r>
          </a:p>
          <a:p>
            <a:pPr>
              <a:buNone/>
            </a:pPr>
            <a:endParaRPr lang="en-GB" sz="1800" b="1" dirty="0">
              <a:latin typeface="Aptos"/>
            </a:endParaRPr>
          </a:p>
          <a:p>
            <a:pPr lvl="1">
              <a:buClr>
                <a:srgbClr val="E97132"/>
              </a:buClr>
              <a:buFont typeface="Arial"/>
              <a:buChar char="▸"/>
            </a:pPr>
            <a:r>
              <a:rPr lang="en-GB" sz="1700" b="0" dirty="0">
                <a:latin typeface="Aptos"/>
              </a:rPr>
              <a:t>False automated containment = operational disruption (FP cost)</a:t>
            </a:r>
          </a:p>
          <a:p>
            <a:pPr lvl="1">
              <a:buClr>
                <a:srgbClr val="E97132"/>
              </a:buClr>
              <a:buFont typeface="Arial"/>
              <a:buChar char="▸"/>
            </a:pPr>
            <a:r>
              <a:rPr lang="en-GB" sz="1700" b="0" dirty="0">
                <a:latin typeface="Aptos"/>
              </a:rPr>
              <a:t>Missed detection = encryption, data loss, ransom payment (FN cost)</a:t>
            </a:r>
          </a:p>
          <a:p>
            <a:pPr lvl="1">
              <a:buClr>
                <a:srgbClr val="E97132"/>
              </a:buClr>
              <a:buFont typeface="Arial"/>
              <a:buChar char="▸"/>
            </a:pPr>
            <a:r>
              <a:rPr lang="en-GB" sz="1700" b="0" dirty="0">
                <a:latin typeface="Aptos"/>
              </a:rPr>
              <a:t>Novel families and obfuscated variants degrade confidence silently</a:t>
            </a:r>
          </a:p>
          <a:p>
            <a:pPr lvl="1">
              <a:buClr>
                <a:srgbClr val="E97132"/>
              </a:buClr>
              <a:buFont typeface="Arial"/>
              <a:buChar char="▸"/>
            </a:pPr>
            <a:r>
              <a:rPr lang="en-GB" sz="1700" b="0" dirty="0">
                <a:latin typeface="Aptos"/>
              </a:rPr>
              <a:t>Analyst workload spikes when every alert demands manual review</a:t>
            </a:r>
          </a:p>
          <a:p>
            <a:pPr>
              <a:buNone/>
            </a:pPr>
            <a:endParaRPr lang="en-GB" sz="1700" b="0" dirty="0">
              <a:latin typeface="Aptos"/>
            </a:endParaRPr>
          </a:p>
          <a:p>
            <a:pPr>
              <a:buNone/>
            </a:pPr>
            <a:r>
              <a:rPr lang="en-GB" sz="1700" b="1" dirty="0">
                <a:latin typeface="Aptos"/>
              </a:rPr>
              <a:t>What is missing from the state of practice:</a:t>
            </a:r>
          </a:p>
          <a:p>
            <a:pPr lvl="1">
              <a:buClr>
                <a:srgbClr val="E97132"/>
              </a:buClr>
              <a:buFont typeface="Arial"/>
              <a:buChar char="▸"/>
            </a:pPr>
            <a:r>
              <a:rPr lang="en-GB" sz="1600" b="0" dirty="0">
                <a:latin typeface="Aptos"/>
              </a:rPr>
              <a:t>Principled uncertainty — how confident is the detector, and why?</a:t>
            </a:r>
          </a:p>
          <a:p>
            <a:pPr lvl="1">
              <a:buClr>
                <a:srgbClr val="E97132"/>
              </a:buClr>
              <a:buFont typeface="Arial"/>
              <a:buChar char="▸"/>
            </a:pPr>
            <a:r>
              <a:rPr lang="en-GB" sz="1600" b="0" dirty="0">
                <a:latin typeface="Aptos"/>
              </a:rPr>
              <a:t>Actionable triage — automated on confident cases, escalated on uncertain ones</a:t>
            </a:r>
          </a:p>
          <a:p>
            <a:pPr lvl="1">
              <a:buClr>
                <a:srgbClr val="E97132"/>
              </a:buClr>
              <a:buFont typeface="Arial"/>
              <a:buChar char="▸"/>
            </a:pPr>
            <a:r>
              <a:rPr lang="en-GB" sz="1600" b="0" dirty="0">
                <a:latin typeface="Aptos"/>
              </a:rPr>
              <a:t>Modality-aware fusion — semantic PE signals ≠ runtime telemetry signals</a:t>
            </a:r>
          </a:p>
          <a:p>
            <a:pPr>
              <a:buNone/>
            </a:pPr>
            <a:endParaRPr lang="en-GB" sz="1600" b="0" dirty="0">
              <a:latin typeface="Aptos"/>
            </a:endParaRPr>
          </a:p>
          <a:p>
            <a:pPr>
              <a:buNone/>
            </a:pPr>
            <a:r>
              <a:rPr lang="en-GB" sz="1800" b="1" dirty="0">
                <a:latin typeface="Aptos"/>
              </a:rPr>
              <a:t>SABRE operationalises uncertainty as a control variable for safer deployment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04E40D7-BE15-03B3-6F32-D4894228A3A0}"/>
              </a:ext>
            </a:extLst>
          </p:cNvPr>
          <p:cNvCxnSpPr/>
          <p:nvPr/>
        </p:nvCxnSpPr>
        <p:spPr>
          <a:xfrm>
            <a:off x="196788" y="1364942"/>
            <a:ext cx="117984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7024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741D3-F503-FF21-EF1D-4D9523D4E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157011" cy="1325563"/>
          </a:xfrm>
        </p:spPr>
        <p:txBody>
          <a:bodyPr>
            <a:normAutofit/>
          </a:bodyPr>
          <a:lstStyle/>
          <a:p>
            <a:r>
              <a:rPr sz="2800" b="1">
                <a:solidFill>
                  <a:srgbClr val="0E2841"/>
                </a:solidFill>
                <a:latin typeface="Aptos Display"/>
              </a:rPr>
              <a:t>SABRE: Two Complementary Detection Agents</a:t>
            </a:r>
            <a:endParaRPr lang="en-GB" sz="4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97E979-7C16-34BE-78A8-6078C13F4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DC6B19F-A096-0250-5D30-B274E684D7E0}"/>
              </a:ext>
            </a:extLst>
          </p:cNvPr>
          <p:cNvCxnSpPr/>
          <p:nvPr/>
        </p:nvCxnSpPr>
        <p:spPr>
          <a:xfrm>
            <a:off x="196788" y="1364942"/>
            <a:ext cx="117984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66221" y="1825625"/>
            <a:ext cx="5950483" cy="39087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buClr>
                <a:srgbClr val="E97132"/>
              </a:buClr>
              <a:buFont typeface="Arial"/>
              <a:buChar char="▸"/>
            </a:pPr>
            <a:r>
              <a:rPr lang="en-GB" sz="1700" b="1" dirty="0">
                <a:latin typeface="Aptos"/>
              </a:rPr>
              <a:t>Semantic Agent</a:t>
            </a:r>
          </a:p>
          <a:p>
            <a:pPr lvl="2">
              <a:buClr>
                <a:srgbClr val="0F9ED5"/>
              </a:buClr>
              <a:buFont typeface="Arial"/>
              <a:buChar char="–"/>
            </a:pPr>
            <a:r>
              <a:rPr lang="en-GB" sz="1500" b="0" dirty="0">
                <a:latin typeface="Aptos"/>
              </a:rPr>
              <a:t>Input: PE file → section names → sentence transformer (384D)</a:t>
            </a:r>
          </a:p>
          <a:p>
            <a:pPr lvl="2">
              <a:buClr>
                <a:srgbClr val="0F9ED5"/>
              </a:buClr>
              <a:buFont typeface="Arial"/>
              <a:buChar char="–"/>
            </a:pPr>
            <a:r>
              <a:rPr lang="en-GB" sz="1500" b="0" dirty="0">
                <a:latin typeface="Aptos"/>
              </a:rPr>
              <a:t>Detects structural packing and obfuscation patterns</a:t>
            </a:r>
          </a:p>
          <a:p>
            <a:pPr>
              <a:buNone/>
            </a:pPr>
            <a:endParaRPr lang="en-GB" sz="1500" b="0" dirty="0">
              <a:latin typeface="Aptos"/>
            </a:endParaRPr>
          </a:p>
          <a:p>
            <a:pPr lvl="1">
              <a:buClr>
                <a:srgbClr val="E97132"/>
              </a:buClr>
              <a:buFont typeface="Arial"/>
              <a:buChar char="▸"/>
            </a:pPr>
            <a:r>
              <a:rPr lang="en-GB" sz="1700" b="1" dirty="0">
                <a:latin typeface="Aptos"/>
              </a:rPr>
              <a:t>Behavioural Agent</a:t>
            </a:r>
          </a:p>
          <a:p>
            <a:pPr lvl="2">
              <a:buClr>
                <a:srgbClr val="0F9ED5"/>
              </a:buClr>
              <a:buFont typeface="Arial"/>
              <a:buChar char="–"/>
            </a:pPr>
            <a:r>
              <a:rPr lang="en-GB" sz="1500" b="0" dirty="0">
                <a:latin typeface="Aptos"/>
              </a:rPr>
              <a:t>Input: 10-second telemetry windows → 16D features</a:t>
            </a:r>
          </a:p>
          <a:p>
            <a:pPr lvl="2">
              <a:buClr>
                <a:srgbClr val="0F9ED5"/>
              </a:buClr>
              <a:buFont typeface="Arial"/>
              <a:buChar char="–"/>
            </a:pPr>
            <a:r>
              <a:rPr lang="en-GB" sz="1500" b="0" dirty="0">
                <a:latin typeface="Aptos"/>
              </a:rPr>
              <a:t>Storage: LBA variance, write entropy, throughput</a:t>
            </a:r>
          </a:p>
          <a:p>
            <a:pPr lvl="2">
              <a:buClr>
                <a:srgbClr val="0F9ED5"/>
              </a:buClr>
              <a:buFont typeface="Arial"/>
              <a:buChar char="–"/>
            </a:pPr>
            <a:r>
              <a:rPr lang="en-GB" sz="1500" b="0" dirty="0">
                <a:latin typeface="Aptos"/>
              </a:rPr>
              <a:t>Memory: GPA variance, page counts, entropy</a:t>
            </a:r>
          </a:p>
          <a:p>
            <a:pPr>
              <a:buNone/>
            </a:pPr>
            <a:endParaRPr lang="en-GB" sz="1500" b="0" dirty="0">
              <a:latin typeface="Aptos"/>
            </a:endParaRPr>
          </a:p>
          <a:p>
            <a:pPr lvl="1">
              <a:buClr>
                <a:srgbClr val="E97132"/>
              </a:buClr>
              <a:buFont typeface="Arial"/>
              <a:buChar char="▸"/>
            </a:pPr>
            <a:r>
              <a:rPr lang="en-GB" sz="1700" b="1" dirty="0">
                <a:latin typeface="Aptos"/>
              </a:rPr>
              <a:t>Uncertainty Quantification</a:t>
            </a:r>
          </a:p>
          <a:p>
            <a:pPr lvl="2">
              <a:buClr>
                <a:srgbClr val="0F9ED5"/>
              </a:buClr>
              <a:buFont typeface="Arial"/>
              <a:buChar char="–"/>
            </a:pPr>
            <a:r>
              <a:rPr lang="en-GB" sz="1500" b="0" dirty="0">
                <a:latin typeface="Aptos"/>
              </a:rPr>
              <a:t>Monte Carlo Dropout (T=10 passes) per agent</a:t>
            </a:r>
          </a:p>
          <a:p>
            <a:pPr lvl="2">
              <a:buClr>
                <a:srgbClr val="0F9ED5"/>
              </a:buClr>
              <a:buFont typeface="Arial"/>
              <a:buChar char="–"/>
            </a:pPr>
            <a:r>
              <a:rPr lang="en-GB" sz="1500" b="0" dirty="0">
                <a:latin typeface="Aptos"/>
              </a:rPr>
              <a:t>Each agent outputs: prediction p̂ + uncertainty σ</a:t>
            </a:r>
          </a:p>
          <a:p>
            <a:pPr>
              <a:buNone/>
            </a:pPr>
            <a:endParaRPr lang="en-GB" sz="1500" b="0" dirty="0">
              <a:latin typeface="Aptos"/>
            </a:endParaRPr>
          </a:p>
          <a:p>
            <a:pPr lvl="1">
              <a:buClr>
                <a:srgbClr val="E97132"/>
              </a:buClr>
              <a:buFont typeface="Arial"/>
              <a:buChar char="▸"/>
            </a:pPr>
            <a:r>
              <a:rPr lang="en-GB" sz="1600" b="1" dirty="0">
                <a:latin typeface="Aptos"/>
              </a:rPr>
              <a:t>Score fusion → triage policy → AUTO-CONTAIN / ESCALATE / ALLOW</a:t>
            </a:r>
          </a:p>
        </p:txBody>
      </p:sp>
    </p:spTree>
    <p:extLst>
      <p:ext uri="{BB962C8B-B14F-4D97-AF65-F5344CB8AC3E}">
        <p14:creationId xmlns:p14="http://schemas.microsoft.com/office/powerpoint/2010/main" val="2907032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5DE178C-5A83-9353-F1AF-81CA57AB3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92" y="1329302"/>
            <a:ext cx="11348720" cy="3664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1626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BA97D-8135-E408-C3BF-AD4EC3E92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235431" cy="1325563"/>
          </a:xfrm>
        </p:spPr>
        <p:txBody>
          <a:bodyPr>
            <a:normAutofit/>
          </a:bodyPr>
          <a:lstStyle/>
          <a:p>
            <a:r>
              <a:rPr sz="2800" b="1">
                <a:solidFill>
                  <a:srgbClr val="0E2841"/>
                </a:solidFill>
                <a:latin typeface="Aptos Display"/>
              </a:rPr>
              <a:t>Operationalising Uncertainty: The Triage Policy</a:t>
            </a:r>
            <a:endParaRPr lang="en-GB" sz="420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787C24A-0C4A-FC64-7A16-BB6A00A4DB8D}"/>
              </a:ext>
            </a:extLst>
          </p:cNvPr>
          <p:cNvCxnSpPr/>
          <p:nvPr/>
        </p:nvCxnSpPr>
        <p:spPr>
          <a:xfrm>
            <a:off x="196788" y="1364942"/>
            <a:ext cx="117984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Triage_policy_spa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5914" y="1690688"/>
            <a:ext cx="5165821" cy="387436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71662" y="1857314"/>
            <a:ext cx="5911151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800" b="1" dirty="0">
                <a:latin typeface="Aptos"/>
              </a:rPr>
              <a:t>Three-way decision (not binary):</a:t>
            </a:r>
          </a:p>
          <a:p>
            <a:pPr>
              <a:buNone/>
            </a:pPr>
            <a:endParaRPr lang="en-GB" sz="1800" b="1" dirty="0">
              <a:latin typeface="Aptos"/>
            </a:endParaRPr>
          </a:p>
          <a:p>
            <a:pPr lvl="1">
              <a:buClr>
                <a:srgbClr val="E97132"/>
              </a:buClr>
              <a:buFont typeface="Arial"/>
              <a:buChar char="▸"/>
            </a:pPr>
            <a:r>
              <a:rPr lang="en-GB" sz="1700" b="1" dirty="0">
                <a:latin typeface="Aptos"/>
              </a:rPr>
              <a:t>AUTO-CONTAIN</a:t>
            </a:r>
          </a:p>
          <a:p>
            <a:pPr lvl="2">
              <a:buClr>
                <a:srgbClr val="0F9ED5"/>
              </a:buClr>
              <a:buFont typeface="Arial"/>
              <a:buChar char="–"/>
            </a:pPr>
            <a:r>
              <a:rPr lang="en-GB" sz="1500" b="0" dirty="0">
                <a:latin typeface="Aptos"/>
              </a:rPr>
              <a:t>p̂ ≥ τ_high  AND  σ_max ≤ κ_low</a:t>
            </a:r>
          </a:p>
          <a:p>
            <a:pPr lvl="2">
              <a:buClr>
                <a:srgbClr val="0F9ED5"/>
              </a:buClr>
              <a:buFont typeface="Arial"/>
              <a:buChar char="–"/>
            </a:pPr>
            <a:r>
              <a:rPr lang="en-GB" sz="1500" b="0" dirty="0">
                <a:latin typeface="Aptos"/>
              </a:rPr>
              <a:t>High confidence ransomware → act immediately</a:t>
            </a:r>
          </a:p>
          <a:p>
            <a:pPr>
              <a:buNone/>
            </a:pPr>
            <a:endParaRPr lang="en-GB" sz="1500" b="0" dirty="0">
              <a:latin typeface="Aptos"/>
            </a:endParaRPr>
          </a:p>
          <a:p>
            <a:pPr lvl="1">
              <a:buClr>
                <a:srgbClr val="E97132"/>
              </a:buClr>
              <a:buFont typeface="Arial"/>
              <a:buChar char="▸"/>
            </a:pPr>
            <a:r>
              <a:rPr lang="en-GB" sz="1700" b="1" dirty="0">
                <a:latin typeface="Aptos"/>
              </a:rPr>
              <a:t>ESCALATE</a:t>
            </a:r>
          </a:p>
          <a:p>
            <a:pPr lvl="2">
              <a:buClr>
                <a:srgbClr val="0F9ED5"/>
              </a:buClr>
              <a:buFont typeface="Arial"/>
              <a:buChar char="–"/>
            </a:pPr>
            <a:r>
              <a:rPr lang="en-GB" sz="1500" b="0" dirty="0">
                <a:latin typeface="Aptos"/>
              </a:rPr>
              <a:t>p̂ ≥ τ  AND  σ_max &gt; κ  (uncertain but suspicious)</a:t>
            </a:r>
          </a:p>
          <a:p>
            <a:pPr lvl="2">
              <a:buClr>
                <a:srgbClr val="0F9ED5"/>
              </a:buClr>
              <a:buFont typeface="Arial"/>
              <a:buChar char="–"/>
            </a:pPr>
            <a:r>
              <a:rPr lang="en-GB" sz="1500" b="0" dirty="0">
                <a:latin typeface="Aptos"/>
              </a:rPr>
              <a:t>OR  p̂ high but evidence conflicts across agents</a:t>
            </a:r>
          </a:p>
          <a:p>
            <a:pPr lvl="2">
              <a:buClr>
                <a:srgbClr val="0F9ED5"/>
              </a:buClr>
              <a:buFont typeface="Arial"/>
              <a:buChar char="–"/>
            </a:pPr>
            <a:r>
              <a:rPr lang="en-GB" sz="1500" b="0" dirty="0">
                <a:latin typeface="Aptos"/>
              </a:rPr>
              <a:t>→ Route to analyst; uncertainty is the trigger</a:t>
            </a:r>
          </a:p>
          <a:p>
            <a:pPr>
              <a:buNone/>
            </a:pPr>
            <a:endParaRPr lang="en-GB" sz="1500" b="0" dirty="0">
              <a:latin typeface="Aptos"/>
            </a:endParaRPr>
          </a:p>
          <a:p>
            <a:pPr lvl="1">
              <a:buClr>
                <a:srgbClr val="E97132"/>
              </a:buClr>
              <a:buFont typeface="Arial"/>
              <a:buChar char="▸"/>
            </a:pPr>
            <a:r>
              <a:rPr lang="en-GB" sz="1700" b="1" dirty="0">
                <a:latin typeface="Aptos"/>
              </a:rPr>
              <a:t>ALLOW</a:t>
            </a:r>
          </a:p>
          <a:p>
            <a:pPr lvl="2">
              <a:buClr>
                <a:srgbClr val="0F9ED5"/>
              </a:buClr>
              <a:buFont typeface="Arial"/>
              <a:buChar char="–"/>
            </a:pPr>
            <a:r>
              <a:rPr lang="en-GB" sz="1500" b="0" dirty="0">
                <a:latin typeface="Aptos"/>
              </a:rPr>
              <a:t>Confident benign prediction → pass through</a:t>
            </a:r>
          </a:p>
          <a:p>
            <a:pPr>
              <a:buNone/>
            </a:pPr>
            <a:endParaRPr lang="en-GB" sz="1500" b="0" dirty="0">
              <a:latin typeface="Aptos"/>
            </a:endParaRPr>
          </a:p>
          <a:p>
            <a:pPr>
              <a:buNone/>
            </a:pPr>
            <a:r>
              <a:rPr lang="en-GB" sz="1600" b="1" dirty="0">
                <a:latin typeface="Aptos"/>
              </a:rPr>
              <a:t>Key insight: uncertainty gates automation —</a:t>
            </a:r>
          </a:p>
          <a:p>
            <a:pPr>
              <a:buNone/>
            </a:pPr>
            <a:r>
              <a:rPr lang="en-GB" sz="1600" b="1" dirty="0">
                <a:latin typeface="Aptos"/>
              </a:rPr>
              <a:t>the system knows when NOT to act autonomously</a:t>
            </a:r>
          </a:p>
        </p:txBody>
      </p:sp>
    </p:spTree>
    <p:extLst>
      <p:ext uri="{BB962C8B-B14F-4D97-AF65-F5344CB8AC3E}">
        <p14:creationId xmlns:p14="http://schemas.microsoft.com/office/powerpoint/2010/main" val="41306581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2E2A3-7B5F-3395-1F81-EB77EF2D81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1142216" cy="1325563"/>
          </a:xfrm>
        </p:spPr>
        <p:txBody>
          <a:bodyPr>
            <a:normAutofit/>
          </a:bodyPr>
          <a:lstStyle/>
          <a:p>
            <a:r>
              <a:rPr sz="2800" b="1">
                <a:solidFill>
                  <a:srgbClr val="0E2841"/>
                </a:solidFill>
                <a:latin typeface="Aptos Display"/>
              </a:rPr>
              <a:t>Results: Where SABRE Works and Where It Struggles</a:t>
            </a:r>
            <a:endParaRPr lang="en-GB" sz="4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AB857-8CF3-AA53-D5EA-A1969D9CB5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GB"/>
          </a:p>
          <a:p>
            <a:endParaRPr lang="en-GB"/>
          </a:p>
          <a:p>
            <a:endParaRPr lang="en-GB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62E8508-6886-DEC6-8DCF-EDE43333A572}"/>
              </a:ext>
            </a:extLst>
          </p:cNvPr>
          <p:cNvCxnSpPr/>
          <p:nvPr/>
        </p:nvCxnSpPr>
        <p:spPr>
          <a:xfrm>
            <a:off x="196788" y="1364942"/>
            <a:ext cx="117984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AC681000-16B4-5876-9755-AD23724D05D3}"/>
              </a:ext>
            </a:extLst>
          </p:cNvPr>
          <p:cNvSpPr>
            <a:spLocks noGrp="1"/>
          </p:cNvSpPr>
          <p:nvPr/>
        </p:nvSpPr>
        <p:spPr>
          <a:xfrm>
            <a:off x="885873" y="2169646"/>
            <a:ext cx="4967889" cy="8786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77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  <a:p>
            <a:endParaRPr lang="en-IN"/>
          </a:p>
          <a:p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713158" y="1825625"/>
            <a:ext cx="6307073" cy="4495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700" b="1" dirty="0">
                <a:latin typeface="Aptos"/>
              </a:rPr>
              <a:t>Semantic setting (RDset — 138K PE files):</a:t>
            </a:r>
          </a:p>
          <a:p>
            <a:pPr lvl="1">
              <a:buClr>
                <a:srgbClr val="E97132"/>
              </a:buClr>
              <a:buFont typeface="Arial"/>
              <a:buChar char="▸"/>
            </a:pPr>
            <a:r>
              <a:rPr lang="en-GB" sz="1600" b="0" dirty="0">
                <a:latin typeface="Aptos"/>
              </a:rPr>
              <a:t>Semantic agent: AUROC 0.996 — strong PE separation</a:t>
            </a:r>
          </a:p>
          <a:p>
            <a:pPr lvl="1">
              <a:buClr>
                <a:srgbClr val="E97132"/>
              </a:buClr>
              <a:buFont typeface="Arial"/>
              <a:buChar char="▸"/>
            </a:pPr>
            <a:r>
              <a:rPr lang="en-GB" sz="1600" b="0" dirty="0">
                <a:latin typeface="Aptos"/>
              </a:rPr>
              <a:t>PE structural features discriminate clearly</a:t>
            </a:r>
          </a:p>
          <a:p>
            <a:pPr>
              <a:buNone/>
            </a:pPr>
            <a:endParaRPr lang="en-GB" sz="1600" b="0" dirty="0">
              <a:latin typeface="Aptos"/>
            </a:endParaRPr>
          </a:p>
          <a:p>
            <a:pPr>
              <a:buNone/>
            </a:pPr>
            <a:r>
              <a:rPr lang="en-GB" sz="1700" b="1" dirty="0">
                <a:latin typeface="Aptos"/>
              </a:rPr>
              <a:t>Behavioural setting (RanSMAP — 35,857 windows, 15 hardware configs):</a:t>
            </a:r>
          </a:p>
          <a:p>
            <a:pPr lvl="1">
              <a:buClr>
                <a:srgbClr val="E97132"/>
              </a:buClr>
              <a:buFont typeface="Arial"/>
              <a:buChar char="▸"/>
            </a:pPr>
            <a:r>
              <a:rPr lang="en-GB" sz="1600" b="0" dirty="0">
                <a:latin typeface="Aptos"/>
              </a:rPr>
              <a:t>Behavioural agent: AUROC 0.963 (random split)</a:t>
            </a:r>
          </a:p>
          <a:p>
            <a:pPr lvl="1">
              <a:buClr>
                <a:srgbClr val="E97132"/>
              </a:buClr>
              <a:buFont typeface="Arial"/>
              <a:buChar char="▸"/>
            </a:pPr>
            <a:r>
              <a:rPr lang="en-GB" sz="1600" b="0" dirty="0">
                <a:latin typeface="Aptos"/>
              </a:rPr>
              <a:t>Family holdout: AUROC drops to 0.706 for unseen families</a:t>
            </a:r>
          </a:p>
          <a:p>
            <a:pPr lvl="1">
              <a:buClr>
                <a:srgbClr val="E97132"/>
              </a:buClr>
              <a:buFont typeface="Arial"/>
              <a:buChar char="▸"/>
            </a:pPr>
            <a:r>
              <a:rPr lang="en-GB" sz="1600" b="0" dirty="0">
                <a:latin typeface="Aptos"/>
              </a:rPr>
              <a:t>Concurrent execution (AESCrypt + REvil): detection rate 1.5%</a:t>
            </a:r>
          </a:p>
          <a:p>
            <a:pPr>
              <a:buNone/>
            </a:pPr>
            <a:endParaRPr lang="en-GB" sz="1600" b="0" dirty="0">
              <a:latin typeface="Aptos"/>
            </a:endParaRPr>
          </a:p>
          <a:p>
            <a:pPr>
              <a:buNone/>
            </a:pPr>
            <a:r>
              <a:rPr lang="en-GB" sz="1700" b="1" dirty="0">
                <a:latin typeface="Aptos"/>
              </a:rPr>
              <a:t>Why does this matter?</a:t>
            </a:r>
          </a:p>
          <a:p>
            <a:pPr lvl="1">
              <a:buClr>
                <a:srgbClr val="E97132"/>
              </a:buClr>
              <a:buFont typeface="Arial"/>
              <a:buChar char="▸"/>
            </a:pPr>
            <a:r>
              <a:rPr lang="en-GB" sz="1600" b="0" dirty="0">
                <a:latin typeface="Aptos"/>
              </a:rPr>
              <a:t>Weaker behavioural evidence → σ_beh rises → ESCALATE fires</a:t>
            </a:r>
          </a:p>
          <a:p>
            <a:pPr lvl="1">
              <a:buClr>
                <a:srgbClr val="E97132"/>
              </a:buClr>
              <a:buFont typeface="Arial"/>
              <a:buChar char="▸"/>
            </a:pPr>
            <a:r>
              <a:rPr lang="en-GB" sz="1600" b="0" dirty="0">
                <a:latin typeface="Aptos"/>
              </a:rPr>
              <a:t>Uncertainty correctly identifies where the model is least reliable</a:t>
            </a:r>
          </a:p>
          <a:p>
            <a:pPr lvl="1">
              <a:buClr>
                <a:srgbClr val="E97132"/>
              </a:buClr>
              <a:buFont typeface="Arial"/>
              <a:buChar char="▸"/>
            </a:pPr>
            <a:r>
              <a:rPr lang="en-GB" sz="1600" b="0" dirty="0">
                <a:latin typeface="Aptos"/>
              </a:rPr>
              <a:t>Novel families not seen at training → higher σ → analyst review</a:t>
            </a:r>
          </a:p>
          <a:p>
            <a:pPr>
              <a:buNone/>
            </a:pPr>
            <a:endParaRPr lang="en-GB" sz="1600" b="0" dirty="0">
              <a:latin typeface="Aptos"/>
            </a:endParaRPr>
          </a:p>
          <a:p>
            <a:pPr>
              <a:buNone/>
            </a:pPr>
            <a:r>
              <a:rPr lang="en-GB" sz="1600" b="1" dirty="0">
                <a:latin typeface="Aptos"/>
              </a:rPr>
              <a:t>The gap between settings is not a failure — it is informative</a:t>
            </a:r>
          </a:p>
        </p:txBody>
      </p:sp>
    </p:spTree>
    <p:extLst>
      <p:ext uri="{BB962C8B-B14F-4D97-AF65-F5344CB8AC3E}">
        <p14:creationId xmlns:p14="http://schemas.microsoft.com/office/powerpoint/2010/main" val="1357055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49C1F-66CE-A3C2-A7FB-A02095B3A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50232"/>
            <a:ext cx="11191043" cy="1066830"/>
          </a:xfrm>
        </p:spPr>
        <p:txBody>
          <a:bodyPr>
            <a:normAutofit/>
          </a:bodyPr>
          <a:lstStyle/>
          <a:p>
            <a:r>
              <a:rPr sz="2800" b="1" dirty="0">
                <a:solidFill>
                  <a:srgbClr val="0E2841"/>
                </a:solidFill>
                <a:latin typeface="Aptos Display"/>
              </a:rPr>
              <a:t>Explainability: Making Decisions Auditable</a:t>
            </a:r>
            <a:endParaRPr lang="en-GB" sz="4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38809-D981-2BC3-A738-E3A9AC884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GB"/>
          </a:p>
          <a:p>
            <a:endParaRPr lang="en-GB"/>
          </a:p>
          <a:p>
            <a:endParaRPr lang="en-GB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B64D6CC-6420-9E00-377D-AFF39E392739}"/>
              </a:ext>
            </a:extLst>
          </p:cNvPr>
          <p:cNvCxnSpPr/>
          <p:nvPr/>
        </p:nvCxnSpPr>
        <p:spPr>
          <a:xfrm>
            <a:off x="196788" y="1050318"/>
            <a:ext cx="117984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974B2A6A-D7F9-68BE-2B47-56B70BC4D578}"/>
              </a:ext>
            </a:extLst>
          </p:cNvPr>
          <p:cNvSpPr>
            <a:spLocks noGrp="1"/>
          </p:cNvSpPr>
          <p:nvPr/>
        </p:nvSpPr>
        <p:spPr>
          <a:xfrm>
            <a:off x="6204936" y="2160000"/>
            <a:ext cx="4967890" cy="3935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  <a:p>
            <a:endParaRPr lang="en-IN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D08253C5-5C60-EAD9-A631-71B42907A588}"/>
              </a:ext>
            </a:extLst>
          </p:cNvPr>
          <p:cNvSpPr>
            <a:spLocks noGrp="1"/>
          </p:cNvSpPr>
          <p:nvPr/>
        </p:nvSpPr>
        <p:spPr>
          <a:xfrm>
            <a:off x="828000" y="3038621"/>
            <a:ext cx="4967889" cy="305737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  <a:p>
            <a:endParaRPr lang="en-IN"/>
          </a:p>
        </p:txBody>
      </p:sp>
      <p:pic>
        <p:nvPicPr>
          <p:cNvPr id="7" name="Picture 6" descr="Behaviour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4762" y="1364942"/>
            <a:ext cx="5165359" cy="2582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11301" y="1185254"/>
            <a:ext cx="6659863" cy="3935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1700" b="1" dirty="0">
                <a:latin typeface="Aptos"/>
              </a:rPr>
              <a:t>Behavioural — Permutation Feature Importance:</a:t>
            </a:r>
          </a:p>
          <a:p>
            <a:pPr lvl="1">
              <a:buClr>
                <a:srgbClr val="E97132"/>
              </a:buClr>
              <a:buFont typeface="Arial"/>
              <a:buChar char="▸"/>
            </a:pPr>
            <a:r>
              <a:rPr lang="en-GB" sz="1600" b="0" dirty="0">
                <a:latin typeface="Aptos"/>
              </a:rPr>
              <a:t>write_entropy_mean: top driver — ransomware encrypts → max entropy</a:t>
            </a:r>
          </a:p>
          <a:p>
            <a:pPr lvl="1">
              <a:buClr>
                <a:srgbClr val="E97132"/>
              </a:buClr>
              <a:buFont typeface="Arial"/>
              <a:buChar char="▸"/>
            </a:pPr>
            <a:r>
              <a:rPr lang="en-GB" sz="1600" b="0" dirty="0">
                <a:latin typeface="Aptos"/>
              </a:rPr>
              <a:t>write_LBA_variance: sequential writes across entire disk</a:t>
            </a:r>
          </a:p>
          <a:p>
            <a:pPr lvl="1">
              <a:buClr>
                <a:srgbClr val="E97132"/>
              </a:buClr>
              <a:buFont typeface="Arial"/>
              <a:buChar char="▸"/>
            </a:pPr>
            <a:r>
              <a:rPr lang="en-GB" sz="1600" b="0" dirty="0">
                <a:latin typeface="Aptos"/>
              </a:rPr>
              <a:t>mem_write_GPA_variance: broad memory pages written uniformly</a:t>
            </a:r>
          </a:p>
          <a:p>
            <a:pPr>
              <a:buNone/>
            </a:pPr>
            <a:endParaRPr lang="en-GB" sz="1600" b="0" dirty="0">
              <a:latin typeface="Aptos"/>
            </a:endParaRPr>
          </a:p>
          <a:p>
            <a:pPr>
              <a:buNone/>
            </a:pPr>
            <a:r>
              <a:rPr lang="en-GB" sz="1700" b="1" dirty="0">
                <a:latin typeface="Aptos"/>
              </a:rPr>
              <a:t>Semantic — Counterfactual Diagnostics:</a:t>
            </a:r>
          </a:p>
          <a:p>
            <a:pPr lvl="1">
              <a:buClr>
                <a:srgbClr val="E97132"/>
              </a:buClr>
              <a:buFont typeface="Arial"/>
              <a:buChar char="▸"/>
            </a:pPr>
            <a:r>
              <a:rPr lang="en-GB" sz="1600" b="0" dirty="0">
                <a:latin typeface="Aptos"/>
              </a:rPr>
              <a:t>For borderline PE files: minimal embedding shift to flip verdict</a:t>
            </a:r>
          </a:p>
          <a:p>
            <a:pPr lvl="1">
              <a:buClr>
                <a:srgbClr val="E97132"/>
              </a:buClr>
              <a:buFont typeface="Arial"/>
              <a:buChar char="▸"/>
            </a:pPr>
            <a:r>
              <a:rPr lang="en-GB" sz="1600" b="0" dirty="0">
                <a:latin typeface="Aptos"/>
              </a:rPr>
              <a:t>Short L₂ distance → closer to decision boundary → escalate</a:t>
            </a:r>
          </a:p>
          <a:p>
            <a:pPr lvl="1">
              <a:buClr>
                <a:srgbClr val="E97132"/>
              </a:buClr>
              <a:buFont typeface="Arial"/>
              <a:buChar char="▸"/>
            </a:pPr>
            <a:r>
              <a:rPr lang="en-GB" sz="1600" b="0" dirty="0">
                <a:latin typeface="Aptos"/>
              </a:rPr>
              <a:t>Supports audit: 'why was this file flagged?’</a:t>
            </a:r>
          </a:p>
          <a:p>
            <a:pPr>
              <a:buNone/>
            </a:pPr>
            <a:endParaRPr lang="en-GB" sz="1600" b="0" dirty="0">
              <a:latin typeface="Aptos"/>
            </a:endParaRPr>
          </a:p>
          <a:p>
            <a:pPr>
              <a:buNone/>
            </a:pPr>
            <a:r>
              <a:rPr lang="en-GB" sz="1700" b="1" dirty="0">
                <a:latin typeface="Aptos"/>
              </a:rPr>
              <a:t>Current operational practice:</a:t>
            </a:r>
          </a:p>
          <a:p>
            <a:pPr lvl="1">
              <a:buClr>
                <a:srgbClr val="E97132"/>
              </a:buClr>
              <a:buFont typeface="Arial"/>
              <a:buChar char="▸"/>
            </a:pPr>
            <a:r>
              <a:rPr lang="en-GB" sz="1600" b="0" dirty="0">
                <a:latin typeface="Aptos"/>
              </a:rPr>
              <a:t>Antivirus/EDR: threshold-based scores, no principled uncertainty</a:t>
            </a:r>
          </a:p>
          <a:p>
            <a:pPr lvl="1">
              <a:buClr>
                <a:srgbClr val="E97132"/>
              </a:buClr>
              <a:buFont typeface="Arial"/>
              <a:buChar char="▸"/>
            </a:pPr>
            <a:r>
              <a:rPr lang="en-GB" sz="1600" b="0" dirty="0">
                <a:latin typeface="Aptos"/>
              </a:rPr>
              <a:t>SABRE adds: σ as a first-class decision variable + XAI audit trail</a:t>
            </a:r>
          </a:p>
          <a:p>
            <a:pPr lvl="1">
              <a:buClr>
                <a:srgbClr val="E97132"/>
              </a:buClr>
              <a:buFont typeface="Arial"/>
              <a:buChar char="▸"/>
            </a:pPr>
            <a:r>
              <a:rPr lang="en-GB" sz="1600" b="0" dirty="0">
                <a:latin typeface="Aptos"/>
              </a:rPr>
              <a:t>Analyst can see WHY a sample was escalated, not just THAT it was</a:t>
            </a:r>
          </a:p>
        </p:txBody>
      </p:sp>
      <p:pic>
        <p:nvPicPr>
          <p:cNvPr id="9" name="Picture 8" descr="fig_semantic_cf_p0_vs_l2.png">
            <a:extLst>
              <a:ext uri="{FF2B5EF4-FFF2-40B4-BE49-F238E27FC236}">
                <a16:creationId xmlns:a16="http://schemas.microsoft.com/office/drawing/2014/main" id="{64BEBB3D-83C1-4FFF-D060-202B242DDA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3552" y="3976614"/>
            <a:ext cx="4545453" cy="2562861"/>
          </a:xfrm>
          <a:prstGeom prst="rect">
            <a:avLst/>
          </a:prstGeom>
        </p:spPr>
      </p:pic>
      <p:pic>
        <p:nvPicPr>
          <p:cNvPr id="10" name="Picture 9" descr="Rep_Beh_CFs.png">
            <a:extLst>
              <a:ext uri="{FF2B5EF4-FFF2-40B4-BE49-F238E27FC236}">
                <a16:creationId xmlns:a16="http://schemas.microsoft.com/office/drawing/2014/main" id="{482E88EB-45C9-3B74-A55B-9EF69082CF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529" y="5051022"/>
            <a:ext cx="6515036" cy="1713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1302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6838D-3177-9967-ECE2-19A2D96CD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120021" cy="1325563"/>
          </a:xfrm>
        </p:spPr>
        <p:txBody>
          <a:bodyPr>
            <a:normAutofit/>
          </a:bodyPr>
          <a:lstStyle/>
          <a:p>
            <a:r>
              <a:rPr sz="2800" b="1">
                <a:solidFill>
                  <a:srgbClr val="0E2841"/>
                </a:solidFill>
                <a:latin typeface="Aptos Display"/>
              </a:rPr>
              <a:t>SABRE-II: Learned Fusion &amp; Bayesian Policy</a:t>
            </a:r>
            <a:endParaRPr lang="en-GB" sz="4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1B32D5-EDE1-CE2B-5F5F-E2F318B09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333511D-D6DF-3772-7670-B9E9490CE5AA}"/>
              </a:ext>
            </a:extLst>
          </p:cNvPr>
          <p:cNvCxnSpPr/>
          <p:nvPr/>
        </p:nvCxnSpPr>
        <p:spPr>
          <a:xfrm>
            <a:off x="196788" y="1364942"/>
            <a:ext cx="117984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C3A7B5B2-1211-DD57-E6BA-0116FDBAEE01}"/>
              </a:ext>
            </a:extLst>
          </p:cNvPr>
          <p:cNvSpPr>
            <a:spLocks noGrp="1"/>
          </p:cNvSpPr>
          <p:nvPr/>
        </p:nvSpPr>
        <p:spPr>
          <a:xfrm>
            <a:off x="6475012" y="2140709"/>
            <a:ext cx="4967890" cy="39359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None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  <a:p>
            <a:endParaRPr lang="en-IN"/>
          </a:p>
          <a:p>
            <a:endParaRPr lang="en-IN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AA99F53D-FC05-0507-68F3-7F4D4A1F0DEA}"/>
              </a:ext>
            </a:extLst>
          </p:cNvPr>
          <p:cNvSpPr>
            <a:spLocks noGrp="1"/>
          </p:cNvSpPr>
          <p:nvPr/>
        </p:nvSpPr>
        <p:spPr>
          <a:xfrm>
            <a:off x="1098076" y="2140709"/>
            <a:ext cx="4967889" cy="8786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77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  <a:p>
            <a:endParaRPr lang="en-IN"/>
          </a:p>
          <a:p>
            <a:endParaRPr lang="en-IN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83EF0573-BB2E-99F2-6A68-73CF7D03094C}"/>
              </a:ext>
            </a:extLst>
          </p:cNvPr>
          <p:cNvSpPr>
            <a:spLocks noGrp="1"/>
          </p:cNvSpPr>
          <p:nvPr/>
        </p:nvSpPr>
        <p:spPr>
          <a:xfrm>
            <a:off x="1098076" y="3019330"/>
            <a:ext cx="4967889" cy="305737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  <a:p>
            <a:endParaRPr lang="en-IN"/>
          </a:p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457200" y="1513187"/>
            <a:ext cx="5029200" cy="41148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SABRE (this abstract)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199" y="2058876"/>
            <a:ext cx="5845277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buClr>
                <a:srgbClr val="E97132"/>
              </a:buClr>
              <a:buFont typeface="Arial"/>
              <a:buChar char="▸"/>
            </a:pPr>
            <a:r>
              <a:rPr lang="en-GB" sz="1500" b="0" dirty="0">
                <a:latin typeface="Aptos"/>
              </a:rPr>
              <a:t>Mean score fusion (equal weights)</a:t>
            </a:r>
          </a:p>
          <a:p>
            <a:pPr lvl="1">
              <a:buClr>
                <a:srgbClr val="E97132"/>
              </a:buClr>
              <a:buFont typeface="Arial"/>
              <a:buChar char="▸"/>
            </a:pPr>
            <a:r>
              <a:rPr lang="en-GB" sz="1500" b="0" dirty="0">
                <a:latin typeface="Aptos"/>
              </a:rPr>
              <a:t>Fixed hand-tuned triage thresholds τ, κ</a:t>
            </a:r>
          </a:p>
          <a:p>
            <a:pPr lvl="1">
              <a:buClr>
                <a:srgbClr val="E97132"/>
              </a:buClr>
              <a:buFont typeface="Arial"/>
              <a:buChar char="▸"/>
            </a:pPr>
            <a:r>
              <a:rPr lang="en-GB" sz="1500" b="0" dirty="0">
                <a:latin typeface="Aptos"/>
              </a:rPr>
              <a:t>2 agents: Semantic + Behavioural</a:t>
            </a:r>
          </a:p>
          <a:p>
            <a:pPr lvl="1">
              <a:buClr>
                <a:srgbClr val="E97132"/>
              </a:buClr>
              <a:buFont typeface="Arial"/>
              <a:buChar char="▸"/>
            </a:pPr>
            <a:r>
              <a:rPr lang="en-GB" sz="1500" b="0" dirty="0">
                <a:latin typeface="Aptos"/>
              </a:rPr>
              <a:t>MC Dropout uncertainty per agent</a:t>
            </a:r>
          </a:p>
          <a:p>
            <a:pPr lvl="1">
              <a:buClr>
                <a:srgbClr val="E97132"/>
              </a:buClr>
              <a:buFont typeface="Arial"/>
              <a:buChar char="▸"/>
            </a:pPr>
            <a:r>
              <a:rPr lang="en-GB" sz="1500" b="0" dirty="0">
                <a:latin typeface="Aptos"/>
              </a:rPr>
              <a:t>AUROC 0.963 (random), 0.706 (family holdout)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2476" y="1473856"/>
            <a:ext cx="5401844" cy="41148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 Display"/>
              </a:rPr>
              <a:t>SABRE-II (current work)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990054"/>
            <a:ext cx="583174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>
              <a:buClr>
                <a:srgbClr val="E97132"/>
              </a:buClr>
              <a:buFont typeface="Arial"/>
              <a:buChar char="▸"/>
            </a:pPr>
            <a:r>
              <a:rPr lang="en-GB" sz="1500" b="0" dirty="0">
                <a:latin typeface="Aptos"/>
              </a:rPr>
              <a:t>Decision MLP replaces mean fusion</a:t>
            </a:r>
          </a:p>
          <a:p>
            <a:pPr lvl="2">
              <a:buClr>
                <a:srgbClr val="0F9ED5"/>
              </a:buClr>
              <a:buFont typeface="Arial"/>
              <a:buChar char="–"/>
            </a:pPr>
            <a:r>
              <a:rPr lang="en-GB" sz="1500" b="0" dirty="0">
                <a:latin typeface="Aptos"/>
              </a:rPr>
              <a:t>ECE: 0.094 → 0.018  (calibration gain)</a:t>
            </a:r>
          </a:p>
          <a:p>
            <a:pPr lvl="1">
              <a:buClr>
                <a:srgbClr val="E97132"/>
              </a:buClr>
              <a:buFont typeface="Arial"/>
              <a:buChar char="▸"/>
            </a:pPr>
            <a:r>
              <a:rPr lang="en-GB" sz="1500" b="0" dirty="0">
                <a:latin typeface="Aptos"/>
              </a:rPr>
              <a:t>CTGAN score-space augmentation</a:t>
            </a:r>
          </a:p>
          <a:p>
            <a:pPr lvl="1">
              <a:buClr>
                <a:srgbClr val="E97132"/>
              </a:buClr>
              <a:buFont typeface="Arial"/>
              <a:buChar char="▸"/>
            </a:pPr>
            <a:r>
              <a:rPr lang="en-GB" sz="1500" b="0" dirty="0">
                <a:latin typeface="Aptos"/>
              </a:rPr>
              <a:t>Bayesian TPE policy optimisation (300 trials)</a:t>
            </a:r>
          </a:p>
          <a:p>
            <a:pPr lvl="2">
              <a:buClr>
                <a:srgbClr val="0F9ED5"/>
              </a:buClr>
              <a:buFont typeface="Arial"/>
              <a:buChar char="–"/>
            </a:pPr>
            <a:r>
              <a:rPr lang="en-GB" sz="1500" b="0" dirty="0">
                <a:latin typeface="Aptos"/>
              </a:rPr>
              <a:t>Balanced acc: 0.525 → 0.866</a:t>
            </a:r>
          </a:p>
          <a:p>
            <a:pPr lvl="2">
              <a:buClr>
                <a:srgbClr val="0F9ED5"/>
              </a:buClr>
              <a:buFont typeface="Arial"/>
              <a:buChar char="–"/>
            </a:pPr>
            <a:r>
              <a:rPr lang="en-GB" sz="1500" b="0" dirty="0">
                <a:latin typeface="Aptos"/>
              </a:rPr>
              <a:t>Escalation rate: 85% → 25% (Bayesian vs fixed)</a:t>
            </a:r>
          </a:p>
          <a:p>
            <a:pPr lvl="1">
              <a:buClr>
                <a:srgbClr val="E97132"/>
              </a:buClr>
              <a:buFont typeface="Arial"/>
              <a:buChar char="▸"/>
            </a:pPr>
            <a:r>
              <a:rPr lang="en-GB" sz="1500" b="0" dirty="0">
                <a:latin typeface="Aptos"/>
              </a:rPr>
              <a:t>Peer Consultation: prevents knowledge collapse</a:t>
            </a:r>
          </a:p>
          <a:p>
            <a:pPr lvl="1">
              <a:buClr>
                <a:srgbClr val="E97132"/>
              </a:buClr>
              <a:buFont typeface="Arial"/>
              <a:buChar char="▸"/>
            </a:pPr>
            <a:r>
              <a:rPr lang="en-GB" sz="1500" b="0" dirty="0">
                <a:latin typeface="Aptos"/>
              </a:rPr>
              <a:t>AUROC 0.975 (random), 0.980 (temporal)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92880" y="2753524"/>
            <a:ext cx="594360" cy="32004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 dirty="0">
                <a:solidFill>
                  <a:srgbClr val="FFFFFF"/>
                </a:solidFill>
                <a:latin typeface="Aptos Display"/>
              </a:rPr>
              <a:t>→</a:t>
            </a:r>
          </a:p>
        </p:txBody>
      </p:sp>
      <p:pic>
        <p:nvPicPr>
          <p:cNvPr id="13" name="Picture 12" descr="fig5_sabre2_poli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114" y="4060082"/>
            <a:ext cx="9943896" cy="2547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214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Prop_Agentic_Sabre_27_04_2026_3Agents_Full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195" y="144043"/>
            <a:ext cx="9992405" cy="4014806"/>
          </a:xfrm>
          <a:prstGeom prst="rect">
            <a:avLst/>
          </a:prstGeom>
        </p:spPr>
      </p:pic>
      <p:pic>
        <p:nvPicPr>
          <p:cNvPr id="6" name="Picture 5" descr="ROC_all_ag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7840" y="4261171"/>
            <a:ext cx="3029633" cy="2596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898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8956E-CFF4-0DC3-78D1-CCFA8FD13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2800" b="1">
                <a:solidFill>
                  <a:srgbClr val="0E2841"/>
                </a:solidFill>
                <a:latin typeface="Aptos Display"/>
              </a:rPr>
              <a:t>Conclusions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07290-1A10-9B48-B272-9FBE0AD24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spcAft>
                <a:spcPts val="200"/>
              </a:spcAft>
              <a:buNone/>
            </a:pPr>
            <a:r>
              <a:rPr lang="en-GB" sz="1900" b="1" dirty="0">
                <a:latin typeface="Aptos"/>
              </a:rPr>
              <a:t>SABRE makes uncertainty operational — not merely descriptive</a:t>
            </a:r>
          </a:p>
          <a:p>
            <a:pPr>
              <a:buNone/>
            </a:pPr>
            <a:endParaRPr lang="en-GB" sz="1900" b="1" dirty="0">
              <a:latin typeface="Aptos"/>
            </a:endParaRPr>
          </a:p>
          <a:p>
            <a:pPr lvl="1">
              <a:buClr>
                <a:srgbClr val="E97132"/>
              </a:buClr>
              <a:buFont typeface="Arial"/>
              <a:buChar char="▸"/>
            </a:pPr>
            <a:r>
              <a:rPr lang="en-GB" sz="1700" b="0" dirty="0">
                <a:latin typeface="Aptos"/>
              </a:rPr>
              <a:t>Triage converts (p̂, σ) → actionable decision: automate vs escalate vs allow</a:t>
            </a:r>
          </a:p>
          <a:p>
            <a:pPr lvl="1">
              <a:buClr>
                <a:srgbClr val="E97132"/>
              </a:buClr>
              <a:buFont typeface="Arial"/>
              <a:buChar char="▸"/>
            </a:pPr>
            <a:r>
              <a:rPr lang="en-GB" sz="1700" b="0" dirty="0">
                <a:latin typeface="Aptos"/>
              </a:rPr>
              <a:t>Uncertainty correctly identifies hardest cases: novel families, concurrent execution</a:t>
            </a:r>
          </a:p>
          <a:p>
            <a:pPr lvl="1">
              <a:buClr>
                <a:srgbClr val="E97132"/>
              </a:buClr>
              <a:buFont typeface="Arial"/>
              <a:buChar char="▸"/>
            </a:pPr>
            <a:r>
              <a:rPr lang="en-GB" sz="1700" b="0" dirty="0">
                <a:latin typeface="Aptos"/>
              </a:rPr>
              <a:t>XAI (feature importance, counterfactuals) supports analyst audit</a:t>
            </a:r>
          </a:p>
          <a:p>
            <a:pPr lvl="1">
              <a:buClr>
                <a:srgbClr val="E97132"/>
              </a:buClr>
              <a:buFont typeface="Arial"/>
              <a:buChar char="▸"/>
            </a:pPr>
            <a:r>
              <a:rPr lang="en-GB" sz="1700" b="0" dirty="0">
                <a:latin typeface="Aptos"/>
              </a:rPr>
              <a:t>SABRE-II: learned fusion + Bayesian policy reduces unnecessary escalation by 70%</a:t>
            </a:r>
          </a:p>
          <a:p>
            <a:pPr>
              <a:buNone/>
            </a:pPr>
            <a:endParaRPr lang="en-GB" sz="1700" b="0" dirty="0">
              <a:latin typeface="Aptos"/>
            </a:endParaRPr>
          </a:p>
          <a:p>
            <a:pPr>
              <a:buNone/>
            </a:pPr>
            <a:r>
              <a:rPr lang="en-GB" sz="1700" b="1" dirty="0">
                <a:latin typeface="Aptos"/>
              </a:rPr>
              <a:t>Publications:</a:t>
            </a:r>
          </a:p>
          <a:p>
            <a:pPr lvl="1">
              <a:buClr>
                <a:srgbClr val="E97132"/>
              </a:buClr>
              <a:buFont typeface="Arial"/>
              <a:buChar char="▸"/>
            </a:pPr>
            <a:r>
              <a:rPr lang="en-GB" sz="1600" b="0" dirty="0">
                <a:latin typeface="Aptos"/>
              </a:rPr>
              <a:t>ESWA (Expert Systems With Applications) — under review, 2nd revision</a:t>
            </a:r>
          </a:p>
          <a:p>
            <a:pPr lvl="1">
              <a:buClr>
                <a:srgbClr val="E97132"/>
              </a:buClr>
              <a:buFont typeface="Arial"/>
              <a:buChar char="▸"/>
            </a:pPr>
            <a:r>
              <a:rPr lang="en-GB" sz="1600" b="0" dirty="0">
                <a:latin typeface="Aptos"/>
              </a:rPr>
              <a:t>IEEE TIFS — SABRE+ submitted; SABRE-II in preparation</a:t>
            </a:r>
          </a:p>
          <a:p>
            <a:pPr>
              <a:buNone/>
            </a:pPr>
            <a:endParaRPr lang="en-GB" sz="1600" b="0" dirty="0">
              <a:latin typeface="Aptos"/>
            </a:endParaRPr>
          </a:p>
          <a:p>
            <a:pPr>
              <a:buNone/>
            </a:pPr>
            <a:r>
              <a:rPr lang="en-GB" sz="1600" b="1" dirty="0">
                <a:latin typeface="Aptos"/>
              </a:rPr>
              <a:t>Questions welcome on:</a:t>
            </a:r>
          </a:p>
          <a:p>
            <a:pPr lvl="1">
              <a:buClr>
                <a:srgbClr val="E97132"/>
              </a:buClr>
              <a:buFont typeface="Arial"/>
              <a:buChar char="▸"/>
            </a:pPr>
            <a:r>
              <a:rPr lang="en-GB" sz="1500" b="0" dirty="0">
                <a:latin typeface="Aptos"/>
              </a:rPr>
              <a:t>Triage threshold design and cost-sensitivity</a:t>
            </a:r>
          </a:p>
          <a:p>
            <a:pPr lvl="1">
              <a:buClr>
                <a:srgbClr val="E97132"/>
              </a:buClr>
              <a:buFont typeface="Arial"/>
              <a:buChar char="▸"/>
            </a:pPr>
            <a:r>
              <a:rPr lang="en-GB" sz="1500" b="0" dirty="0">
                <a:latin typeface="Aptos"/>
              </a:rPr>
              <a:t>Generalisation to unseen ransomware families (family holdout results)</a:t>
            </a:r>
          </a:p>
          <a:p>
            <a:pPr lvl="1">
              <a:buClr>
                <a:srgbClr val="E97132"/>
              </a:buClr>
              <a:buFont typeface="Arial"/>
              <a:buChar char="▸"/>
            </a:pPr>
            <a:r>
              <a:rPr lang="en-GB" sz="1500" b="0" dirty="0">
                <a:latin typeface="Aptos"/>
              </a:rPr>
              <a:t>Comparison with operational EDR/AV uncertainty practices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2342D31-2E0B-0EB4-FF9C-60730B50339B}"/>
              </a:ext>
            </a:extLst>
          </p:cNvPr>
          <p:cNvCxnSpPr/>
          <p:nvPr/>
        </p:nvCxnSpPr>
        <p:spPr>
          <a:xfrm>
            <a:off x="196788" y="1364942"/>
            <a:ext cx="1179842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01978E70-3595-504B-8650-4404453B4ACB}"/>
              </a:ext>
            </a:extLst>
          </p:cNvPr>
          <p:cNvSpPr>
            <a:spLocks noGrp="1"/>
          </p:cNvSpPr>
          <p:nvPr/>
        </p:nvSpPr>
        <p:spPr>
          <a:xfrm>
            <a:off x="383109" y="1577615"/>
            <a:ext cx="11425462" cy="4857744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377" rtl="0" eaLnBrk="1" latinLnBrk="0" hangingPunct="1">
              <a:lnSpc>
                <a:spcPts val="24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20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36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54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72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900000" indent="-180000" algn="l" defTabSz="914377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endParaRPr lang="en-IN" sz="280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0566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856</Words>
  <Application>Microsoft Office PowerPoint</Application>
  <PresentationFormat>Widescreen</PresentationFormat>
  <Paragraphs>131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Candara</vt:lpstr>
      <vt:lpstr>Wingdings</vt:lpstr>
      <vt:lpstr>Office Theme</vt:lpstr>
      <vt:lpstr>SABRE: An Uncertainty-Aware Modular
Semantic–Behavioural Triage Framework
for Adaptive Ransomware Detection</vt:lpstr>
      <vt:lpstr>Agenda</vt:lpstr>
      <vt:lpstr>Ransomware Defence Is a Decision Problem</vt:lpstr>
      <vt:lpstr>SABRE: Two Complementary Detection Agents</vt:lpstr>
      <vt:lpstr>PowerPoint Presentation</vt:lpstr>
      <vt:lpstr>Operationalising Uncertainty: The Triage Policy</vt:lpstr>
      <vt:lpstr>Results: Where SABRE Works and Where It Struggles</vt:lpstr>
      <vt:lpstr>Explainability: Making Decisions Auditable</vt:lpstr>
      <vt:lpstr>SABRE-II: Learned Fusion &amp; Bayesian Policy</vt:lpstr>
      <vt:lpstr>PowerPoint Presentation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Biju Issac</dc:creator>
  <cp:lastModifiedBy>henry.kabuye</cp:lastModifiedBy>
  <cp:revision>4</cp:revision>
  <dcterms:created xsi:type="dcterms:W3CDTF">2026-04-02T16:57:41Z</dcterms:created>
  <dcterms:modified xsi:type="dcterms:W3CDTF">2026-06-22T15:39:22Z</dcterms:modified>
</cp:coreProperties>
</file>